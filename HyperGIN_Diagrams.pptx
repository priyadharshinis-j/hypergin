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07" r:id="rId2"/>
    <p:sldId id="311" r:id="rId3"/>
    <p:sldId id="312" r:id="rId4"/>
    <p:sldId id="313" r:id="rId5"/>
    <p:sldId id="315" r:id="rId6"/>
    <p:sldId id="314" r:id="rId7"/>
    <p:sldId id="298" r:id="rId8"/>
    <p:sldId id="304" r:id="rId9"/>
    <p:sldId id="294" r:id="rId10"/>
    <p:sldId id="295" r:id="rId11"/>
    <p:sldId id="303" r:id="rId12"/>
    <p:sldId id="296" r:id="rId13"/>
    <p:sldId id="301" r:id="rId14"/>
    <p:sldId id="300" r:id="rId15"/>
    <p:sldId id="302" r:id="rId16"/>
    <p:sldId id="308" r:id="rId17"/>
    <p:sldId id="309" r:id="rId18"/>
    <p:sldId id="31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7D7D"/>
    <a:srgbClr val="CCFF66"/>
    <a:srgbClr val="FFCC00"/>
    <a:srgbClr val="990000"/>
    <a:srgbClr val="3DE335"/>
    <a:srgbClr val="B8ADE7"/>
    <a:srgbClr val="A2F2F0"/>
    <a:srgbClr val="DAE3F3"/>
    <a:srgbClr val="ADB9CA"/>
    <a:srgbClr val="DEC1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66A4F-CCC7-46CA-885E-6C2F2BB4AAC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1EA2E-D8E1-4F0F-A94D-63C7DB4C8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5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1EA2E-D8E1-4F0F-A94D-63C7DB4C85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42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1EA2E-D8E1-4F0F-A94D-63C7DB4C8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8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F009-2F14-3BB4-0B10-E9113D3E0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49329-39D8-8D09-82F1-96FF75D03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5DF6-2C7A-6370-F740-87DE1E69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8E65-88E8-F384-A779-69EC730B0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D7F7F-9C7B-1168-26E1-8015ADAE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72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BFDD-5C9F-A445-232B-7848E88C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37101-BC1F-C1FC-34A5-932D0CC88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5334A-F31B-840A-4E84-7A6E6835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23781-0E90-7AC6-D3E6-A94F5BE5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B17E5-EF60-5531-C486-215402D2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0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F2C9-D331-78D5-D40E-52155344A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9668B-8AD4-C122-565F-5EB16E881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D2D2F-3B55-4FB7-7251-7063DC66D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D1224-E0B4-A6B7-B2DD-F803953E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219A7-8805-584F-9AA1-BA796695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5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4DE0-4E65-F024-2DA6-464D074D9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5B33-543C-0ADB-5020-0F30331DF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855E9-2BF6-E561-C629-FD2D50390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B6530-300F-3FB8-6750-BA3C3FA9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F95C9-7272-B187-E6BA-D110870D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C80F-BEA7-21F1-D623-DB88628A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6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CE25A-310E-9C37-7805-5112D709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0661A-8DFD-A7B5-74E7-94897DC3C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40818-7B93-9317-F6A5-3DB7CFF8F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3646A-2273-DCE0-A155-072C6E428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0750C2-49F5-78C9-FD4B-E9270F89F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B3A8FB-653A-086E-3FCA-D4317359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8EA7C-2C49-156A-AECF-A18E57D7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85EC0E-8BE1-702A-E0A1-34D1EB2E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61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6877-4EE3-FF4C-3423-419FDA9FF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175A2-6E3B-1100-11CA-6FD81628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E4520-2F14-9D7F-0DE7-4BCEA73B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475F2-4C09-A11B-8589-E76EE53F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7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7153C-242D-69D6-D34A-EA085041B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FABAE-37B7-AEA2-72B4-58C424FA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43FF1-58E3-B49C-C3AC-BDFAB915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4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BB48-75E6-8097-9C7E-5C4942B2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B909A-C6E0-168F-6415-F329F1903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BAC94-3289-4596-5736-CECAC2704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D7628-DFE3-A64A-01DF-FC6E004B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0A566-33DF-277C-016C-2B5D1ADF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79DDD-F4CE-B08F-456A-F908E875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4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C2FA-D912-95BC-42D2-52FFDD0A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11CAA-1114-F453-C12B-D86373B58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3DF9C-02E3-74AA-38A1-B077CD315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57BD6-0ADA-A343-AEA2-26C93221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4DE12-3DF9-C47B-3CF9-B1784C0C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14670-5A22-40FB-30C2-711526E7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8CD7-263F-301B-E46C-A04EA358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CE7D7-E26E-BB6B-885E-FE9179E22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83E05-314E-2D70-4423-686C0B17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FB460-2BD8-A5D9-1FE4-395ABB47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8D7FC-DED8-1CC2-8AE5-B51886E4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5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DB8E8-0A36-308C-3D9B-96ED8768C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83CB4-608E-588C-375F-517A334CF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94B9E-333E-BA7D-C508-7BAF2036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072A6-184C-C1B9-89E2-9E983AEE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F0043-2C87-31D6-B528-AC58A222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0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D3258-187C-C616-06C5-477C54DB9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B7F97-F354-0485-1481-A6F3DD12C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DE4AB-A2DD-B23F-F4FD-6B90E8C32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7C808-AACC-440F-8F37-F2CEF42EB4B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3DA98-1BBE-97E8-1801-8D1CB2816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E88F2-FE14-730B-FD2F-0590C882B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0EDC2-DC79-4259-92DD-1C4360EC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9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30.png"/><Relationship Id="rId7" Type="http://schemas.openxmlformats.org/officeDocument/2006/relationships/image" Target="../media/image5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5.png"/><Relationship Id="rId24" Type="http://schemas.openxmlformats.org/officeDocument/2006/relationships/image" Target="../media/image22.png"/><Relationship Id="rId32" Type="http://schemas.openxmlformats.org/officeDocument/2006/relationships/image" Target="../media/image17.png"/><Relationship Id="rId37" Type="http://schemas.openxmlformats.org/officeDocument/2006/relationships/image" Target="../media/image35.png"/><Relationship Id="rId40" Type="http://schemas.openxmlformats.org/officeDocument/2006/relationships/image" Target="../media/image28.png"/><Relationship Id="rId5" Type="http://schemas.openxmlformats.org/officeDocument/2006/relationships/image" Target="../media/image310.png"/><Relationship Id="rId15" Type="http://schemas.openxmlformats.org/officeDocument/2006/relationships/image" Target="../media/image7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4.png"/><Relationship Id="rId19" Type="http://schemas.openxmlformats.org/officeDocument/2006/relationships/image" Target="../media/image8.png"/><Relationship Id="rId31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9.png"/><Relationship Id="rId35" Type="http://schemas.openxmlformats.org/officeDocument/2006/relationships/image" Target="../media/image33.png"/><Relationship Id="rId43" Type="http://schemas.openxmlformats.org/officeDocument/2006/relationships/image" Target="../media/image38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3.png"/><Relationship Id="rId5" Type="http://schemas.openxmlformats.org/officeDocument/2006/relationships/image" Target="../media/image49.png"/><Relationship Id="rId10" Type="http://schemas.openxmlformats.org/officeDocument/2006/relationships/image" Target="../media/image52.png"/><Relationship Id="rId4" Type="http://schemas.openxmlformats.org/officeDocument/2006/relationships/image" Target="../media/image48.png"/><Relationship Id="rId9" Type="http://schemas.openxmlformats.org/officeDocument/2006/relationships/image" Target="../media/image5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2.png"/><Relationship Id="rId7" Type="http://schemas.openxmlformats.org/officeDocument/2006/relationships/image" Target="../media/image5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570.png"/><Relationship Id="rId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Box 438">
            <a:extLst>
              <a:ext uri="{FF2B5EF4-FFF2-40B4-BE49-F238E27FC236}">
                <a16:creationId xmlns:a16="http://schemas.microsoft.com/office/drawing/2014/main" id="{767F363C-37F7-2A42-91FF-EBE089D04A4C}"/>
              </a:ext>
            </a:extLst>
          </p:cNvPr>
          <p:cNvSpPr txBox="1"/>
          <p:nvPr/>
        </p:nvSpPr>
        <p:spPr>
          <a:xfrm>
            <a:off x="317896" y="-168187"/>
            <a:ext cx="52357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SYSTEM ARCHITECTURE </a:t>
            </a:r>
          </a:p>
        </p:txBody>
      </p: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9CBBB1EB-B2F7-BFF3-0AB8-9F074A29571F}"/>
              </a:ext>
            </a:extLst>
          </p:cNvPr>
          <p:cNvGrpSpPr/>
          <p:nvPr/>
        </p:nvGrpSpPr>
        <p:grpSpPr>
          <a:xfrm>
            <a:off x="224007" y="433460"/>
            <a:ext cx="12003252" cy="6465215"/>
            <a:chOff x="224007" y="433460"/>
            <a:chExt cx="12003252" cy="6465215"/>
          </a:xfrm>
        </p:grpSpPr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D2E33DEE-9C9D-BA77-0EE0-97E3047BFFD2}"/>
                </a:ext>
              </a:extLst>
            </p:cNvPr>
            <p:cNvSpPr/>
            <p:nvPr/>
          </p:nvSpPr>
          <p:spPr>
            <a:xfrm>
              <a:off x="10439400" y="5788318"/>
              <a:ext cx="929640" cy="8959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EFB9E1E-83C4-9CDE-E8D1-02A325191CFB}"/>
                </a:ext>
              </a:extLst>
            </p:cNvPr>
            <p:cNvSpPr/>
            <p:nvPr/>
          </p:nvSpPr>
          <p:spPr>
            <a:xfrm>
              <a:off x="224007" y="2787449"/>
              <a:ext cx="10824992" cy="2629165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30D1417-BDAE-DA83-71F3-4562E15C94D3}"/>
                </a:ext>
              </a:extLst>
            </p:cNvPr>
            <p:cNvSpPr/>
            <p:nvPr/>
          </p:nvSpPr>
          <p:spPr>
            <a:xfrm>
              <a:off x="224008" y="5654145"/>
              <a:ext cx="11226019" cy="118274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D81009E-826F-DC88-1442-94376EAFD220}"/>
                </a:ext>
              </a:extLst>
            </p:cNvPr>
            <p:cNvSpPr/>
            <p:nvPr/>
          </p:nvSpPr>
          <p:spPr>
            <a:xfrm>
              <a:off x="224008" y="650781"/>
              <a:ext cx="11226019" cy="1899137"/>
            </a:xfrm>
            <a:prstGeom prst="round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9CA32AD-D7D9-8BFB-A583-5AAD1549D99E}"/>
                </a:ext>
              </a:extLst>
            </p:cNvPr>
            <p:cNvSpPr/>
            <p:nvPr/>
          </p:nvSpPr>
          <p:spPr>
            <a:xfrm>
              <a:off x="630017" y="433460"/>
              <a:ext cx="4232269" cy="179085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</a:rPr>
                <a:t>Module 1 FORENSIC FEATURE EXTRACTION + CROSS ATTENTION</a:t>
              </a:r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9976B3FA-C890-49A8-AF69-06902ABBCFFD}"/>
                </a:ext>
              </a:extLst>
            </p:cNvPr>
            <p:cNvGrpSpPr/>
            <p:nvPr/>
          </p:nvGrpSpPr>
          <p:grpSpPr>
            <a:xfrm>
              <a:off x="1380109" y="608182"/>
              <a:ext cx="2646736" cy="1992880"/>
              <a:chOff x="1924050" y="636223"/>
              <a:chExt cx="2646736" cy="2125933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F536B5F-F000-6B87-4DF7-E907B8180C2F}"/>
                  </a:ext>
                </a:extLst>
              </p:cNvPr>
              <p:cNvSpPr txBox="1"/>
              <p:nvPr/>
            </p:nvSpPr>
            <p:spPr>
              <a:xfrm>
                <a:off x="3354561" y="922937"/>
                <a:ext cx="118990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5">
                        <a:lumMod val="75000"/>
                      </a:schemeClr>
                    </a:solidFill>
                  </a:rPr>
                  <a:t>SRM filters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F203648-E5C4-7E9F-C9EB-4B48DFBED53F}"/>
                  </a:ext>
                </a:extLst>
              </p:cNvPr>
              <p:cNvSpPr txBox="1"/>
              <p:nvPr/>
            </p:nvSpPr>
            <p:spPr>
              <a:xfrm>
                <a:off x="3253470" y="1122977"/>
                <a:ext cx="110490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  <a:p>
                <a:r>
                  <a:rPr lang="en-US" sz="800" dirty="0">
                    <a:solidFill>
                      <a:schemeClr val="accent5">
                        <a:lumMod val="75000"/>
                      </a:schemeClr>
                    </a:solidFill>
                  </a:rPr>
                  <a:t>SRM CNN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8E1E6F6-D43D-92D5-9FAF-91CAB637481E}"/>
                  </a:ext>
                </a:extLst>
              </p:cNvPr>
              <p:cNvGrpSpPr/>
              <p:nvPr/>
            </p:nvGrpSpPr>
            <p:grpSpPr>
              <a:xfrm>
                <a:off x="2070651" y="1035291"/>
                <a:ext cx="462481" cy="564367"/>
                <a:chOff x="1840485" y="884304"/>
                <a:chExt cx="1526459" cy="1509163"/>
              </a:xfrm>
            </p:grpSpPr>
            <p:sp>
              <p:nvSpPr>
                <p:cNvPr id="14" name="Cube 13">
                  <a:extLst>
                    <a:ext uri="{FF2B5EF4-FFF2-40B4-BE49-F238E27FC236}">
                      <a16:creationId xmlns:a16="http://schemas.microsoft.com/office/drawing/2014/main" id="{2E1693C4-A171-A5EA-CA32-929CFFA5F883}"/>
                    </a:ext>
                  </a:extLst>
                </p:cNvPr>
                <p:cNvSpPr/>
                <p:nvPr/>
              </p:nvSpPr>
              <p:spPr>
                <a:xfrm>
                  <a:off x="1840485" y="884304"/>
                  <a:ext cx="438020" cy="1509163"/>
                </a:xfrm>
                <a:prstGeom prst="cube">
                  <a:avLst>
                    <a:gd name="adj" fmla="val 67029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71D649D-45BA-121F-7B3F-2D90F801C572}"/>
                    </a:ext>
                  </a:extLst>
                </p:cNvPr>
                <p:cNvSpPr/>
                <p:nvPr/>
              </p:nvSpPr>
              <p:spPr>
                <a:xfrm>
                  <a:off x="2221082" y="979259"/>
                  <a:ext cx="438020" cy="1319251"/>
                </a:xfrm>
                <a:prstGeom prst="cube">
                  <a:avLst>
                    <a:gd name="adj" fmla="val 67029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B46FA087-9D04-11D3-5EF5-C706355EE04F}"/>
                    </a:ext>
                  </a:extLst>
                </p:cNvPr>
                <p:cNvSpPr/>
                <p:nvPr/>
              </p:nvSpPr>
              <p:spPr>
                <a:xfrm>
                  <a:off x="2440092" y="1079292"/>
                  <a:ext cx="707842" cy="1019331"/>
                </a:xfrm>
                <a:prstGeom prst="cube">
                  <a:avLst>
                    <a:gd name="adj" fmla="val 48385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955D6DA4-4ABA-43D1-A0AA-87A7D8A7F787}"/>
                    </a:ext>
                  </a:extLst>
                </p:cNvPr>
                <p:cNvSpPr/>
                <p:nvPr/>
              </p:nvSpPr>
              <p:spPr>
                <a:xfrm>
                  <a:off x="2928923" y="1274162"/>
                  <a:ext cx="438021" cy="674559"/>
                </a:xfrm>
                <a:prstGeom prst="cube">
                  <a:avLst>
                    <a:gd name="adj" fmla="val 48385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Cube 24">
                <a:extLst>
                  <a:ext uri="{FF2B5EF4-FFF2-40B4-BE49-F238E27FC236}">
                    <a16:creationId xmlns:a16="http://schemas.microsoft.com/office/drawing/2014/main" id="{F72C6A29-D981-BBB4-93D0-BD3B686423DC}"/>
                  </a:ext>
                </a:extLst>
              </p:cNvPr>
              <p:cNvSpPr/>
              <p:nvPr/>
            </p:nvSpPr>
            <p:spPr>
              <a:xfrm>
                <a:off x="2655462" y="1131795"/>
                <a:ext cx="132710" cy="228442"/>
              </a:xfrm>
              <a:prstGeom prst="cube">
                <a:avLst>
                  <a:gd name="adj" fmla="val 4838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Cube 26">
                <a:extLst>
                  <a:ext uri="{FF2B5EF4-FFF2-40B4-BE49-F238E27FC236}">
                    <a16:creationId xmlns:a16="http://schemas.microsoft.com/office/drawing/2014/main" id="{53CA8D79-E6CF-5DD8-D653-7985433DE33A}"/>
                  </a:ext>
                </a:extLst>
              </p:cNvPr>
              <p:cNvSpPr/>
              <p:nvPr/>
            </p:nvSpPr>
            <p:spPr>
              <a:xfrm>
                <a:off x="2730409" y="1181082"/>
                <a:ext cx="122330" cy="162540"/>
              </a:xfrm>
              <a:prstGeom prst="cube">
                <a:avLst>
                  <a:gd name="adj" fmla="val 4838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Cube 28">
                <a:extLst>
                  <a:ext uri="{FF2B5EF4-FFF2-40B4-BE49-F238E27FC236}">
                    <a16:creationId xmlns:a16="http://schemas.microsoft.com/office/drawing/2014/main" id="{AE106944-6093-5FF6-EFB8-395A01A8A7D2}"/>
                  </a:ext>
                </a:extLst>
              </p:cNvPr>
              <p:cNvSpPr/>
              <p:nvPr/>
            </p:nvSpPr>
            <p:spPr>
              <a:xfrm>
                <a:off x="2976857" y="1163889"/>
                <a:ext cx="152495" cy="101211"/>
              </a:xfrm>
              <a:prstGeom prst="cube">
                <a:avLst>
                  <a:gd name="adj" fmla="val 2976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A1F1CC8C-D6E2-99E5-E6A2-D6AFCC3BD0F9}"/>
                  </a:ext>
                </a:extLst>
              </p:cNvPr>
              <p:cNvSpPr/>
              <p:nvPr/>
            </p:nvSpPr>
            <p:spPr>
              <a:xfrm>
                <a:off x="1924050" y="852246"/>
                <a:ext cx="1358900" cy="1538529"/>
              </a:xfrm>
              <a:prstGeom prst="round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68A7D2-5AA5-3EA3-5A12-582715C49960}"/>
                  </a:ext>
                </a:extLst>
              </p:cNvPr>
              <p:cNvSpPr txBox="1"/>
              <p:nvPr/>
            </p:nvSpPr>
            <p:spPr>
              <a:xfrm>
                <a:off x="2676525" y="636223"/>
                <a:ext cx="163538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>
                    <a:solidFill>
                      <a:schemeClr val="accent1">
                        <a:lumMod val="50000"/>
                      </a:schemeClr>
                    </a:solidFill>
                  </a:rPr>
                  <a:t>2. Dual Feature Extraction</a:t>
                </a: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63C68108-839E-64B5-4936-CF22C47F0781}"/>
                  </a:ext>
                </a:extLst>
              </p:cNvPr>
              <p:cNvSpPr/>
              <p:nvPr/>
            </p:nvSpPr>
            <p:spPr>
              <a:xfrm>
                <a:off x="3305605" y="852246"/>
                <a:ext cx="1265181" cy="1538529"/>
              </a:xfrm>
              <a:prstGeom prst="round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F7DBC6E-6C9F-658F-728E-71979637145E}"/>
                  </a:ext>
                </a:extLst>
              </p:cNvPr>
              <p:cNvSpPr txBox="1"/>
              <p:nvPr/>
            </p:nvSpPr>
            <p:spPr>
              <a:xfrm>
                <a:off x="1944334" y="835076"/>
                <a:ext cx="137890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b="1" dirty="0">
                    <a:solidFill>
                      <a:schemeClr val="accent5">
                        <a:lumMod val="75000"/>
                      </a:schemeClr>
                    </a:solidFill>
                  </a:rPr>
                  <a:t>Appearance Stream (ResNet-50)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B860FE1-1A42-CB51-84D3-035C42FD72D0}"/>
                  </a:ext>
                </a:extLst>
              </p:cNvPr>
              <p:cNvCxnSpPr>
                <a:cxnSpLocks/>
                <a:stCxn id="20" idx="5"/>
                <a:endCxn id="25" idx="2"/>
              </p:cNvCxnSpPr>
              <p:nvPr/>
            </p:nvCxnSpPr>
            <p:spPr>
              <a:xfrm>
                <a:off x="2533132" y="1275105"/>
                <a:ext cx="122330" cy="3017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A161140-600C-2F57-A785-AFEA5FD2B3E4}"/>
                  </a:ext>
                </a:extLst>
              </p:cNvPr>
              <p:cNvCxnSpPr>
                <a:stCxn id="27" idx="5"/>
                <a:endCxn id="29" idx="2"/>
              </p:cNvCxnSpPr>
              <p:nvPr/>
            </p:nvCxnSpPr>
            <p:spPr>
              <a:xfrm flipV="1">
                <a:off x="2852739" y="1229558"/>
                <a:ext cx="124118" cy="319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1B2CB80-5888-CB1F-EDAC-6B59EB8430C2}"/>
                  </a:ext>
                </a:extLst>
              </p:cNvPr>
              <p:cNvSpPr txBox="1"/>
              <p:nvPr/>
            </p:nvSpPr>
            <p:spPr>
              <a:xfrm>
                <a:off x="1951722" y="1570798"/>
                <a:ext cx="38343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accent5">
                        <a:lumMod val="75000"/>
                      </a:schemeClr>
                    </a:solidFill>
                  </a:rPr>
                  <a:t>conv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D5920B12-14AA-30EB-EEAE-7E04AC911505}"/>
                  </a:ext>
                </a:extLst>
              </p:cNvPr>
              <p:cNvSpPr/>
              <p:nvPr/>
            </p:nvSpPr>
            <p:spPr>
              <a:xfrm>
                <a:off x="2008168" y="1741403"/>
                <a:ext cx="1190664" cy="187371"/>
              </a:xfrm>
              <a:prstGeom prst="roundRect">
                <a:avLst/>
              </a:prstGeom>
              <a:solidFill>
                <a:schemeClr val="accent1">
                  <a:alpha val="2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accent5">
                        <a:lumMod val="75000"/>
                      </a:schemeClr>
                    </a:solidFill>
                  </a:rPr>
                  <a:t>1X1 conv (256 ch)</a:t>
                </a: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B780973D-69B8-D95C-3472-64C16E75C9E8}"/>
                  </a:ext>
                </a:extLst>
              </p:cNvPr>
              <p:cNvSpPr/>
              <p:nvPr/>
            </p:nvSpPr>
            <p:spPr>
              <a:xfrm>
                <a:off x="2008168" y="1941986"/>
                <a:ext cx="1190664" cy="187371"/>
              </a:xfrm>
              <a:prstGeom prst="roundRect">
                <a:avLst/>
              </a:prstGeom>
              <a:solidFill>
                <a:schemeClr val="accent1">
                  <a:alpha val="2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accent5">
                        <a:lumMod val="75000"/>
                      </a:schemeClr>
                    </a:solidFill>
                  </a:rPr>
                  <a:t>Avg pool (k=2 stride=2)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A5F86F0-B8CF-BCC5-45D5-4238A91A4DE6}"/>
                  </a:ext>
                </a:extLst>
              </p:cNvPr>
              <p:cNvSpPr txBox="1"/>
              <p:nvPr/>
            </p:nvSpPr>
            <p:spPr>
              <a:xfrm>
                <a:off x="2238375" y="2508240"/>
                <a:ext cx="186140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>
                    <a:solidFill>
                      <a:schemeClr val="accent1">
                        <a:lumMod val="50000"/>
                      </a:schemeClr>
                    </a:solidFill>
                  </a:rPr>
                  <a:t>N=16 X 16=256 nodes/patches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8B6520C4-DD34-08A9-D144-ED43ACF33992}"/>
                      </a:ext>
                    </a:extLst>
                  </p:cNvPr>
                  <p:cNvSpPr txBox="1"/>
                  <p:nvPr/>
                </p:nvSpPr>
                <p:spPr>
                  <a:xfrm>
                    <a:off x="2108930" y="2123505"/>
                    <a:ext cx="1032077" cy="273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5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app</m:t>
                              </m:r>
                            </m:sub>
                          </m:sSub>
                          <m:r>
                            <a:rPr lang="en-US" sz="1050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05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×256</m:t>
                              </m:r>
                            </m:sup>
                          </m:sSup>
                        </m:oMath>
                      </m:oMathPara>
                    </a14:m>
                    <a:endParaRPr lang="en-US" sz="105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8B6520C4-DD34-08A9-D144-ED43ACF339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8930" y="2123505"/>
                    <a:ext cx="1032077" cy="2739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176189E-458C-ADD2-C74D-4DFCEF1EC291}"/>
                  </a:ext>
                </a:extLst>
              </p:cNvPr>
              <p:cNvSpPr txBox="1"/>
              <p:nvPr/>
            </p:nvSpPr>
            <p:spPr>
              <a:xfrm>
                <a:off x="2364686" y="1422377"/>
                <a:ext cx="48442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accent5">
                        <a:lumMod val="75000"/>
                      </a:schemeClr>
                    </a:solidFill>
                  </a:rPr>
                  <a:t>Layer 1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E6C670D-4393-A3B3-43D0-A2C8C642851B}"/>
                  </a:ext>
                </a:extLst>
              </p:cNvPr>
              <p:cNvSpPr txBox="1"/>
              <p:nvPr/>
            </p:nvSpPr>
            <p:spPr>
              <a:xfrm>
                <a:off x="2788172" y="1422377"/>
                <a:ext cx="48442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accent5">
                        <a:lumMod val="75000"/>
                      </a:schemeClr>
                    </a:solidFill>
                  </a:rPr>
                  <a:t>Layer 2</a:t>
                </a: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5D353231-F21C-DD03-1CBC-70D09FAB7928}"/>
                  </a:ext>
                </a:extLst>
              </p:cNvPr>
              <p:cNvCxnSpPr>
                <a:cxnSpLocks/>
                <a:stCxn id="55" idx="2"/>
                <a:endCxn id="49" idx="0"/>
              </p:cNvCxnSpPr>
              <p:nvPr/>
            </p:nvCxnSpPr>
            <p:spPr>
              <a:xfrm flipH="1">
                <a:off x="2603500" y="1637821"/>
                <a:ext cx="3400" cy="1035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716266C-A3B2-87E8-CC7B-3B8327BD9B5F}"/>
                  </a:ext>
                </a:extLst>
              </p:cNvPr>
              <p:cNvCxnSpPr>
                <a:cxnSpLocks/>
                <a:stCxn id="57" idx="2"/>
              </p:cNvCxnSpPr>
              <p:nvPr/>
            </p:nvCxnSpPr>
            <p:spPr>
              <a:xfrm>
                <a:off x="3030386" y="1637821"/>
                <a:ext cx="0" cy="1035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7D303D52-5734-FC1C-D09A-948A3FDAB5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2188" y="1188347"/>
                <a:ext cx="228600" cy="228600"/>
              </a:xfrm>
              <a:prstGeom prst="rect">
                <a:avLst/>
              </a:prstGeom>
            </p:spPr>
          </p:pic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4706921B-D219-79E8-9E01-21824CBBE0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2919" y="1196413"/>
                <a:ext cx="228600" cy="228600"/>
              </a:xfrm>
              <a:prstGeom prst="rect">
                <a:avLst/>
              </a:prstGeom>
            </p:spPr>
          </p:pic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EF487B3C-16F6-0849-FD23-3F31440BE8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15366" y="1198699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0808EC1-2622-D3BB-6D68-1431C819A3F0}"/>
                  </a:ext>
                </a:extLst>
              </p:cNvPr>
              <p:cNvSpPr txBox="1"/>
              <p:nvPr/>
            </p:nvSpPr>
            <p:spPr>
              <a:xfrm>
                <a:off x="3393595" y="853012"/>
                <a:ext cx="101502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b="1" dirty="0">
                    <a:solidFill>
                      <a:schemeClr val="accent5">
                        <a:lumMod val="75000"/>
                      </a:schemeClr>
                    </a:solidFill>
                  </a:rPr>
                  <a:t>SRM Stream (3 Filters)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595D97BE-7E9D-703F-2936-94621CDD6AA0}"/>
                      </a:ext>
                    </a:extLst>
                  </p:cNvPr>
                  <p:cNvSpPr txBox="1"/>
                  <p:nvPr/>
                </p:nvSpPr>
                <p:spPr>
                  <a:xfrm>
                    <a:off x="3411382" y="2178369"/>
                    <a:ext cx="1041695" cy="255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5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050" b="0" i="1" dirty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srm</m:t>
                              </m:r>
                            </m:sub>
                          </m:sSub>
                          <m:r>
                            <a:rPr lang="en-US" sz="1050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05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×256</m:t>
                              </m:r>
                            </m:sup>
                          </m:sSup>
                        </m:oMath>
                      </m:oMathPara>
                    </a14:m>
                    <a:endParaRPr lang="en-US" sz="105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595D97BE-7E9D-703F-2936-94621CDD6A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1382" y="2178369"/>
                    <a:ext cx="1041695" cy="25577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DCBC2F2E-CC02-5881-B1A4-725EAF10858E}"/>
                  </a:ext>
                </a:extLst>
              </p:cNvPr>
              <p:cNvSpPr/>
              <p:nvPr/>
            </p:nvSpPr>
            <p:spPr>
              <a:xfrm>
                <a:off x="3353803" y="1820801"/>
                <a:ext cx="1190664" cy="188717"/>
              </a:xfrm>
              <a:prstGeom prst="roundRect">
                <a:avLst/>
              </a:prstGeom>
              <a:solidFill>
                <a:schemeClr val="accent1">
                  <a:alpha val="2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accent5">
                        <a:lumMod val="75000"/>
                      </a:schemeClr>
                    </a:solidFill>
                  </a:rPr>
                  <a:t>1X1 conv (256 ch)</a:t>
                </a:r>
              </a:p>
            </p:txBody>
          </p:sp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75E11EC1-D379-F0EC-B9BD-ED95A75E0DB1}"/>
                  </a:ext>
                </a:extLst>
              </p:cNvPr>
              <p:cNvSpPr/>
              <p:nvPr/>
            </p:nvSpPr>
            <p:spPr>
              <a:xfrm>
                <a:off x="3354561" y="2019518"/>
                <a:ext cx="1190664" cy="187371"/>
              </a:xfrm>
              <a:prstGeom prst="roundRect">
                <a:avLst/>
              </a:prstGeom>
              <a:solidFill>
                <a:schemeClr val="accent1">
                  <a:alpha val="2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accent5">
                        <a:lumMod val="75000"/>
                      </a:schemeClr>
                    </a:solidFill>
                  </a:rPr>
                  <a:t>Avg pool (k=2 stride=2)</a:t>
                </a:r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E0A40329-C9A6-3FEA-6038-0C8290D8F9BE}"/>
                  </a:ext>
                </a:extLst>
              </p:cNvPr>
              <p:cNvSpPr/>
              <p:nvPr/>
            </p:nvSpPr>
            <p:spPr>
              <a:xfrm>
                <a:off x="3415464" y="1589528"/>
                <a:ext cx="159750" cy="126950"/>
              </a:xfrm>
              <a:prstGeom prst="cube">
                <a:avLst>
                  <a:gd name="adj" fmla="val 26536"/>
                </a:avLst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4DF33AB-5E7E-ABF1-878F-89BED859BFDD}"/>
                  </a:ext>
                </a:extLst>
              </p:cNvPr>
              <p:cNvSpPr txBox="1"/>
              <p:nvPr/>
            </p:nvSpPr>
            <p:spPr>
              <a:xfrm>
                <a:off x="3380880" y="1027261"/>
                <a:ext cx="118990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5">
                        <a:lumMod val="75000"/>
                      </a:schemeClr>
                    </a:solidFill>
                  </a:rPr>
                  <a:t>3 high pass filters</a:t>
                </a:r>
              </a:p>
            </p:txBody>
          </p: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1E3255A2-2189-ADA4-0F31-33164A6BE0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2335" y="1439551"/>
                <a:ext cx="0" cy="10013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C9445713-AAEB-AB60-47F5-E18914E2D3F0}"/>
                  </a:ext>
                </a:extLst>
              </p:cNvPr>
              <p:cNvSpPr/>
              <p:nvPr/>
            </p:nvSpPr>
            <p:spPr>
              <a:xfrm>
                <a:off x="3879644" y="1582292"/>
                <a:ext cx="159750" cy="126950"/>
              </a:xfrm>
              <a:prstGeom prst="cube">
                <a:avLst>
                  <a:gd name="adj" fmla="val 26536"/>
                </a:avLst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22EFD5C9-CD7D-03A7-F903-C1D1E8FF4AB5}"/>
                  </a:ext>
                </a:extLst>
              </p:cNvPr>
              <p:cNvSpPr/>
              <p:nvPr/>
            </p:nvSpPr>
            <p:spPr>
              <a:xfrm>
                <a:off x="4225848" y="1598640"/>
                <a:ext cx="159750" cy="126950"/>
              </a:xfrm>
              <a:prstGeom prst="cube">
                <a:avLst>
                  <a:gd name="adj" fmla="val 26536"/>
                </a:avLst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0AD631BE-5372-08DB-D4D1-863C00F82930}"/>
                  </a:ext>
                </a:extLst>
              </p:cNvPr>
              <p:cNvCxnSpPr>
                <a:stCxn id="113" idx="3"/>
                <a:endCxn id="92" idx="0"/>
              </p:cNvCxnSpPr>
              <p:nvPr/>
            </p:nvCxnSpPr>
            <p:spPr>
              <a:xfrm>
                <a:off x="3942675" y="1709242"/>
                <a:ext cx="6460" cy="1115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B61A7E7B-89D1-8EFF-0FD1-CE95C4473927}"/>
                </a:ext>
              </a:extLst>
            </p:cNvPr>
            <p:cNvGrpSpPr/>
            <p:nvPr/>
          </p:nvGrpSpPr>
          <p:grpSpPr>
            <a:xfrm>
              <a:off x="4198976" y="594224"/>
              <a:ext cx="5411263" cy="1752386"/>
              <a:chOff x="4855468" y="633896"/>
              <a:chExt cx="5411263" cy="18837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4A8D1684-ABB9-AE24-9982-1E50C0F9428D}"/>
                      </a:ext>
                    </a:extLst>
                  </p:cNvPr>
                  <p:cNvSpPr txBox="1"/>
                  <p:nvPr/>
                </p:nvSpPr>
                <p:spPr>
                  <a:xfrm>
                    <a:off x="8053699" y="972095"/>
                    <a:ext cx="1032077" cy="2739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5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app</m:t>
                              </m:r>
                            </m:sub>
                          </m:sSub>
                          <m:r>
                            <a:rPr lang="en-US" sz="1050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05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050" i="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×256</m:t>
                              </m:r>
                            </m:sup>
                          </m:sSup>
                        </m:oMath>
                      </m:oMathPara>
                    </a14:m>
                    <a:endParaRPr lang="en-US" sz="105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4A8D1684-ABB9-AE24-9982-1E50C0F942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3699" y="972095"/>
                    <a:ext cx="1032077" cy="2739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2D4C0BA9-FD48-FF46-5156-CEB245D5152D}"/>
                  </a:ext>
                </a:extLst>
              </p:cNvPr>
              <p:cNvSpPr txBox="1"/>
              <p:nvPr/>
            </p:nvSpPr>
            <p:spPr>
              <a:xfrm>
                <a:off x="4855468" y="633896"/>
                <a:ext cx="3257623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>
                    <a:solidFill>
                      <a:schemeClr val="accent1">
                        <a:lumMod val="50000"/>
                      </a:schemeClr>
                    </a:solidFill>
                  </a:rPr>
                  <a:t>3. SRM Guided Multi-head Cross-Attention (h=4 heads)</a:t>
                </a:r>
              </a:p>
            </p:txBody>
          </p: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E4250100-9935-B9DC-B47B-BFFB1CC9A3F3}"/>
                  </a:ext>
                </a:extLst>
              </p:cNvPr>
              <p:cNvGrpSpPr/>
              <p:nvPr/>
            </p:nvGrpSpPr>
            <p:grpSpPr>
              <a:xfrm>
                <a:off x="4858896" y="861563"/>
                <a:ext cx="3139760" cy="1656098"/>
                <a:chOff x="5007640" y="896779"/>
                <a:chExt cx="3139760" cy="1656098"/>
              </a:xfrm>
            </p:grpSpPr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0AE2007F-F140-69EB-2E50-5D0D72ECC66B}"/>
                    </a:ext>
                  </a:extLst>
                </p:cNvPr>
                <p:cNvSpPr txBox="1"/>
                <p:nvPr/>
              </p:nvSpPr>
              <p:spPr>
                <a:xfrm>
                  <a:off x="6446224" y="1003604"/>
                  <a:ext cx="55175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Head 1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Rectangle: Rounded Corners 124">
                      <a:extLst>
                        <a:ext uri="{FF2B5EF4-FFF2-40B4-BE49-F238E27FC236}">
                          <a16:creationId xmlns:a16="http://schemas.microsoft.com/office/drawing/2014/main" id="{3754A597-CD45-7DE5-8CE0-7A49D2AFF5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7599" y="994450"/>
                      <a:ext cx="988397" cy="764884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just"/>
                      <a:r>
                        <a:rPr lang="en-US" sz="9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Query (Q) from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srm</m:t>
                              </m:r>
                            </m:sub>
                          </m:sSub>
                          <m:r>
                            <a:rPr lang="en-US" sz="900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9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9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×256</m:t>
                              </m:r>
                            </m:sup>
                          </m:sSup>
                          <m:r>
                            <a:rPr lang="en-US" sz="900" b="0" i="0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oMath>
                      </a14:m>
                      <a:r>
                        <a:rPr lang="en-US" sz="9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and Key (K) from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srm</m:t>
                              </m:r>
                            </m:sub>
                          </m:sSub>
                          <m:r>
                            <a:rPr lang="en-US" sz="900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9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9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×256</m:t>
                              </m:r>
                            </m:sup>
                          </m:sSup>
                        </m:oMath>
                      </a14:m>
                      <a:endParaRPr lang="en-US" sz="9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5" name="Rectangle: Rounded Corners 124">
                      <a:extLst>
                        <a:ext uri="{FF2B5EF4-FFF2-40B4-BE49-F238E27FC236}">
                          <a16:creationId xmlns:a16="http://schemas.microsoft.com/office/drawing/2014/main" id="{3754A597-CD45-7DE5-8CE0-7A49D2AFF51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7599" y="994450"/>
                      <a:ext cx="988397" cy="764884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Rectangle: Rounded Corners 126">
                      <a:extLst>
                        <a:ext uri="{FF2B5EF4-FFF2-40B4-BE49-F238E27FC236}">
                          <a16:creationId xmlns:a16="http://schemas.microsoft.com/office/drawing/2014/main" id="{50DD405B-8CBC-7931-B664-230E3498F1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7599" y="1915006"/>
                      <a:ext cx="1005002" cy="551856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just"/>
                      <a:r>
                        <a:rPr lang="en-US" sz="9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Value (V) from  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900" b="0" i="1" dirty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dirty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900" b="0" i="1" dirty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app</m:t>
                              </m:r>
                            </m:sub>
                          </m:sSub>
                          <m:r>
                            <a:rPr lang="en-US" sz="900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9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9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9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×256</m:t>
                              </m:r>
                            </m:sup>
                          </m:sSup>
                        </m:oMath>
                      </a14:m>
                      <a:endParaRPr lang="en-US" sz="9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7" name="Rectangle: Rounded Corners 126">
                      <a:extLst>
                        <a:ext uri="{FF2B5EF4-FFF2-40B4-BE49-F238E27FC236}">
                          <a16:creationId xmlns:a16="http://schemas.microsoft.com/office/drawing/2014/main" id="{50DD405B-8CBC-7931-B664-230E3498F11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7599" y="1915006"/>
                      <a:ext cx="1005002" cy="551856"/>
                    </a:xfrm>
                    <a:prstGeom prst="round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16215BA2-5FA4-38AE-A671-59E2011DDF50}"/>
                    </a:ext>
                  </a:extLst>
                </p:cNvPr>
                <p:cNvSpPr/>
                <p:nvPr/>
              </p:nvSpPr>
              <p:spPr>
                <a:xfrm>
                  <a:off x="6438900" y="1027262"/>
                  <a:ext cx="1625600" cy="714141"/>
                </a:xfrm>
                <a:prstGeom prst="round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30" name="Picture 129">
                  <a:extLst>
                    <a:ext uri="{FF2B5EF4-FFF2-40B4-BE49-F238E27FC236}">
                      <a16:creationId xmlns:a16="http://schemas.microsoft.com/office/drawing/2014/main" id="{54BB45D0-23AF-FBE4-66A0-8992998712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t="5729" b="5729"/>
                <a:stretch>
                  <a:fillRect/>
                </a:stretch>
              </p:blipFill>
              <p:spPr>
                <a:xfrm>
                  <a:off x="6519311" y="1314140"/>
                  <a:ext cx="373591" cy="295632"/>
                </a:xfrm>
                <a:prstGeom prst="rect">
                  <a:avLst/>
                </a:prstGeom>
              </p:spPr>
            </p:pic>
            <p:pic>
              <p:nvPicPr>
                <p:cNvPr id="132" name="Picture 131">
                  <a:extLst>
                    <a:ext uri="{FF2B5EF4-FFF2-40B4-BE49-F238E27FC236}">
                      <a16:creationId xmlns:a16="http://schemas.microsoft.com/office/drawing/2014/main" id="{3858078C-AFE1-A1BA-7648-C7866E950F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rcRect t="7408" b="7408"/>
                <a:stretch>
                  <a:fillRect/>
                </a:stretch>
              </p:blipFill>
              <p:spPr>
                <a:xfrm>
                  <a:off x="7006734" y="1308985"/>
                  <a:ext cx="370256" cy="291649"/>
                </a:xfrm>
                <a:prstGeom prst="rect">
                  <a:avLst/>
                </a:prstGeom>
              </p:spPr>
            </p:pic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B3CA104A-57BA-F9C6-78E4-7ACF2BB3A0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10728" y="1300871"/>
                  <a:ext cx="370256" cy="297770"/>
                </a:xfrm>
                <a:prstGeom prst="rect">
                  <a:avLst/>
                </a:prstGeom>
              </p:spPr>
            </p:pic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444838DE-EB86-99D7-933F-4439F5B700AE}"/>
                    </a:ext>
                  </a:extLst>
                </p:cNvPr>
                <p:cNvSpPr txBox="1"/>
                <p:nvPr/>
              </p:nvSpPr>
              <p:spPr>
                <a:xfrm>
                  <a:off x="7321782" y="1144309"/>
                  <a:ext cx="343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EB969F82-7184-05B9-0D3F-D7A249922D59}"/>
                    </a:ext>
                  </a:extLst>
                </p:cNvPr>
                <p:cNvSpPr txBox="1"/>
                <p:nvPr/>
              </p:nvSpPr>
              <p:spPr>
                <a:xfrm>
                  <a:off x="6921778" y="996408"/>
                  <a:ext cx="55175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Head 2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403DFB6B-B869-C8E9-DA0C-4362F67712BF}"/>
                    </a:ext>
                  </a:extLst>
                </p:cNvPr>
                <p:cNvSpPr txBox="1"/>
                <p:nvPr/>
              </p:nvSpPr>
              <p:spPr>
                <a:xfrm>
                  <a:off x="7519979" y="996752"/>
                  <a:ext cx="55175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Head 4</a:t>
                  </a:r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9571217E-66E4-8EFB-BF56-887CF912017C}"/>
                    </a:ext>
                  </a:extLst>
                </p:cNvPr>
                <p:cNvSpPr/>
                <p:nvPr/>
              </p:nvSpPr>
              <p:spPr>
                <a:xfrm>
                  <a:off x="6963679" y="1195360"/>
                  <a:ext cx="440977" cy="442461"/>
                </a:xfrm>
                <a:prstGeom prst="roundRect">
                  <a:avLst/>
                </a:prstGeom>
                <a:noFill/>
                <a:ln w="0" cmpd="sng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A61EB6BA-46A5-B66E-23B1-99BE2E076CF4}"/>
                    </a:ext>
                  </a:extLst>
                </p:cNvPr>
                <p:cNvSpPr/>
                <p:nvPr/>
              </p:nvSpPr>
              <p:spPr>
                <a:xfrm>
                  <a:off x="7568091" y="1195359"/>
                  <a:ext cx="440977" cy="442461"/>
                </a:xfrm>
                <a:prstGeom prst="roundRect">
                  <a:avLst/>
                </a:prstGeom>
                <a:noFill/>
                <a:ln w="0" cmpd="sng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AA7CEBA2-2FD3-1E66-36DD-9EAF61758A61}"/>
                    </a:ext>
                  </a:extLst>
                </p:cNvPr>
                <p:cNvSpPr/>
                <p:nvPr/>
              </p:nvSpPr>
              <p:spPr>
                <a:xfrm>
                  <a:off x="6480801" y="1188347"/>
                  <a:ext cx="440977" cy="442461"/>
                </a:xfrm>
                <a:prstGeom prst="roundRect">
                  <a:avLst/>
                </a:prstGeom>
                <a:noFill/>
                <a:ln w="0" cmpd="sng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61" name="Straight Arrow Connector 160">
                  <a:extLst>
                    <a:ext uri="{FF2B5EF4-FFF2-40B4-BE49-F238E27FC236}">
                      <a16:creationId xmlns:a16="http://schemas.microsoft.com/office/drawing/2014/main" id="{C73FF380-895F-9933-EE54-24B8D2BDD8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11950" y="1201324"/>
                  <a:ext cx="0" cy="9954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>
                  <a:extLst>
                    <a:ext uri="{FF2B5EF4-FFF2-40B4-BE49-F238E27FC236}">
                      <a16:creationId xmlns:a16="http://schemas.microsoft.com/office/drawing/2014/main" id="{5D0CF368-8722-8FFB-14BA-E34FB91690B5}"/>
                    </a:ext>
                  </a:extLst>
                </p:cNvPr>
                <p:cNvCxnSpPr>
                  <a:cxnSpLocks/>
                  <a:endCxn id="132" idx="0"/>
                </p:cNvCxnSpPr>
                <p:nvPr/>
              </p:nvCxnSpPr>
              <p:spPr>
                <a:xfrm>
                  <a:off x="7188200" y="1195360"/>
                  <a:ext cx="3662" cy="1136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Arrow Connector 165">
                  <a:extLst>
                    <a:ext uri="{FF2B5EF4-FFF2-40B4-BE49-F238E27FC236}">
                      <a16:creationId xmlns:a16="http://schemas.microsoft.com/office/drawing/2014/main" id="{4EB5835A-0332-D3CC-F3EC-ED962C3DA2EC}"/>
                    </a:ext>
                  </a:extLst>
                </p:cNvPr>
                <p:cNvCxnSpPr>
                  <a:cxnSpLocks/>
                  <a:endCxn id="134" idx="0"/>
                </p:cNvCxnSpPr>
                <p:nvPr/>
              </p:nvCxnSpPr>
              <p:spPr>
                <a:xfrm flipH="1">
                  <a:off x="7795856" y="1195360"/>
                  <a:ext cx="6350" cy="10551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27AE19DA-D6FC-BFB6-75C9-6DC9AFF55A7D}"/>
                    </a:ext>
                  </a:extLst>
                </p:cNvPr>
                <p:cNvSpPr/>
                <p:nvPr/>
              </p:nvSpPr>
              <p:spPr>
                <a:xfrm>
                  <a:off x="6749199" y="1858451"/>
                  <a:ext cx="1005002" cy="211650"/>
                </a:xfrm>
                <a:prstGeom prst="roundRect">
                  <a:avLst/>
                </a:prstGeom>
                <a:solidFill>
                  <a:schemeClr val="accent1">
                    <a:alpha val="2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Concat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0" name="Rectangle: Rounded Corners 169">
                      <a:extLst>
                        <a:ext uri="{FF2B5EF4-FFF2-40B4-BE49-F238E27FC236}">
                          <a16:creationId xmlns:a16="http://schemas.microsoft.com/office/drawing/2014/main" id="{F2ABA562-9A53-6978-025B-C94F5A2513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0728" y="2195829"/>
                      <a:ext cx="1241944" cy="278212"/>
                    </a:xfrm>
                    <a:prstGeom prst="roundRect">
                      <a:avLst/>
                    </a:prstGeom>
                    <a:solidFill>
                      <a:schemeClr val="accent1">
                        <a:alpha val="2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Linear Projection (</a:t>
                      </a:r>
                      <a14:m>
                        <m:oMath xmlns:m="http://schemas.openxmlformats.org/officeDocument/2006/math">
                          <m:r>
                            <a:rPr lang="en-US" sz="900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900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×256</m:t>
                          </m:r>
                          <m:r>
                            <a:rPr lang="en-US" sz="900" b="0" i="0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US" sz="9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0" name="Rectangle: Rounded Corners 169">
                      <a:extLst>
                        <a:ext uri="{FF2B5EF4-FFF2-40B4-BE49-F238E27FC236}">
                          <a16:creationId xmlns:a16="http://schemas.microsoft.com/office/drawing/2014/main" id="{F2ABA562-9A53-6978-025B-C94F5A25139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30728" y="2195829"/>
                      <a:ext cx="1241944" cy="278212"/>
                    </a:xfrm>
                    <a:prstGeom prst="roundRect">
                      <a:avLst/>
                    </a:prstGeom>
                    <a:blipFill>
                      <a:blip r:embed="rId12"/>
                      <a:stretch>
                        <a:fillRect t="-10417" b="-208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2" name="Straight Arrow Connector 171">
                  <a:extLst>
                    <a:ext uri="{FF2B5EF4-FFF2-40B4-BE49-F238E27FC236}">
                      <a16:creationId xmlns:a16="http://schemas.microsoft.com/office/drawing/2014/main" id="{2FDC16B4-DA0D-78B9-5B6D-C8F446A0F288}"/>
                    </a:ext>
                  </a:extLst>
                </p:cNvPr>
                <p:cNvCxnSpPr>
                  <a:stCxn id="127" idx="3"/>
                  <a:endCxn id="128" idx="1"/>
                </p:cNvCxnSpPr>
                <p:nvPr/>
              </p:nvCxnSpPr>
              <p:spPr>
                <a:xfrm flipV="1">
                  <a:off x="6112601" y="1384333"/>
                  <a:ext cx="326299" cy="80660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Arrow Connector 173">
                  <a:extLst>
                    <a:ext uri="{FF2B5EF4-FFF2-40B4-BE49-F238E27FC236}">
                      <a16:creationId xmlns:a16="http://schemas.microsoft.com/office/drawing/2014/main" id="{6A165E00-37EF-D4C1-0C8B-DCBCA9D364CF}"/>
                    </a:ext>
                  </a:extLst>
                </p:cNvPr>
                <p:cNvCxnSpPr>
                  <a:stCxn id="125" idx="3"/>
                  <a:endCxn id="128" idx="1"/>
                </p:cNvCxnSpPr>
                <p:nvPr/>
              </p:nvCxnSpPr>
              <p:spPr>
                <a:xfrm>
                  <a:off x="6095996" y="1376892"/>
                  <a:ext cx="342904" cy="744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8D43B6B2-5150-6929-2331-84C30B653F44}"/>
                    </a:ext>
                  </a:extLst>
                </p:cNvPr>
                <p:cNvSpPr txBox="1"/>
                <p:nvPr/>
              </p:nvSpPr>
              <p:spPr>
                <a:xfrm>
                  <a:off x="7321782" y="896779"/>
                  <a:ext cx="343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</a:t>
                  </a:r>
                </a:p>
              </p:txBody>
            </p: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6C345666-ED89-4776-785B-CE77B9FE9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01289" y="1709242"/>
                  <a:ext cx="1087290" cy="644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225BFB2C-921D-4E30-B094-7CAF0D643975}"/>
                    </a:ext>
                  </a:extLst>
                </p:cNvPr>
                <p:cNvCxnSpPr>
                  <a:cxnSpLocks/>
                  <a:stCxn id="141" idx="2"/>
                </p:cNvCxnSpPr>
                <p:nvPr/>
              </p:nvCxnSpPr>
              <p:spPr>
                <a:xfrm>
                  <a:off x="6701290" y="1630808"/>
                  <a:ext cx="0" cy="8205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9194DB99-0F5F-12EA-1354-5CFC712D65F5}"/>
                    </a:ext>
                  </a:extLst>
                </p:cNvPr>
                <p:cNvCxnSpPr>
                  <a:cxnSpLocks/>
                  <a:stCxn id="143" idx="2"/>
                </p:cNvCxnSpPr>
                <p:nvPr/>
              </p:nvCxnSpPr>
              <p:spPr>
                <a:xfrm>
                  <a:off x="7184168" y="1637821"/>
                  <a:ext cx="0" cy="7786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5BA18B5F-577C-5E83-8FD5-36739F88B706}"/>
                    </a:ext>
                  </a:extLst>
                </p:cNvPr>
                <p:cNvCxnSpPr>
                  <a:cxnSpLocks/>
                  <a:stCxn id="145" idx="2"/>
                </p:cNvCxnSpPr>
                <p:nvPr/>
              </p:nvCxnSpPr>
              <p:spPr>
                <a:xfrm>
                  <a:off x="7788580" y="1637820"/>
                  <a:ext cx="0" cy="7991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Arrow Connector 196">
                  <a:extLst>
                    <a:ext uri="{FF2B5EF4-FFF2-40B4-BE49-F238E27FC236}">
                      <a16:creationId xmlns:a16="http://schemas.microsoft.com/office/drawing/2014/main" id="{C66E5B6B-3B92-EC37-D2E2-24A4D439F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934" y="1741403"/>
                  <a:ext cx="0" cy="11704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Arrow Connector 200">
                  <a:extLst>
                    <a:ext uri="{FF2B5EF4-FFF2-40B4-BE49-F238E27FC236}">
                      <a16:creationId xmlns:a16="http://schemas.microsoft.com/office/drawing/2014/main" id="{293817C3-3E34-A1A1-124E-C8BB020E7F5B}"/>
                    </a:ext>
                  </a:extLst>
                </p:cNvPr>
                <p:cNvCxnSpPr>
                  <a:stCxn id="168" idx="2"/>
                  <a:endCxn id="170" idx="0"/>
                </p:cNvCxnSpPr>
                <p:nvPr/>
              </p:nvCxnSpPr>
              <p:spPr>
                <a:xfrm>
                  <a:off x="7251700" y="2070101"/>
                  <a:ext cx="0" cy="1257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EDFF7250-0438-7C50-DE57-05A8B56DBCD0}"/>
                    </a:ext>
                  </a:extLst>
                </p:cNvPr>
                <p:cNvSpPr/>
                <p:nvPr/>
              </p:nvSpPr>
              <p:spPr>
                <a:xfrm>
                  <a:off x="5007640" y="896779"/>
                  <a:ext cx="3139760" cy="1656098"/>
                </a:xfrm>
                <a:prstGeom prst="roundRect">
                  <a:avLst/>
                </a:prstGeom>
                <a:noFill/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C53F7728-E734-AF0C-EFF2-D4B6BE04F99D}"/>
                  </a:ext>
                </a:extLst>
              </p:cNvPr>
              <p:cNvSpPr/>
              <p:nvPr/>
            </p:nvSpPr>
            <p:spPr>
              <a:xfrm>
                <a:off x="8280918" y="1454059"/>
                <a:ext cx="343433" cy="32579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+</a:t>
                </a:r>
              </a:p>
            </p:txBody>
          </p:sp>
          <p:sp>
            <p:nvSpPr>
              <p:cNvPr id="208" name="Rectangle: Rounded Corners 207">
                <a:extLst>
                  <a:ext uri="{FF2B5EF4-FFF2-40B4-BE49-F238E27FC236}">
                    <a16:creationId xmlns:a16="http://schemas.microsoft.com/office/drawing/2014/main" id="{95B4564B-769F-4D9F-E556-B2539DF7CD21}"/>
                  </a:ext>
                </a:extLst>
              </p:cNvPr>
              <p:cNvSpPr/>
              <p:nvPr/>
            </p:nvSpPr>
            <p:spPr>
              <a:xfrm>
                <a:off x="8038312" y="957349"/>
                <a:ext cx="1006660" cy="260488"/>
              </a:xfrm>
              <a:prstGeom prst="roundRect">
                <a:avLst/>
              </a:prstGeom>
              <a:solidFill>
                <a:schemeClr val="accent1">
                  <a:alpha val="2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0DD67E04-7BDF-49AD-C96D-36751776514A}"/>
                  </a:ext>
                </a:extLst>
              </p:cNvPr>
              <p:cNvCxnSpPr>
                <a:cxnSpLocks/>
                <a:endCxn id="205" idx="0"/>
              </p:cNvCxnSpPr>
              <p:nvPr/>
            </p:nvCxnSpPr>
            <p:spPr>
              <a:xfrm>
                <a:off x="8452635" y="1214609"/>
                <a:ext cx="0" cy="2394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FD653232-F149-CA1B-079A-9470F8453253}"/>
                  </a:ext>
                </a:extLst>
              </p:cNvPr>
              <p:cNvCxnSpPr>
                <a:cxnSpLocks/>
                <a:stCxn id="170" idx="3"/>
              </p:cNvCxnSpPr>
              <p:nvPr/>
            </p:nvCxnSpPr>
            <p:spPr>
              <a:xfrm>
                <a:off x="7723928" y="2299719"/>
                <a:ext cx="728707" cy="1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Arrow Connector 218">
                <a:extLst>
                  <a:ext uri="{FF2B5EF4-FFF2-40B4-BE49-F238E27FC236}">
                    <a16:creationId xmlns:a16="http://schemas.microsoft.com/office/drawing/2014/main" id="{89345EA0-1B4E-CE68-382A-066CFA5B919E}"/>
                  </a:ext>
                </a:extLst>
              </p:cNvPr>
              <p:cNvCxnSpPr>
                <a:cxnSpLocks/>
                <a:endCxn id="205" idx="4"/>
              </p:cNvCxnSpPr>
              <p:nvPr/>
            </p:nvCxnSpPr>
            <p:spPr>
              <a:xfrm flipV="1">
                <a:off x="8452635" y="1779851"/>
                <a:ext cx="0" cy="5198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1" name="Rectangle: Rounded Corners 220">
                    <a:extLst>
                      <a:ext uri="{FF2B5EF4-FFF2-40B4-BE49-F238E27FC236}">
                        <a16:creationId xmlns:a16="http://schemas.microsoft.com/office/drawing/2014/main" id="{BD9B3F94-D971-C16F-3768-A48F6ECD023F}"/>
                      </a:ext>
                    </a:extLst>
                  </p:cNvPr>
                  <p:cNvSpPr/>
                  <p:nvPr/>
                </p:nvSpPr>
                <p:spPr>
                  <a:xfrm>
                    <a:off x="8804690" y="1260883"/>
                    <a:ext cx="1462041" cy="725955"/>
                  </a:xfrm>
                  <a:prstGeom prst="roundRect">
                    <a:avLst/>
                  </a:prstGeom>
                  <a:solidFill>
                    <a:schemeClr val="accent4">
                      <a:lumMod val="75000"/>
                      <a:alpha val="29000"/>
                    </a:schemeClr>
                  </a:solidFill>
                  <a:ln>
                    <a:solidFill>
                      <a:schemeClr val="accent4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00" b="1" dirty="0">
                        <a:solidFill>
                          <a:schemeClr val="tx1"/>
                        </a:solidFill>
                      </a:rPr>
                      <a:t>4. Residual Fusion </a:t>
                    </a:r>
                  </a:p>
                  <a:p>
                    <a:pPr algn="ctr"/>
                    <a:r>
                      <a:rPr lang="en-US" sz="900" dirty="0">
                        <a:solidFill>
                          <a:schemeClr val="tx1"/>
                        </a:solidFill>
                      </a:rPr>
                      <a:t>(Attention Output +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app</m:t>
                            </m:r>
                          </m:sub>
                        </m:sSub>
                        <m:r>
                          <a:rPr lang="en-US" sz="9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sz="9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r>
                      <a:rPr lang="en-US" sz="900" dirty="0">
                        <a:solidFill>
                          <a:schemeClr val="tx1"/>
                        </a:solidFill>
                      </a:rPr>
                      <a:t>(</a:t>
                    </a:r>
                    <a14:m>
                      <m:oMath xmlns:m="http://schemas.openxmlformats.org/officeDocument/2006/math">
                        <m:r>
                          <a:rPr lang="en-US" sz="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9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×256)</m:t>
                        </m:r>
                      </m:oMath>
                    </a14:m>
                    <a:endParaRPr lang="en-US" sz="9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1" name="Rectangle: Rounded Corners 220">
                    <a:extLst>
                      <a:ext uri="{FF2B5EF4-FFF2-40B4-BE49-F238E27FC236}">
                        <a16:creationId xmlns:a16="http://schemas.microsoft.com/office/drawing/2014/main" id="{BD9B3F94-D971-C16F-3768-A48F6ECD02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04690" y="1260883"/>
                    <a:ext cx="1462041" cy="725955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accent4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1" name="Straight Arrow Connector 230">
                <a:extLst>
                  <a:ext uri="{FF2B5EF4-FFF2-40B4-BE49-F238E27FC236}">
                    <a16:creationId xmlns:a16="http://schemas.microsoft.com/office/drawing/2014/main" id="{B8E2BA3D-1C42-C400-1CF5-DB2919A24655}"/>
                  </a:ext>
                </a:extLst>
              </p:cNvPr>
              <p:cNvCxnSpPr>
                <a:cxnSpLocks/>
                <a:stCxn id="205" idx="6"/>
                <a:endCxn id="221" idx="1"/>
              </p:cNvCxnSpPr>
              <p:nvPr/>
            </p:nvCxnSpPr>
            <p:spPr>
              <a:xfrm>
                <a:off x="8624351" y="1616955"/>
                <a:ext cx="180339" cy="69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Rectangle: Rounded Corners 235">
                  <a:extLst>
                    <a:ext uri="{FF2B5EF4-FFF2-40B4-BE49-F238E27FC236}">
                      <a16:creationId xmlns:a16="http://schemas.microsoft.com/office/drawing/2014/main" id="{2E4CF58D-F759-9D9A-385E-6976C4B677CA}"/>
                    </a:ext>
                  </a:extLst>
                </p:cNvPr>
                <p:cNvSpPr/>
                <p:nvPr/>
              </p:nvSpPr>
              <p:spPr>
                <a:xfrm>
                  <a:off x="9799112" y="1214304"/>
                  <a:ext cx="1462041" cy="615873"/>
                </a:xfrm>
                <a:prstGeom prst="roundRect">
                  <a:avLst/>
                </a:prstGeom>
                <a:solidFill>
                  <a:schemeClr val="accent2">
                    <a:lumMod val="75000"/>
                    <a:alpha val="10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b="1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900" b="1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900" b="1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900" b="1" dirty="0">
                      <a:solidFill>
                        <a:schemeClr val="tx1"/>
                      </a:solidFill>
                    </a:rPr>
                    <a:t>5. L2 Normalization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1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norm</m:t>
                          </m:r>
                        </m:sub>
                      </m:sSub>
                      <m:r>
                        <a:rPr lang="en-US" sz="900" b="1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sSub>
                            <m:sSubPr>
                              <m:ctrlPr>
                                <a:rPr lang="en-US" sz="9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9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9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900" b="1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9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900" dirty="0">
                      <a:solidFill>
                        <a:schemeClr val="tx1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×256)</m:t>
                      </m:r>
                    </m:oMath>
                  </a14:m>
                  <a:endParaRPr lang="en-US" sz="9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900" b="1" dirty="0">
                      <a:solidFill>
                        <a:schemeClr val="tx1"/>
                      </a:solidFill>
                    </a:rPr>
                    <a:t> </a:t>
                  </a:r>
                </a:p>
                <a:p>
                  <a:pPr algn="ctr"/>
                  <a:endParaRPr lang="en-US" sz="9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Rectangle: Rounded Corners 235">
                  <a:extLst>
                    <a:ext uri="{FF2B5EF4-FFF2-40B4-BE49-F238E27FC236}">
                      <a16:creationId xmlns:a16="http://schemas.microsoft.com/office/drawing/2014/main" id="{2E4CF58D-F759-9D9A-385E-6976C4B677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9112" y="1214304"/>
                  <a:ext cx="1462041" cy="615873"/>
                </a:xfrm>
                <a:prstGeom prst="roundRect">
                  <a:avLst/>
                </a:prstGeom>
                <a:blipFill>
                  <a:blip r:embed="rId14"/>
                  <a:stretch>
                    <a:fillRect b="-11650"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B862C85A-9A11-9BF6-6FA9-23F4EEF816A0}"/>
                </a:ext>
              </a:extLst>
            </p:cNvPr>
            <p:cNvCxnSpPr>
              <a:cxnSpLocks/>
              <a:stCxn id="221" idx="3"/>
              <a:endCxn id="236" idx="1"/>
            </p:cNvCxnSpPr>
            <p:nvPr/>
          </p:nvCxnSpPr>
          <p:spPr>
            <a:xfrm>
              <a:off x="9610239" y="1515146"/>
              <a:ext cx="188873" cy="70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2C34F2B9-A2F9-E551-1CD3-0738530D0CE3}"/>
                </a:ext>
              </a:extLst>
            </p:cNvPr>
            <p:cNvCxnSpPr>
              <a:cxnSpLocks/>
            </p:cNvCxnSpPr>
            <p:nvPr/>
          </p:nvCxnSpPr>
          <p:spPr>
            <a:xfrm>
              <a:off x="1199770" y="1411510"/>
              <a:ext cx="180339" cy="28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157EC088-0144-D456-B7E3-1785F53543DC}"/>
                </a:ext>
              </a:extLst>
            </p:cNvPr>
            <p:cNvCxnSpPr/>
            <p:nvPr/>
          </p:nvCxnSpPr>
          <p:spPr>
            <a:xfrm>
              <a:off x="4000526" y="1461357"/>
              <a:ext cx="1984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D74DA171-E1E8-89ED-117D-A8812E8528FE}"/>
                </a:ext>
              </a:extLst>
            </p:cNvPr>
            <p:cNvSpPr/>
            <p:nvPr/>
          </p:nvSpPr>
          <p:spPr>
            <a:xfrm>
              <a:off x="630018" y="2592562"/>
              <a:ext cx="3575050" cy="184438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Module 2 HYPERGIN BLOCK </a:t>
              </a: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52388D87-1242-FCFE-5654-030C64287111}"/>
                </a:ext>
              </a:extLst>
            </p:cNvPr>
            <p:cNvSpPr/>
            <p:nvPr/>
          </p:nvSpPr>
          <p:spPr>
            <a:xfrm>
              <a:off x="630018" y="5473487"/>
              <a:ext cx="4043323" cy="170209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2">
                      <a:lumMod val="50000"/>
                    </a:schemeClr>
                  </a:solidFill>
                </a:rPr>
                <a:t>Module 3 U-NET DECODER (MULTI-SCALE RECONSTRUCTION)</a:t>
              </a:r>
            </a:p>
          </p:txBody>
        </p:sp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3BC298DD-D90D-817F-156B-2CEB0F3A7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016" y="1069382"/>
              <a:ext cx="669782" cy="766547"/>
            </a:xfrm>
            <a:prstGeom prst="rect">
              <a:avLst/>
            </a:prstGeom>
            <a:ln w="19050">
              <a:solidFill>
                <a:schemeClr val="accent1">
                  <a:shade val="15000"/>
                </a:schemeClr>
              </a:solidFill>
            </a:ln>
          </p:spPr>
        </p:pic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162FD28-0678-4994-1923-704D6954BBB2}"/>
                </a:ext>
              </a:extLst>
            </p:cNvPr>
            <p:cNvSpPr txBox="1"/>
            <p:nvPr/>
          </p:nvSpPr>
          <p:spPr>
            <a:xfrm>
              <a:off x="334649" y="777230"/>
              <a:ext cx="98937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50000"/>
                    </a:schemeClr>
                  </a:solidFill>
                </a:rPr>
                <a:t>1. Input Image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B91A5DA7-9F60-0091-CEB3-1A7BA15D58DA}"/>
                    </a:ext>
                  </a:extLst>
                </p:cNvPr>
                <p:cNvSpPr txBox="1"/>
                <p:nvPr/>
              </p:nvSpPr>
              <p:spPr>
                <a:xfrm>
                  <a:off x="257158" y="1963697"/>
                  <a:ext cx="1114921" cy="2635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100" i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3×256×256</m:t>
                            </m:r>
                          </m:sup>
                        </m:s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B91A5DA7-9F60-0091-CEB3-1A7BA15D58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158" y="1963697"/>
                  <a:ext cx="1114921" cy="26353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24AD23FE-5F65-667B-2D64-2250D19AD78B}"/>
                </a:ext>
              </a:extLst>
            </p:cNvPr>
            <p:cNvGrpSpPr/>
            <p:nvPr/>
          </p:nvGrpSpPr>
          <p:grpSpPr>
            <a:xfrm>
              <a:off x="11048997" y="3515745"/>
              <a:ext cx="1178262" cy="971786"/>
              <a:chOff x="10601796" y="3012444"/>
              <a:chExt cx="1972338" cy="1312814"/>
            </a:xfrm>
          </p:grpSpPr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E4408015-E2E5-0EFD-A65C-C1974004E9D3}"/>
                  </a:ext>
                </a:extLst>
              </p:cNvPr>
              <p:cNvSpPr txBox="1"/>
              <p:nvPr/>
            </p:nvSpPr>
            <p:spPr>
              <a:xfrm>
                <a:off x="10853585" y="3272995"/>
                <a:ext cx="1720549" cy="956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 X 2</a:t>
                </a:r>
              </a:p>
              <a:p>
                <a:r>
                  <a:rPr lang="en-US" sz="1000" dirty="0"/>
                  <a:t>Repeat the </a:t>
                </a:r>
              </a:p>
              <a:p>
                <a:r>
                  <a:rPr lang="en-US" sz="1000" dirty="0"/>
                  <a:t>HyperGIN block </a:t>
                </a:r>
              </a:p>
              <a:p>
                <a:r>
                  <a:rPr lang="en-US" sz="1000" dirty="0"/>
                  <a:t>Twice</a:t>
                </a:r>
              </a:p>
            </p:txBody>
          </p: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DA3E799C-0CC9-91A0-1059-B65F08CF11F4}"/>
                  </a:ext>
                </a:extLst>
              </p:cNvPr>
              <p:cNvCxnSpPr/>
              <p:nvPr/>
            </p:nvCxnSpPr>
            <p:spPr>
              <a:xfrm>
                <a:off x="10608890" y="4325258"/>
                <a:ext cx="652263" cy="0"/>
              </a:xfrm>
              <a:prstGeom prst="line">
                <a:avLst/>
              </a:prstGeom>
              <a:ln>
                <a:solidFill>
                  <a:schemeClr val="accent6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5DC62F87-A90F-6526-D1CA-E4AA311B0353}"/>
                  </a:ext>
                </a:extLst>
              </p:cNvPr>
              <p:cNvCxnSpPr/>
              <p:nvPr/>
            </p:nvCxnSpPr>
            <p:spPr>
              <a:xfrm flipV="1">
                <a:off x="11261153" y="4093029"/>
                <a:ext cx="0" cy="232229"/>
              </a:xfrm>
              <a:prstGeom prst="line">
                <a:avLst/>
              </a:prstGeom>
              <a:ln>
                <a:solidFill>
                  <a:schemeClr val="accent6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F697EBD6-B7F7-8BCA-E68D-F78D591BFD9D}"/>
                  </a:ext>
                </a:extLst>
              </p:cNvPr>
              <p:cNvCxnSpPr/>
              <p:nvPr/>
            </p:nvCxnSpPr>
            <p:spPr>
              <a:xfrm flipV="1">
                <a:off x="11261153" y="3012444"/>
                <a:ext cx="0" cy="260551"/>
              </a:xfrm>
              <a:prstGeom prst="line">
                <a:avLst/>
              </a:prstGeom>
              <a:ln>
                <a:solidFill>
                  <a:schemeClr val="accent6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Arrow Connector 265">
                <a:extLst>
                  <a:ext uri="{FF2B5EF4-FFF2-40B4-BE49-F238E27FC236}">
                    <a16:creationId xmlns:a16="http://schemas.microsoft.com/office/drawing/2014/main" id="{DE00A4B6-7EC2-FAEF-5FBC-4DB0241AAF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01796" y="3012444"/>
                <a:ext cx="659357" cy="0"/>
              </a:xfrm>
              <a:prstGeom prst="straightConnector1">
                <a:avLst/>
              </a:prstGeom>
              <a:ln>
                <a:solidFill>
                  <a:schemeClr val="accent6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340815B5-F311-F455-9CF7-BCA37A1EFAC9}"/>
                </a:ext>
              </a:extLst>
            </p:cNvPr>
            <p:cNvCxnSpPr>
              <a:cxnSpLocks/>
            </p:cNvCxnSpPr>
            <p:nvPr/>
          </p:nvCxnSpPr>
          <p:spPr>
            <a:xfrm>
              <a:off x="5827786" y="2549918"/>
              <a:ext cx="0" cy="23753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AB40F912-3291-90E9-BA8C-15EC7AFF95E9}"/>
                </a:ext>
              </a:extLst>
            </p:cNvPr>
            <p:cNvCxnSpPr>
              <a:cxnSpLocks/>
            </p:cNvCxnSpPr>
            <p:nvPr/>
          </p:nvCxnSpPr>
          <p:spPr>
            <a:xfrm>
              <a:off x="5827786" y="5406165"/>
              <a:ext cx="0" cy="23753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B4C5C9F5-9F83-2CA7-6EBF-0ED854DD89F3}"/>
                </a:ext>
              </a:extLst>
            </p:cNvPr>
            <p:cNvGrpSpPr/>
            <p:nvPr/>
          </p:nvGrpSpPr>
          <p:grpSpPr>
            <a:xfrm>
              <a:off x="416941" y="3215306"/>
              <a:ext cx="2079155" cy="1585297"/>
              <a:chOff x="409575" y="3000375"/>
              <a:chExt cx="2364696" cy="1475140"/>
            </a:xfrm>
          </p:grpSpPr>
          <p:sp>
            <p:nvSpPr>
              <p:cNvPr id="280" name="Rectangle: Rounded Corners 279">
                <a:extLst>
                  <a:ext uri="{FF2B5EF4-FFF2-40B4-BE49-F238E27FC236}">
                    <a16:creationId xmlns:a16="http://schemas.microsoft.com/office/drawing/2014/main" id="{B3E96FC2-2A5C-462B-039A-331CFE5E9199}"/>
                  </a:ext>
                </a:extLst>
              </p:cNvPr>
              <p:cNvSpPr/>
              <p:nvPr/>
            </p:nvSpPr>
            <p:spPr>
              <a:xfrm>
                <a:off x="409575" y="3000375"/>
                <a:ext cx="2290763" cy="1475140"/>
              </a:xfrm>
              <a:prstGeom prst="round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8668A11C-099F-1593-0B92-2CAE28D3C6EF}"/>
                  </a:ext>
                </a:extLst>
              </p:cNvPr>
              <p:cNvSpPr txBox="1"/>
              <p:nvPr/>
            </p:nvSpPr>
            <p:spPr>
              <a:xfrm>
                <a:off x="471267" y="3039681"/>
                <a:ext cx="2303004" cy="278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b="1" dirty="0"/>
                  <a:t>(a) 2 – Criteria Hyperedge Assignment </a:t>
                </a:r>
              </a:p>
            </p:txBody>
          </p:sp>
          <p:grpSp>
            <p:nvGrpSpPr>
              <p:cNvPr id="433" name="Group 432">
                <a:extLst>
                  <a:ext uri="{FF2B5EF4-FFF2-40B4-BE49-F238E27FC236}">
                    <a16:creationId xmlns:a16="http://schemas.microsoft.com/office/drawing/2014/main" id="{E9EFB412-1363-1059-AF7B-05171C6B55AF}"/>
                  </a:ext>
                </a:extLst>
              </p:cNvPr>
              <p:cNvGrpSpPr/>
              <p:nvPr/>
            </p:nvGrpSpPr>
            <p:grpSpPr>
              <a:xfrm>
                <a:off x="489016" y="3597885"/>
                <a:ext cx="964907" cy="864054"/>
                <a:chOff x="547726" y="3490138"/>
                <a:chExt cx="964907" cy="864054"/>
              </a:xfrm>
            </p:grpSpPr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DDA02657-07E4-C385-671F-109A8BD59489}"/>
                    </a:ext>
                  </a:extLst>
                </p:cNvPr>
                <p:cNvSpPr/>
                <p:nvPr/>
              </p:nvSpPr>
              <p:spPr>
                <a:xfrm>
                  <a:off x="623926" y="3503314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FD0A2157-A0C8-B182-6FBD-F8763D88BCCB}"/>
                    </a:ext>
                  </a:extLst>
                </p:cNvPr>
                <p:cNvSpPr/>
                <p:nvPr/>
              </p:nvSpPr>
              <p:spPr>
                <a:xfrm>
                  <a:off x="547726" y="3787901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C04E5933-7B1D-1BC7-4688-B7FABEAA6AFB}"/>
                    </a:ext>
                  </a:extLst>
                </p:cNvPr>
                <p:cNvSpPr/>
                <p:nvPr/>
              </p:nvSpPr>
              <p:spPr>
                <a:xfrm>
                  <a:off x="836699" y="3699501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4749FE12-12EE-CFD7-0371-57FFC723E90A}"/>
                    </a:ext>
                  </a:extLst>
                </p:cNvPr>
                <p:cNvSpPr/>
                <p:nvPr/>
              </p:nvSpPr>
              <p:spPr>
                <a:xfrm>
                  <a:off x="623926" y="4043719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1306C3FC-4A44-8EA8-D0A9-F58BED517E1B}"/>
                    </a:ext>
                  </a:extLst>
                </p:cNvPr>
                <p:cNvSpPr/>
                <p:nvPr/>
              </p:nvSpPr>
              <p:spPr>
                <a:xfrm>
                  <a:off x="885693" y="4002254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D231C082-FB66-FCE4-A0C3-AD32703CB9DB}"/>
                    </a:ext>
                  </a:extLst>
                </p:cNvPr>
                <p:cNvSpPr/>
                <p:nvPr/>
              </p:nvSpPr>
              <p:spPr>
                <a:xfrm>
                  <a:off x="1147460" y="3895196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50711D69-D428-6943-4340-5E46CD8E7306}"/>
                    </a:ext>
                  </a:extLst>
                </p:cNvPr>
                <p:cNvSpPr/>
                <p:nvPr/>
              </p:nvSpPr>
              <p:spPr>
                <a:xfrm>
                  <a:off x="733170" y="4279259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A9337FB2-85F7-412F-A297-DA900C8CA788}"/>
                    </a:ext>
                  </a:extLst>
                </p:cNvPr>
                <p:cNvSpPr/>
                <p:nvPr/>
              </p:nvSpPr>
              <p:spPr>
                <a:xfrm>
                  <a:off x="979748" y="4221255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3CE2D92C-B2D4-9249-1CF3-20DE71C87BBB}"/>
                    </a:ext>
                  </a:extLst>
                </p:cNvPr>
                <p:cNvSpPr/>
                <p:nvPr/>
              </p:nvSpPr>
              <p:spPr>
                <a:xfrm>
                  <a:off x="1436433" y="3919615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D1C1A166-1EA0-6A43-8C3F-86720A8E7877}"/>
                    </a:ext>
                  </a:extLst>
                </p:cNvPr>
                <p:cNvSpPr/>
                <p:nvPr/>
              </p:nvSpPr>
              <p:spPr>
                <a:xfrm>
                  <a:off x="1185560" y="4118652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2EA9C32A-604F-3BE7-D437-D6204D80AD17}"/>
                    </a:ext>
                  </a:extLst>
                </p:cNvPr>
                <p:cNvSpPr/>
                <p:nvPr/>
              </p:nvSpPr>
              <p:spPr>
                <a:xfrm>
                  <a:off x="1054702" y="3709138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68582C16-08A8-97B7-5720-AEDAB858223D}"/>
                    </a:ext>
                  </a:extLst>
                </p:cNvPr>
                <p:cNvSpPr/>
                <p:nvPr/>
              </p:nvSpPr>
              <p:spPr>
                <a:xfrm>
                  <a:off x="950999" y="3490138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C50E1EB8-010F-A5DF-BCEA-35E0674990C5}"/>
                    </a:ext>
                  </a:extLst>
                </p:cNvPr>
                <p:cNvSpPr/>
                <p:nvPr/>
              </p:nvSpPr>
              <p:spPr>
                <a:xfrm>
                  <a:off x="1285922" y="3601636"/>
                  <a:ext cx="76200" cy="74933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08" name="Straight Connector 307">
                  <a:extLst>
                    <a:ext uri="{FF2B5EF4-FFF2-40B4-BE49-F238E27FC236}">
                      <a16:creationId xmlns:a16="http://schemas.microsoft.com/office/drawing/2014/main" id="{8482455F-F358-2659-7993-2956176D941A}"/>
                    </a:ext>
                  </a:extLst>
                </p:cNvPr>
                <p:cNvCxnSpPr>
                  <a:cxnSpLocks/>
                  <a:stCxn id="282" idx="5"/>
                  <a:endCxn id="286" idx="1"/>
                </p:cNvCxnSpPr>
                <p:nvPr/>
              </p:nvCxnSpPr>
              <p:spPr>
                <a:xfrm>
                  <a:off x="688967" y="3567273"/>
                  <a:ext cx="158891" cy="14320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EAF2B2AD-C481-55FB-7826-3B90BA3FCC52}"/>
                    </a:ext>
                  </a:extLst>
                </p:cNvPr>
                <p:cNvCxnSpPr>
                  <a:cxnSpLocks/>
                  <a:stCxn id="286" idx="0"/>
                  <a:endCxn id="304" idx="3"/>
                </p:cNvCxnSpPr>
                <p:nvPr/>
              </p:nvCxnSpPr>
              <p:spPr>
                <a:xfrm flipV="1">
                  <a:off x="874799" y="3554097"/>
                  <a:ext cx="87359" cy="14540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Straight Connector 313">
                  <a:extLst>
                    <a:ext uri="{FF2B5EF4-FFF2-40B4-BE49-F238E27FC236}">
                      <a16:creationId xmlns:a16="http://schemas.microsoft.com/office/drawing/2014/main" id="{09F57A48-4EA8-65E3-7D81-37518099B5B4}"/>
                    </a:ext>
                  </a:extLst>
                </p:cNvPr>
                <p:cNvCxnSpPr>
                  <a:cxnSpLocks/>
                  <a:stCxn id="284" idx="5"/>
                  <a:endCxn id="286" idx="2"/>
                </p:cNvCxnSpPr>
                <p:nvPr/>
              </p:nvCxnSpPr>
              <p:spPr>
                <a:xfrm flipV="1">
                  <a:off x="612767" y="3736968"/>
                  <a:ext cx="223932" cy="11489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C1D1D252-540A-FFF9-A674-81C0AA45DF87}"/>
                    </a:ext>
                  </a:extLst>
                </p:cNvPr>
                <p:cNvCxnSpPr>
                  <a:cxnSpLocks/>
                  <a:stCxn id="284" idx="5"/>
                  <a:endCxn id="288" idx="7"/>
                </p:cNvCxnSpPr>
                <p:nvPr/>
              </p:nvCxnSpPr>
              <p:spPr>
                <a:xfrm>
                  <a:off x="612767" y="3851860"/>
                  <a:ext cx="76200" cy="2028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Straight Connector 319">
                  <a:extLst>
                    <a:ext uri="{FF2B5EF4-FFF2-40B4-BE49-F238E27FC236}">
                      <a16:creationId xmlns:a16="http://schemas.microsoft.com/office/drawing/2014/main" id="{68A9A993-A7F8-E725-B8C2-45AE0BC51AC8}"/>
                    </a:ext>
                  </a:extLst>
                </p:cNvPr>
                <p:cNvCxnSpPr>
                  <a:stCxn id="288" idx="7"/>
                  <a:endCxn id="290" idx="1"/>
                </p:cNvCxnSpPr>
                <p:nvPr/>
              </p:nvCxnSpPr>
              <p:spPr>
                <a:xfrm flipV="1">
                  <a:off x="688967" y="4013228"/>
                  <a:ext cx="207885" cy="4146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>
                  <a:extLst>
                    <a:ext uri="{FF2B5EF4-FFF2-40B4-BE49-F238E27FC236}">
                      <a16:creationId xmlns:a16="http://schemas.microsoft.com/office/drawing/2014/main" id="{2635232B-F557-B349-295E-F1FB354A1EAC}"/>
                    </a:ext>
                  </a:extLst>
                </p:cNvPr>
                <p:cNvCxnSpPr>
                  <a:stCxn id="286" idx="5"/>
                  <a:endCxn id="290" idx="1"/>
                </p:cNvCxnSpPr>
                <p:nvPr/>
              </p:nvCxnSpPr>
              <p:spPr>
                <a:xfrm flipH="1">
                  <a:off x="896852" y="3763460"/>
                  <a:ext cx="4888" cy="24976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250CAE6E-F1F9-C49C-50D1-4151DAD789A8}"/>
                    </a:ext>
                  </a:extLst>
                </p:cNvPr>
                <p:cNvCxnSpPr>
                  <a:stCxn id="286" idx="5"/>
                  <a:endCxn id="302" idx="3"/>
                </p:cNvCxnSpPr>
                <p:nvPr/>
              </p:nvCxnSpPr>
              <p:spPr>
                <a:xfrm>
                  <a:off x="901740" y="3763460"/>
                  <a:ext cx="164121" cy="963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CD2CB124-0160-F544-5357-681D8524C902}"/>
                    </a:ext>
                  </a:extLst>
                </p:cNvPr>
                <p:cNvCxnSpPr>
                  <a:cxnSpLocks/>
                  <a:stCxn id="302" idx="5"/>
                  <a:endCxn id="292" idx="2"/>
                </p:cNvCxnSpPr>
                <p:nvPr/>
              </p:nvCxnSpPr>
              <p:spPr>
                <a:xfrm>
                  <a:off x="1119743" y="3773097"/>
                  <a:ext cx="27717" cy="15956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FA548155-E4B4-4F41-F950-37EB28645D59}"/>
                    </a:ext>
                  </a:extLst>
                </p:cNvPr>
                <p:cNvCxnSpPr>
                  <a:stCxn id="290" idx="0"/>
                  <a:endCxn id="292" idx="3"/>
                </p:cNvCxnSpPr>
                <p:nvPr/>
              </p:nvCxnSpPr>
              <p:spPr>
                <a:xfrm flipV="1">
                  <a:off x="923793" y="3959155"/>
                  <a:ext cx="234826" cy="4309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E5DF3F3E-8923-CBE6-FB9A-3005E757D0D8}"/>
                    </a:ext>
                  </a:extLst>
                </p:cNvPr>
                <p:cNvCxnSpPr>
                  <a:cxnSpLocks/>
                  <a:stCxn id="302" idx="7"/>
                  <a:endCxn id="306" idx="2"/>
                </p:cNvCxnSpPr>
                <p:nvPr/>
              </p:nvCxnSpPr>
              <p:spPr>
                <a:xfrm flipV="1">
                  <a:off x="1119743" y="3639103"/>
                  <a:ext cx="166179" cy="8100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>
                  <a:extLst>
                    <a:ext uri="{FF2B5EF4-FFF2-40B4-BE49-F238E27FC236}">
                      <a16:creationId xmlns:a16="http://schemas.microsoft.com/office/drawing/2014/main" id="{51CC37DB-48FE-2055-B0E4-1A8421EAEF64}"/>
                    </a:ext>
                  </a:extLst>
                </p:cNvPr>
                <p:cNvCxnSpPr>
                  <a:stCxn id="292" idx="0"/>
                  <a:endCxn id="306" idx="3"/>
                </p:cNvCxnSpPr>
                <p:nvPr/>
              </p:nvCxnSpPr>
              <p:spPr>
                <a:xfrm flipV="1">
                  <a:off x="1185560" y="3665595"/>
                  <a:ext cx="111521" cy="229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>
                  <a:extLst>
                    <a:ext uri="{FF2B5EF4-FFF2-40B4-BE49-F238E27FC236}">
                      <a16:creationId xmlns:a16="http://schemas.microsoft.com/office/drawing/2014/main" id="{4AAF0CDF-3EC0-1D92-A297-DE3A45F24BE1}"/>
                    </a:ext>
                  </a:extLst>
                </p:cNvPr>
                <p:cNvCxnSpPr>
                  <a:cxnSpLocks/>
                  <a:stCxn id="292" idx="6"/>
                  <a:endCxn id="298" idx="2"/>
                </p:cNvCxnSpPr>
                <p:nvPr/>
              </p:nvCxnSpPr>
              <p:spPr>
                <a:xfrm>
                  <a:off x="1223660" y="3932663"/>
                  <a:ext cx="212773" cy="2441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76DC0BD1-CEC8-7664-B973-57641FF22CDD}"/>
                    </a:ext>
                  </a:extLst>
                </p:cNvPr>
                <p:cNvCxnSpPr>
                  <a:stCxn id="306" idx="3"/>
                  <a:endCxn id="298" idx="3"/>
                </p:cNvCxnSpPr>
                <p:nvPr/>
              </p:nvCxnSpPr>
              <p:spPr>
                <a:xfrm>
                  <a:off x="1297081" y="3665595"/>
                  <a:ext cx="150511" cy="31797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5565DFC4-5116-F92E-D56B-3508C49BDE91}"/>
                    </a:ext>
                  </a:extLst>
                </p:cNvPr>
                <p:cNvCxnSpPr>
                  <a:cxnSpLocks/>
                  <a:stCxn id="290" idx="4"/>
                  <a:endCxn id="294" idx="6"/>
                </p:cNvCxnSpPr>
                <p:nvPr/>
              </p:nvCxnSpPr>
              <p:spPr>
                <a:xfrm flipH="1">
                  <a:off x="809370" y="4077187"/>
                  <a:ext cx="114423" cy="23953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5E3FDCF7-3C75-0791-8C77-93F831ECAB72}"/>
                    </a:ext>
                  </a:extLst>
                </p:cNvPr>
                <p:cNvCxnSpPr>
                  <a:cxnSpLocks/>
                  <a:stCxn id="290" idx="5"/>
                  <a:endCxn id="296" idx="0"/>
                </p:cNvCxnSpPr>
                <p:nvPr/>
              </p:nvCxnSpPr>
              <p:spPr>
                <a:xfrm>
                  <a:off x="950734" y="4066213"/>
                  <a:ext cx="67114" cy="15504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6D3805D4-E252-58F1-4691-80DF1E0DD019}"/>
                    </a:ext>
                  </a:extLst>
                </p:cNvPr>
                <p:cNvCxnSpPr>
                  <a:cxnSpLocks/>
                  <a:stCxn id="292" idx="3"/>
                  <a:endCxn id="296" idx="6"/>
                </p:cNvCxnSpPr>
                <p:nvPr/>
              </p:nvCxnSpPr>
              <p:spPr>
                <a:xfrm flipH="1">
                  <a:off x="1055948" y="3959155"/>
                  <a:ext cx="102671" cy="29956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B45F979F-5860-10CE-C7ED-398131555899}"/>
                    </a:ext>
                  </a:extLst>
                </p:cNvPr>
                <p:cNvCxnSpPr>
                  <a:stCxn id="292" idx="4"/>
                  <a:endCxn id="300" idx="0"/>
                </p:cNvCxnSpPr>
                <p:nvPr/>
              </p:nvCxnSpPr>
              <p:spPr>
                <a:xfrm>
                  <a:off x="1185560" y="3970129"/>
                  <a:ext cx="38100" cy="1485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C08C9803-1AED-4683-A833-E1CDB0BD04A6}"/>
                    </a:ext>
                  </a:extLst>
                </p:cNvPr>
                <p:cNvCxnSpPr>
                  <a:cxnSpLocks/>
                  <a:stCxn id="288" idx="7"/>
                  <a:endCxn id="286" idx="2"/>
                </p:cNvCxnSpPr>
                <p:nvPr/>
              </p:nvCxnSpPr>
              <p:spPr>
                <a:xfrm flipV="1">
                  <a:off x="688967" y="3736968"/>
                  <a:ext cx="147732" cy="31772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7AB119F3-3FF3-2FDE-A058-A1E4D74D5E4B}"/>
                    </a:ext>
                  </a:extLst>
                </p:cNvPr>
                <p:cNvCxnSpPr>
                  <a:stCxn id="284" idx="5"/>
                  <a:endCxn id="290" idx="1"/>
                </p:cNvCxnSpPr>
                <p:nvPr/>
              </p:nvCxnSpPr>
              <p:spPr>
                <a:xfrm>
                  <a:off x="612767" y="3851860"/>
                  <a:ext cx="284085" cy="16136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Straight Connector 380">
                  <a:extLst>
                    <a:ext uri="{FF2B5EF4-FFF2-40B4-BE49-F238E27FC236}">
                      <a16:creationId xmlns:a16="http://schemas.microsoft.com/office/drawing/2014/main" id="{D93ECB01-552C-BFFE-DB39-05F7AB9B76F4}"/>
                    </a:ext>
                  </a:extLst>
                </p:cNvPr>
                <p:cNvCxnSpPr>
                  <a:stCxn id="290" idx="0"/>
                  <a:endCxn id="302" idx="4"/>
                </p:cNvCxnSpPr>
                <p:nvPr/>
              </p:nvCxnSpPr>
              <p:spPr>
                <a:xfrm flipV="1">
                  <a:off x="923793" y="3784071"/>
                  <a:ext cx="169009" cy="21818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1" name="Group 430">
                <a:extLst>
                  <a:ext uri="{FF2B5EF4-FFF2-40B4-BE49-F238E27FC236}">
                    <a16:creationId xmlns:a16="http://schemas.microsoft.com/office/drawing/2014/main" id="{64864D4D-3F0F-55E4-AF36-18A3C614F5B1}"/>
                  </a:ext>
                </a:extLst>
              </p:cNvPr>
              <p:cNvGrpSpPr/>
              <p:nvPr/>
            </p:nvGrpSpPr>
            <p:grpSpPr>
              <a:xfrm>
                <a:off x="1833014" y="3583739"/>
                <a:ext cx="743768" cy="762000"/>
                <a:chOff x="1915023" y="3505734"/>
                <a:chExt cx="743768" cy="762000"/>
              </a:xfrm>
            </p:grpSpPr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CF7B34BE-428C-CA4F-17AB-F2EB22E95175}"/>
                    </a:ext>
                  </a:extLst>
                </p:cNvPr>
                <p:cNvSpPr/>
                <p:nvPr/>
              </p:nvSpPr>
              <p:spPr>
                <a:xfrm>
                  <a:off x="1928673" y="3505734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3EE5143F-A8E0-E7C9-85BC-8BD50B36C769}"/>
                    </a:ext>
                  </a:extLst>
                </p:cNvPr>
                <p:cNvSpPr/>
                <p:nvPr/>
              </p:nvSpPr>
              <p:spPr>
                <a:xfrm>
                  <a:off x="2081073" y="3658134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4B35DFA2-16A1-CF3E-FEE2-A80808246471}"/>
                    </a:ext>
                  </a:extLst>
                </p:cNvPr>
                <p:cNvSpPr/>
                <p:nvPr/>
              </p:nvSpPr>
              <p:spPr>
                <a:xfrm>
                  <a:off x="2233473" y="3810534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31155210-7ABB-CB5D-351E-3CE16102AC2C}"/>
                    </a:ext>
                  </a:extLst>
                </p:cNvPr>
                <p:cNvSpPr/>
                <p:nvPr/>
              </p:nvSpPr>
              <p:spPr>
                <a:xfrm>
                  <a:off x="2320824" y="3993802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961A0D53-8589-0210-9887-73D8FD660BBB}"/>
                    </a:ext>
                  </a:extLst>
                </p:cNvPr>
                <p:cNvSpPr/>
                <p:nvPr/>
              </p:nvSpPr>
              <p:spPr>
                <a:xfrm>
                  <a:off x="2330349" y="4192801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D7F4CCC2-1299-B847-1ABF-D81F286762D7}"/>
                    </a:ext>
                  </a:extLst>
                </p:cNvPr>
                <p:cNvSpPr/>
                <p:nvPr/>
              </p:nvSpPr>
              <p:spPr>
                <a:xfrm>
                  <a:off x="2344497" y="3522379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8F1A2569-36FF-9196-F586-B97804117CDB}"/>
                    </a:ext>
                  </a:extLst>
                </p:cNvPr>
                <p:cNvSpPr/>
                <p:nvPr/>
              </p:nvSpPr>
              <p:spPr>
                <a:xfrm>
                  <a:off x="2447570" y="3713752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7D346C8A-D901-1F22-A12C-65C8420D52CD}"/>
                    </a:ext>
                  </a:extLst>
                </p:cNvPr>
                <p:cNvSpPr/>
                <p:nvPr/>
              </p:nvSpPr>
              <p:spPr>
                <a:xfrm>
                  <a:off x="2530064" y="3522379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70D3BA1F-A97C-5B84-4E9D-137F1ADCE9B7}"/>
                    </a:ext>
                  </a:extLst>
                </p:cNvPr>
                <p:cNvSpPr/>
                <p:nvPr/>
              </p:nvSpPr>
              <p:spPr>
                <a:xfrm>
                  <a:off x="1915023" y="3886205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989B25E8-B467-9854-5E54-CB47E0F002C1}"/>
                    </a:ext>
                  </a:extLst>
                </p:cNvPr>
                <p:cNvSpPr/>
                <p:nvPr/>
              </p:nvSpPr>
              <p:spPr>
                <a:xfrm>
                  <a:off x="2110110" y="3991891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C9F58C75-8EF8-97DE-1E17-6614BE546801}"/>
                    </a:ext>
                  </a:extLst>
                </p:cNvPr>
                <p:cNvSpPr/>
                <p:nvPr/>
              </p:nvSpPr>
              <p:spPr>
                <a:xfrm>
                  <a:off x="1915023" y="4136597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6E25A68A-98D1-AC49-B826-7F82CC1D0230}"/>
                    </a:ext>
                  </a:extLst>
                </p:cNvPr>
                <p:cNvSpPr/>
                <p:nvPr/>
              </p:nvSpPr>
              <p:spPr>
                <a:xfrm>
                  <a:off x="2582591" y="3970129"/>
                  <a:ext cx="76200" cy="7493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1D2C4CE8-502C-BB7E-2664-9FFB9CEB53DC}"/>
                    </a:ext>
                  </a:extLst>
                </p:cNvPr>
                <p:cNvCxnSpPr>
                  <a:cxnSpLocks/>
                  <a:stCxn id="351" idx="5"/>
                  <a:endCxn id="353" idx="1"/>
                </p:cNvCxnSpPr>
                <p:nvPr/>
              </p:nvCxnSpPr>
              <p:spPr>
                <a:xfrm>
                  <a:off x="1993714" y="3569693"/>
                  <a:ext cx="98518" cy="99415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C7AAC8AC-AE63-4E56-0A63-B496ABC92CCF}"/>
                    </a:ext>
                  </a:extLst>
                </p:cNvPr>
                <p:cNvCxnSpPr>
                  <a:cxnSpLocks/>
                  <a:stCxn id="353" idx="7"/>
                  <a:endCxn id="361" idx="2"/>
                </p:cNvCxnSpPr>
                <p:nvPr/>
              </p:nvCxnSpPr>
              <p:spPr>
                <a:xfrm flipV="1">
                  <a:off x="2146114" y="3559846"/>
                  <a:ext cx="198383" cy="109262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51B3742A-ECB3-BF3F-4BBE-31C57D740FF4}"/>
                    </a:ext>
                  </a:extLst>
                </p:cNvPr>
                <p:cNvCxnSpPr>
                  <a:stCxn id="353" idx="3"/>
                  <a:endCxn id="367" idx="7"/>
                </p:cNvCxnSpPr>
                <p:nvPr/>
              </p:nvCxnSpPr>
              <p:spPr>
                <a:xfrm flipH="1">
                  <a:off x="1980064" y="3722093"/>
                  <a:ext cx="112168" cy="175086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476C5B61-87B8-E3F1-E1A6-287FC28301D2}"/>
                    </a:ext>
                  </a:extLst>
                </p:cNvPr>
                <p:cNvCxnSpPr>
                  <a:cxnSpLocks/>
                  <a:stCxn id="367" idx="7"/>
                  <a:endCxn id="355" idx="2"/>
                </p:cNvCxnSpPr>
                <p:nvPr/>
              </p:nvCxnSpPr>
              <p:spPr>
                <a:xfrm flipV="1">
                  <a:off x="1980064" y="3848001"/>
                  <a:ext cx="253409" cy="49178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FD6E6F6C-9075-8FF4-CBFD-E1B40EA23022}"/>
                    </a:ext>
                  </a:extLst>
                </p:cNvPr>
                <p:cNvCxnSpPr>
                  <a:stCxn id="353" idx="5"/>
                  <a:endCxn id="355" idx="1"/>
                </p:cNvCxnSpPr>
                <p:nvPr/>
              </p:nvCxnSpPr>
              <p:spPr>
                <a:xfrm>
                  <a:off x="2146114" y="3722093"/>
                  <a:ext cx="98518" cy="99415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Straight Connector 402">
                  <a:extLst>
                    <a:ext uri="{FF2B5EF4-FFF2-40B4-BE49-F238E27FC236}">
                      <a16:creationId xmlns:a16="http://schemas.microsoft.com/office/drawing/2014/main" id="{AFEA0D5B-EC62-BCCD-A80C-1002E4C748FE}"/>
                    </a:ext>
                  </a:extLst>
                </p:cNvPr>
                <p:cNvCxnSpPr>
                  <a:stCxn id="355" idx="5"/>
                  <a:endCxn id="357" idx="1"/>
                </p:cNvCxnSpPr>
                <p:nvPr/>
              </p:nvCxnSpPr>
              <p:spPr>
                <a:xfrm>
                  <a:off x="2298514" y="3874493"/>
                  <a:ext cx="33469" cy="130283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>
                  <a:extLst>
                    <a:ext uri="{FF2B5EF4-FFF2-40B4-BE49-F238E27FC236}">
                      <a16:creationId xmlns:a16="http://schemas.microsoft.com/office/drawing/2014/main" id="{04638D82-C395-38A1-457B-8FCBACBF8654}"/>
                    </a:ext>
                  </a:extLst>
                </p:cNvPr>
                <p:cNvCxnSpPr>
                  <a:stCxn id="357" idx="4"/>
                  <a:endCxn id="359" idx="0"/>
                </p:cNvCxnSpPr>
                <p:nvPr/>
              </p:nvCxnSpPr>
              <p:spPr>
                <a:xfrm>
                  <a:off x="2358924" y="4068735"/>
                  <a:ext cx="9525" cy="124066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E1D80800-0F86-ACCD-BD28-5D213B9F5196}"/>
                    </a:ext>
                  </a:extLst>
                </p:cNvPr>
                <p:cNvCxnSpPr>
                  <a:stCxn id="367" idx="7"/>
                  <a:endCxn id="369" idx="1"/>
                </p:cNvCxnSpPr>
                <p:nvPr/>
              </p:nvCxnSpPr>
              <p:spPr>
                <a:xfrm>
                  <a:off x="1980064" y="3897179"/>
                  <a:ext cx="141205" cy="105686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60CFABC5-622D-666D-4740-7DA700F25E73}"/>
                    </a:ext>
                  </a:extLst>
                </p:cNvPr>
                <p:cNvCxnSpPr>
                  <a:cxnSpLocks/>
                  <a:endCxn id="357" idx="2"/>
                </p:cNvCxnSpPr>
                <p:nvPr/>
              </p:nvCxnSpPr>
              <p:spPr>
                <a:xfrm flipV="1">
                  <a:off x="2173732" y="4031269"/>
                  <a:ext cx="147092" cy="26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010410CA-4623-6119-9718-226C04679FA0}"/>
                    </a:ext>
                  </a:extLst>
                </p:cNvPr>
                <p:cNvCxnSpPr>
                  <a:stCxn id="369" idx="3"/>
                  <a:endCxn id="371" idx="6"/>
                </p:cNvCxnSpPr>
                <p:nvPr/>
              </p:nvCxnSpPr>
              <p:spPr>
                <a:xfrm flipH="1">
                  <a:off x="1991223" y="4055850"/>
                  <a:ext cx="130046" cy="118214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89EA718B-9F78-4099-8BBA-EB2808E3B0EF}"/>
                    </a:ext>
                  </a:extLst>
                </p:cNvPr>
                <p:cNvCxnSpPr>
                  <a:stCxn id="369" idx="4"/>
                  <a:endCxn id="359" idx="1"/>
                </p:cNvCxnSpPr>
                <p:nvPr/>
              </p:nvCxnSpPr>
              <p:spPr>
                <a:xfrm>
                  <a:off x="2148210" y="4066824"/>
                  <a:ext cx="193298" cy="136951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Straight Connector 415">
                  <a:extLst>
                    <a:ext uri="{FF2B5EF4-FFF2-40B4-BE49-F238E27FC236}">
                      <a16:creationId xmlns:a16="http://schemas.microsoft.com/office/drawing/2014/main" id="{2EC2DE8A-9A50-6777-3DEA-F0318EDC15B2}"/>
                    </a:ext>
                  </a:extLst>
                </p:cNvPr>
                <p:cNvCxnSpPr>
                  <a:stCxn id="355" idx="7"/>
                  <a:endCxn id="361" idx="4"/>
                </p:cNvCxnSpPr>
                <p:nvPr/>
              </p:nvCxnSpPr>
              <p:spPr>
                <a:xfrm flipV="1">
                  <a:off x="2298514" y="3597312"/>
                  <a:ext cx="84083" cy="224196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A5E8CB8A-4E93-4257-5FD0-53C6E08A8C3B}"/>
                    </a:ext>
                  </a:extLst>
                </p:cNvPr>
                <p:cNvCxnSpPr>
                  <a:stCxn id="355" idx="7"/>
                  <a:endCxn id="363" idx="3"/>
                </p:cNvCxnSpPr>
                <p:nvPr/>
              </p:nvCxnSpPr>
              <p:spPr>
                <a:xfrm flipV="1">
                  <a:off x="2298514" y="3777711"/>
                  <a:ext cx="160215" cy="43797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8ACD3DC9-95C9-84BF-E9F1-924FC15A3E1E}"/>
                    </a:ext>
                  </a:extLst>
                </p:cNvPr>
                <p:cNvCxnSpPr>
                  <a:cxnSpLocks/>
                  <a:stCxn id="361" idx="4"/>
                  <a:endCxn id="363" idx="1"/>
                </p:cNvCxnSpPr>
                <p:nvPr/>
              </p:nvCxnSpPr>
              <p:spPr>
                <a:xfrm>
                  <a:off x="2382597" y="3597312"/>
                  <a:ext cx="76132" cy="127414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A4EF0FCC-8E13-9C90-3EB9-C496785FC3CC}"/>
                    </a:ext>
                  </a:extLst>
                </p:cNvPr>
                <p:cNvCxnSpPr>
                  <a:stCxn id="363" idx="0"/>
                  <a:endCxn id="365" idx="4"/>
                </p:cNvCxnSpPr>
                <p:nvPr/>
              </p:nvCxnSpPr>
              <p:spPr>
                <a:xfrm flipV="1">
                  <a:off x="2485670" y="3597312"/>
                  <a:ext cx="82494" cy="11644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D3E7B5F1-7874-E718-289B-67422503AC7D}"/>
                    </a:ext>
                  </a:extLst>
                </p:cNvPr>
                <p:cNvCxnSpPr>
                  <a:stCxn id="363" idx="4"/>
                  <a:endCxn id="357" idx="7"/>
                </p:cNvCxnSpPr>
                <p:nvPr/>
              </p:nvCxnSpPr>
              <p:spPr>
                <a:xfrm flipH="1">
                  <a:off x="2385865" y="3788685"/>
                  <a:ext cx="99805" cy="216091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E9ABA07B-E94F-E44B-5CC9-D4C3CE085089}"/>
                    </a:ext>
                  </a:extLst>
                </p:cNvPr>
                <p:cNvCxnSpPr>
                  <a:cxnSpLocks/>
                  <a:stCxn id="357" idx="6"/>
                  <a:endCxn id="373" idx="2"/>
                </p:cNvCxnSpPr>
                <p:nvPr/>
              </p:nvCxnSpPr>
              <p:spPr>
                <a:xfrm flipV="1">
                  <a:off x="2397024" y="4007596"/>
                  <a:ext cx="185567" cy="23673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41F1ECEA-7BAE-5807-6609-A73D3C4B3989}"/>
                    </a:ext>
                  </a:extLst>
                </p:cNvPr>
                <p:cNvCxnSpPr>
                  <a:stCxn id="359" idx="6"/>
                  <a:endCxn id="373" idx="3"/>
                </p:cNvCxnSpPr>
                <p:nvPr/>
              </p:nvCxnSpPr>
              <p:spPr>
                <a:xfrm flipV="1">
                  <a:off x="2406549" y="4034088"/>
                  <a:ext cx="187201" cy="19618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3A08BB85-B6D3-96E9-258A-168B61A40A1C}"/>
                  </a:ext>
                </a:extLst>
              </p:cNvPr>
              <p:cNvSpPr txBox="1"/>
              <p:nvPr/>
            </p:nvSpPr>
            <p:spPr>
              <a:xfrm>
                <a:off x="1443164" y="3523433"/>
                <a:ext cx="38985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+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FDAACCC0-8FD0-6E85-BCD0-9146049FA24E}"/>
                  </a:ext>
                </a:extLst>
              </p:cNvPr>
              <p:cNvSpPr txBox="1"/>
              <p:nvPr/>
            </p:nvSpPr>
            <p:spPr>
              <a:xfrm>
                <a:off x="531678" y="3164201"/>
                <a:ext cx="79861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Criterion 1: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6B6552D0-4F4B-88EC-7B04-5FABCA2615B2}"/>
                  </a:ext>
                </a:extLst>
              </p:cNvPr>
              <p:cNvSpPr txBox="1"/>
              <p:nvPr/>
            </p:nvSpPr>
            <p:spPr>
              <a:xfrm>
                <a:off x="1794534" y="3182779"/>
                <a:ext cx="77136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Criterion 2:</a:t>
                </a:r>
              </a:p>
            </p:txBody>
          </p:sp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id="{8A555AB9-6A31-7871-C38B-855B7B05C571}"/>
                  </a:ext>
                </a:extLst>
              </p:cNvPr>
              <p:cNvSpPr txBox="1"/>
              <p:nvPr/>
            </p:nvSpPr>
            <p:spPr>
              <a:xfrm>
                <a:off x="419660" y="3285902"/>
                <a:ext cx="101341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Feature Similarity</a:t>
                </a:r>
              </a:p>
            </p:txBody>
          </p:sp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AD3D2C20-145B-C058-8CC3-7C3CC82B83C7}"/>
                  </a:ext>
                </a:extLst>
              </p:cNvPr>
              <p:cNvSpPr txBox="1"/>
              <p:nvPr/>
            </p:nvSpPr>
            <p:spPr>
              <a:xfrm>
                <a:off x="1654174" y="3287317"/>
                <a:ext cx="98296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SRM Consistency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2" name="TextBox 441">
                    <a:extLst>
                      <a:ext uri="{FF2B5EF4-FFF2-40B4-BE49-F238E27FC236}">
                        <a16:creationId xmlns:a16="http://schemas.microsoft.com/office/drawing/2014/main" id="{8FE27F6C-EE74-4B24-79C6-6DE3E7291E51}"/>
                      </a:ext>
                    </a:extLst>
                  </p:cNvPr>
                  <p:cNvSpPr txBox="1"/>
                  <p:nvPr/>
                </p:nvSpPr>
                <p:spPr>
                  <a:xfrm>
                    <a:off x="639043" y="3391438"/>
                    <a:ext cx="532518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900" i="1" dirty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900" i="0" dirty="0">
                                  <a:latin typeface="Cambria Math" panose="02040503050406030204" pitchFamily="18" charset="0"/>
                                </a:rPr>
                                <m:t>feat</m:t>
                              </m:r>
                            </m:sub>
                          </m:sSub>
                          <m:r>
                            <a:rPr lang="en-US" sz="9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900" dirty="0"/>
                  </a:p>
                </p:txBody>
              </p:sp>
            </mc:Choice>
            <mc:Fallback xmlns="">
              <p:sp>
                <p:nvSpPr>
                  <p:cNvPr id="442" name="TextBox 441">
                    <a:extLst>
                      <a:ext uri="{FF2B5EF4-FFF2-40B4-BE49-F238E27FC236}">
                        <a16:creationId xmlns:a16="http://schemas.microsoft.com/office/drawing/2014/main" id="{8FE27F6C-EE74-4B24-79C6-6DE3E7291E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043" y="3391438"/>
                    <a:ext cx="532518" cy="2308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4" name="TextBox 443">
                    <a:extLst>
                      <a:ext uri="{FF2B5EF4-FFF2-40B4-BE49-F238E27FC236}">
                        <a16:creationId xmlns:a16="http://schemas.microsoft.com/office/drawing/2014/main" id="{1806CA04-F278-E2D4-517E-E083A5141CA6}"/>
                      </a:ext>
                    </a:extLst>
                  </p:cNvPr>
                  <p:cNvSpPr txBox="1"/>
                  <p:nvPr/>
                </p:nvSpPr>
                <p:spPr>
                  <a:xfrm>
                    <a:off x="1862458" y="3383412"/>
                    <a:ext cx="535724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900" i="1" dirty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900" b="0" i="0" dirty="0" smtClean="0">
                                  <a:latin typeface="Cambria Math" panose="02040503050406030204" pitchFamily="18" charset="0"/>
                                </a:rPr>
                                <m:t>srm</m:t>
                              </m:r>
                            </m:sub>
                          </m:sSub>
                          <m:r>
                            <a:rPr lang="en-US" sz="9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900" dirty="0"/>
                  </a:p>
                </p:txBody>
              </p:sp>
            </mc:Choice>
            <mc:Fallback xmlns="">
              <p:sp>
                <p:nvSpPr>
                  <p:cNvPr id="444" name="TextBox 443">
                    <a:extLst>
                      <a:ext uri="{FF2B5EF4-FFF2-40B4-BE49-F238E27FC236}">
                        <a16:creationId xmlns:a16="http://schemas.microsoft.com/office/drawing/2014/main" id="{1806CA04-F278-E2D4-517E-E083A5141C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2458" y="3383412"/>
                    <a:ext cx="535724" cy="2308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DB35D07-2529-B10E-EECB-354DDFC422D1}"/>
                </a:ext>
              </a:extLst>
            </p:cNvPr>
            <p:cNvGrpSpPr/>
            <p:nvPr/>
          </p:nvGrpSpPr>
          <p:grpSpPr>
            <a:xfrm>
              <a:off x="2548157" y="3177209"/>
              <a:ext cx="1650819" cy="1609410"/>
              <a:chOff x="2857336" y="3159840"/>
              <a:chExt cx="2003209" cy="1462504"/>
            </a:xfrm>
          </p:grpSpPr>
          <p:sp>
            <p:nvSpPr>
              <p:cNvPr id="521" name="Rectangle: Rounded Corners 520">
                <a:extLst>
                  <a:ext uri="{FF2B5EF4-FFF2-40B4-BE49-F238E27FC236}">
                    <a16:creationId xmlns:a16="http://schemas.microsoft.com/office/drawing/2014/main" id="{30E4B1C3-2F40-932D-713C-BAD2E64A6280}"/>
                  </a:ext>
                </a:extLst>
              </p:cNvPr>
              <p:cNvSpPr/>
              <p:nvPr/>
            </p:nvSpPr>
            <p:spPr>
              <a:xfrm>
                <a:off x="2878246" y="3159840"/>
                <a:ext cx="1916118" cy="146250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2" name="TextBox 521">
                <a:extLst>
                  <a:ext uri="{FF2B5EF4-FFF2-40B4-BE49-F238E27FC236}">
                    <a16:creationId xmlns:a16="http://schemas.microsoft.com/office/drawing/2014/main" id="{8D944B4E-27D8-8F17-C19D-A8934FCDDA17}"/>
                  </a:ext>
                </a:extLst>
              </p:cNvPr>
              <p:cNvSpPr txBox="1"/>
              <p:nvPr/>
            </p:nvSpPr>
            <p:spPr>
              <a:xfrm>
                <a:off x="2857336" y="3186511"/>
                <a:ext cx="1990314" cy="241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b="1" dirty="0"/>
                  <a:t>(b) Construct Incidence Matrix</a:t>
                </a:r>
              </a:p>
            </p:txBody>
          </p:sp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43CDE04F-F120-C661-681C-CC4630C86240}"/>
                  </a:ext>
                </a:extLst>
              </p:cNvPr>
              <p:cNvGrpSpPr/>
              <p:nvPr/>
            </p:nvGrpSpPr>
            <p:grpSpPr>
              <a:xfrm>
                <a:off x="2878246" y="3565083"/>
                <a:ext cx="1678472" cy="1003286"/>
                <a:chOff x="2829572" y="3431873"/>
                <a:chExt cx="1678472" cy="1003286"/>
              </a:xfrm>
            </p:grpSpPr>
            <p:pic>
              <p:nvPicPr>
                <p:cNvPr id="524" name="Picture 523">
                  <a:extLst>
                    <a:ext uri="{FF2B5EF4-FFF2-40B4-BE49-F238E27FC236}">
                      <a16:creationId xmlns:a16="http://schemas.microsoft.com/office/drawing/2014/main" id="{4E3F42A4-FA46-6A16-2ADB-FFBDDAE110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38908" y="3625534"/>
                  <a:ext cx="1228725" cy="809625"/>
                </a:xfrm>
                <a:prstGeom prst="rect">
                  <a:avLst/>
                </a:prstGeom>
              </p:spPr>
            </p:pic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BF9539F4-E6AC-05B0-1230-A7CD0AEF95F8}"/>
                    </a:ext>
                  </a:extLst>
                </p:cNvPr>
                <p:cNvSpPr txBox="1"/>
                <p:nvPr/>
              </p:nvSpPr>
              <p:spPr>
                <a:xfrm>
                  <a:off x="3029313" y="3431873"/>
                  <a:ext cx="1478731" cy="2578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e</a:t>
                  </a:r>
                  <a:r>
                    <a:rPr lang="en-US" sz="1000" baseline="-25000" dirty="0"/>
                    <a:t>1</a:t>
                  </a:r>
                  <a:r>
                    <a:rPr lang="en-US" sz="1000" dirty="0"/>
                    <a:t>   e</a:t>
                  </a:r>
                  <a:r>
                    <a:rPr lang="en-US" sz="1000" baseline="-25000" dirty="0"/>
                    <a:t>2</a:t>
                  </a:r>
                  <a:r>
                    <a:rPr lang="en-US" sz="1000" dirty="0"/>
                    <a:t>     ….          e</a:t>
                  </a:r>
                  <a:r>
                    <a:rPr lang="en-US" sz="1000" baseline="-25000" dirty="0"/>
                    <a:t>k    </a:t>
                  </a:r>
                  <a:endParaRPr lang="en-US" sz="1000" dirty="0"/>
                </a:p>
              </p:txBody>
            </p:sp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E4315B57-A614-8032-D52F-98DBBD3FBFDE}"/>
                    </a:ext>
                  </a:extLst>
                </p:cNvPr>
                <p:cNvSpPr txBox="1"/>
                <p:nvPr/>
              </p:nvSpPr>
              <p:spPr>
                <a:xfrm>
                  <a:off x="2829572" y="3559332"/>
                  <a:ext cx="300082" cy="861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V</a:t>
                  </a:r>
                  <a:r>
                    <a:rPr lang="en-US" sz="1000" baseline="-25000" dirty="0"/>
                    <a:t>1</a:t>
                  </a:r>
                </a:p>
                <a:p>
                  <a:r>
                    <a:rPr lang="en-US" sz="1000" dirty="0"/>
                    <a:t>V</a:t>
                  </a:r>
                  <a:r>
                    <a:rPr lang="en-US" sz="1000" baseline="-25000" dirty="0"/>
                    <a:t>2</a:t>
                  </a:r>
                </a:p>
                <a:p>
                  <a:r>
                    <a:rPr lang="en-US" sz="1000" dirty="0"/>
                    <a:t>...</a:t>
                  </a:r>
                </a:p>
                <a:p>
                  <a:endParaRPr lang="en-US" sz="1000" dirty="0"/>
                </a:p>
                <a:p>
                  <a:r>
                    <a:rPr lang="en-US" sz="1000" dirty="0" err="1"/>
                    <a:t>v</a:t>
                  </a:r>
                  <a:r>
                    <a:rPr lang="en-US" sz="1000" baseline="-25000" dirty="0" err="1"/>
                    <a:t>N</a:t>
                  </a:r>
                  <a:endParaRPr lang="en-US" sz="1000" baseline="-250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8" name="TextBox 527">
                    <a:extLst>
                      <a:ext uri="{FF2B5EF4-FFF2-40B4-BE49-F238E27FC236}">
                        <a16:creationId xmlns:a16="http://schemas.microsoft.com/office/drawing/2014/main" id="{B90BC11B-2A76-EB4D-FF3C-1A638FB79D93}"/>
                      </a:ext>
                    </a:extLst>
                  </p:cNvPr>
                  <p:cNvSpPr txBox="1"/>
                  <p:nvPr/>
                </p:nvSpPr>
                <p:spPr>
                  <a:xfrm>
                    <a:off x="3378696" y="3313481"/>
                    <a:ext cx="833113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05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050" i="0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050" i="0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0" dirty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050" i="0" dirty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</m:sSup>
                        </m:oMath>
                      </m:oMathPara>
                    </a14:m>
                    <a:endParaRPr lang="en-US" sz="1050" dirty="0"/>
                  </a:p>
                </p:txBody>
              </p:sp>
            </mc:Choice>
            <mc:Fallback xmlns="">
              <p:sp>
                <p:nvSpPr>
                  <p:cNvPr id="528" name="TextBox 527">
                    <a:extLst>
                      <a:ext uri="{FF2B5EF4-FFF2-40B4-BE49-F238E27FC236}">
                        <a16:creationId xmlns:a16="http://schemas.microsoft.com/office/drawing/2014/main" id="{B90BC11B-2A76-EB4D-FF3C-1A638FB79D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78696" y="3313481"/>
                    <a:ext cx="833113" cy="26161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177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9" name="TextBox 528">
                    <a:extLst>
                      <a:ext uri="{FF2B5EF4-FFF2-40B4-BE49-F238E27FC236}">
                        <a16:creationId xmlns:a16="http://schemas.microsoft.com/office/drawing/2014/main" id="{AAFBA45D-0488-6830-4019-9D621F5ECC7B}"/>
                      </a:ext>
                    </a:extLst>
                  </p:cNvPr>
                  <p:cNvSpPr txBox="1"/>
                  <p:nvPr/>
                </p:nvSpPr>
                <p:spPr>
                  <a:xfrm>
                    <a:off x="3332095" y="3494660"/>
                    <a:ext cx="1528450" cy="18179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7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hyperedges</m:t>
                          </m:r>
                        </m:oMath>
                      </m:oMathPara>
                    </a14:m>
                    <a:endParaRPr lang="en-US" sz="700" dirty="0"/>
                  </a:p>
                </p:txBody>
              </p:sp>
            </mc:Choice>
            <mc:Fallback xmlns="">
              <p:sp>
                <p:nvSpPr>
                  <p:cNvPr id="529" name="TextBox 528">
                    <a:extLst>
                      <a:ext uri="{FF2B5EF4-FFF2-40B4-BE49-F238E27FC236}">
                        <a16:creationId xmlns:a16="http://schemas.microsoft.com/office/drawing/2014/main" id="{AAFBA45D-0488-6830-4019-9D621F5ECC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2095" y="3494660"/>
                    <a:ext cx="1528450" cy="18179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BD77A22-AE60-CD0A-DDFB-3372974AE4C3}"/>
                </a:ext>
              </a:extLst>
            </p:cNvPr>
            <p:cNvGrpSpPr/>
            <p:nvPr/>
          </p:nvGrpSpPr>
          <p:grpSpPr>
            <a:xfrm>
              <a:off x="4251111" y="3127314"/>
              <a:ext cx="2571538" cy="1756765"/>
              <a:chOff x="4251111" y="3072409"/>
              <a:chExt cx="2571538" cy="1756765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54CD4F-E44D-0A77-BCCB-4A6D6A41AE4D}"/>
                  </a:ext>
                </a:extLst>
              </p:cNvPr>
              <p:cNvSpPr txBox="1"/>
              <p:nvPr/>
            </p:nvSpPr>
            <p:spPr>
              <a:xfrm>
                <a:off x="4251111" y="3105465"/>
                <a:ext cx="25715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b="1" dirty="0"/>
                  <a:t>(c) Suspicion Scores &amp; Attention-Weighted HGNN </a:t>
                </a:r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B438E87D-016E-129F-9BC2-285BC972960A}"/>
                  </a:ext>
                </a:extLst>
              </p:cNvPr>
              <p:cNvGrpSpPr/>
              <p:nvPr/>
            </p:nvGrpSpPr>
            <p:grpSpPr>
              <a:xfrm>
                <a:off x="4261734" y="3072409"/>
                <a:ext cx="2491490" cy="1756765"/>
                <a:chOff x="4261734" y="3072410"/>
                <a:chExt cx="2491490" cy="1462504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ABF4CF7F-24FE-3D0F-A28F-1AFDB181D6C1}"/>
                    </a:ext>
                  </a:extLst>
                </p:cNvPr>
                <p:cNvSpPr/>
                <p:nvPr/>
              </p:nvSpPr>
              <p:spPr>
                <a:xfrm>
                  <a:off x="4261734" y="3072410"/>
                  <a:ext cx="2491490" cy="14625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89E4AF4F-884F-27E7-816A-AA89FD6968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39790" y="3246718"/>
                      <a:ext cx="1221681" cy="20005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7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700" b="0" i="1" dirty="0" smtClean="0">
                                    <a:latin typeface="Cambria Math" panose="02040503050406030204" pitchFamily="18" charset="0"/>
                                  </a:rPr>
                                  <m:t>Suspicion</m:t>
                                </m:r>
                                <m:r>
                                  <a:rPr lang="en-US" sz="7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700" b="0" i="1" dirty="0" smtClean="0">
                                    <a:latin typeface="Cambria Math" panose="02040503050406030204" pitchFamily="18" charset="0"/>
                                  </a:rPr>
                                  <m:t>Score</m:t>
                                </m:r>
                                <m:r>
                                  <a:rPr lang="en-US" sz="7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700" i="1" dirty="0" err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700" i="1" dirty="0" err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700" i="0" dirty="0" err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700" i="0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700" i="0" dirty="0" err="1" smtClean="0"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sz="700" i="1" dirty="0" err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700" i="0" dirty="0" err="1" smtClean="0">
                                    <a:latin typeface="Cambria Math" panose="02040503050406030204" pitchFamily="18" charset="0"/>
                                  </a:rPr>
                                  <m:t>×1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700" dirty="0"/>
                    </a:p>
                  </p:txBody>
                </p:sp>
              </mc:Choice>
              <mc:Fallback xmlns="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89E4AF4F-884F-27E7-816A-AA89FD6968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39790" y="3246718"/>
                      <a:ext cx="1221681" cy="200055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3A956E99-1DAC-5403-AF5C-E25A5A9D92E4}"/>
                    </a:ext>
                  </a:extLst>
                </p:cNvPr>
                <p:cNvGrpSpPr/>
                <p:nvPr/>
              </p:nvGrpSpPr>
              <p:grpSpPr>
                <a:xfrm>
                  <a:off x="4529120" y="3455256"/>
                  <a:ext cx="464820" cy="137075"/>
                  <a:chOff x="4594860" y="3581400"/>
                  <a:chExt cx="464820" cy="137075"/>
                </a:xfrm>
              </p:grpSpPr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D38E0A5C-250A-3722-CEC3-3A2AFC87785C}"/>
                      </a:ext>
                    </a:extLst>
                  </p:cNvPr>
                  <p:cNvSpPr/>
                  <p:nvPr/>
                </p:nvSpPr>
                <p:spPr>
                  <a:xfrm>
                    <a:off x="4594860" y="3581400"/>
                    <a:ext cx="190500" cy="13707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0096CA86-0AF1-B682-14F5-7B8C326C5C39}"/>
                      </a:ext>
                    </a:extLst>
                  </p:cNvPr>
                  <p:cNvSpPr/>
                  <p:nvPr/>
                </p:nvSpPr>
                <p:spPr>
                  <a:xfrm>
                    <a:off x="4785360" y="3581400"/>
                    <a:ext cx="274320" cy="137075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1"/>
                        </a:solidFill>
                      </a:rPr>
                      <a:t>S</a:t>
                    </a:r>
                    <a:r>
                      <a:rPr lang="en-US" sz="500" baseline="-25000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F07BEF9A-5E00-0D4B-5444-7413667E23C7}"/>
                    </a:ext>
                  </a:extLst>
                </p:cNvPr>
                <p:cNvGrpSpPr/>
                <p:nvPr/>
              </p:nvGrpSpPr>
              <p:grpSpPr>
                <a:xfrm>
                  <a:off x="5134108" y="3455256"/>
                  <a:ext cx="464820" cy="137075"/>
                  <a:chOff x="4594860" y="3581400"/>
                  <a:chExt cx="464820" cy="137075"/>
                </a:xfrm>
              </p:grpSpPr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7C58110F-F024-93E4-057D-22495EE92742}"/>
                      </a:ext>
                    </a:extLst>
                  </p:cNvPr>
                  <p:cNvSpPr/>
                  <p:nvPr/>
                </p:nvSpPr>
                <p:spPr>
                  <a:xfrm>
                    <a:off x="4594860" y="3581400"/>
                    <a:ext cx="190500" cy="13707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43D586BA-C83D-A419-827B-EE3EDCB6AAD9}"/>
                      </a:ext>
                    </a:extLst>
                  </p:cNvPr>
                  <p:cNvSpPr/>
                  <p:nvPr/>
                </p:nvSpPr>
                <p:spPr>
                  <a:xfrm>
                    <a:off x="4785360" y="3581400"/>
                    <a:ext cx="274320" cy="137075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1"/>
                        </a:solidFill>
                      </a:rPr>
                      <a:t>S</a:t>
                    </a:r>
                    <a:r>
                      <a:rPr lang="en-US" sz="500" baseline="-25000" dirty="0">
                        <a:solidFill>
                          <a:schemeClr val="tx1"/>
                        </a:solidFill>
                      </a:rPr>
                      <a:t>2</a:t>
                    </a:r>
                    <a:endParaRPr lang="en-US" sz="1200" baseline="-25000" dirty="0"/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AF31FCEE-7730-3D16-6EB7-A2CC2596D528}"/>
                    </a:ext>
                  </a:extLst>
                </p:cNvPr>
                <p:cNvGrpSpPr/>
                <p:nvPr/>
              </p:nvGrpSpPr>
              <p:grpSpPr>
                <a:xfrm>
                  <a:off x="5838958" y="3455256"/>
                  <a:ext cx="464820" cy="137075"/>
                  <a:chOff x="4594860" y="3581400"/>
                  <a:chExt cx="464820" cy="137075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10A38AC8-474E-AD82-31D7-DBC4A328C965}"/>
                      </a:ext>
                    </a:extLst>
                  </p:cNvPr>
                  <p:cNvSpPr/>
                  <p:nvPr/>
                </p:nvSpPr>
                <p:spPr>
                  <a:xfrm>
                    <a:off x="4594860" y="3581400"/>
                    <a:ext cx="190500" cy="13707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A777671F-BC0D-8B67-504E-5B20713078FB}"/>
                      </a:ext>
                    </a:extLst>
                  </p:cNvPr>
                  <p:cNvSpPr/>
                  <p:nvPr/>
                </p:nvSpPr>
                <p:spPr>
                  <a:xfrm>
                    <a:off x="4785360" y="3581400"/>
                    <a:ext cx="274320" cy="137075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1"/>
                        </a:solidFill>
                      </a:rPr>
                      <a:t>S</a:t>
                    </a:r>
                    <a:r>
                      <a:rPr lang="en-US" sz="500" baseline="-25000" dirty="0">
                        <a:solidFill>
                          <a:schemeClr val="tx1"/>
                        </a:solidFill>
                      </a:rPr>
                      <a:t>n</a:t>
                    </a:r>
                  </a:p>
                </p:txBody>
              </p:sp>
            </p:grp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DD12690-0F68-F0B8-50B7-C9F8A9712492}"/>
                    </a:ext>
                  </a:extLst>
                </p:cNvPr>
                <p:cNvSpPr txBox="1"/>
                <p:nvPr/>
              </p:nvSpPr>
              <p:spPr>
                <a:xfrm>
                  <a:off x="5559201" y="3272184"/>
                  <a:ext cx="343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C7F6848-9F6D-6379-DA6F-0C6E572E95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9716" y="3589757"/>
                      <a:ext cx="2001830" cy="21390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700" dirty="0"/>
                        <a:t>Attention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7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7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700" i="0" dirty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700" i="0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700" i="0" dirty="0">
                                  <a:latin typeface="Cambria Math" panose="02040503050406030204" pitchFamily="18" charset="0"/>
                                </a:rPr>
                                <m:t>softmax</m:t>
                              </m:r>
                            </m:fName>
                            <m:e>
                              <m:r>
                                <a:rPr lang="en-US" sz="700" i="0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  <m:d>
                            <m:dPr>
                              <m:ctrlPr>
                                <a:rPr lang="en-US" sz="7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700" b="1" i="0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700" b="1" i="0" dirty="0">
                                      <a:latin typeface="Cambria Math" panose="02040503050406030204" pitchFamily="18" charset="0"/>
                                    </a:rPr>
                                    <m:t>𝐯</m:t>
                                  </m:r>
                                </m:e>
                                <m:sup>
                                  <m:r>
                                    <a:rPr lang="en-US" sz="700" b="0" i="0" dirty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700" b="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700" b="0" i="0" dirty="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fName>
                                <m:e>
                                  <m:r>
                                    <a:rPr lang="en-US" sz="700" b="0" i="0" dirty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func>
                              <m:d>
                                <m:dPr>
                                  <m:ctrlPr>
                                    <a:rPr lang="en-US" sz="700" b="1" i="0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700" b="1" i="0" dirty="0">
                                      <a:latin typeface="Cambria Math" panose="02040503050406030204" pitchFamily="18" charset="0"/>
                                    </a:rPr>
                                    <m:t>𝐖</m:t>
                                  </m:r>
                                  <m:sSub>
                                    <m:sSubPr>
                                      <m:ctrlPr>
                                        <a:rPr lang="en-US" sz="7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b="0" i="1" dirty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700" b="0" i="0" dirty="0">
                                          <a:latin typeface="Cambria Math" panose="02040503050406030204" pitchFamily="18" charset="0"/>
                                        </a:rPr>
                                        <m:t>norm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7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700" b="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oMath>
                      </a14:m>
                      <a:endParaRPr lang="en-US" sz="7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C7F6848-9F6D-6379-DA6F-0C6E572E95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9716" y="3589757"/>
                      <a:ext cx="2001830" cy="213905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3C052FF0-6633-BDD8-25FF-0AC63B74615C}"/>
                    </a:ext>
                  </a:extLst>
                </p:cNvPr>
                <p:cNvGrpSpPr/>
                <p:nvPr/>
              </p:nvGrpSpPr>
              <p:grpSpPr>
                <a:xfrm>
                  <a:off x="4519595" y="3792285"/>
                  <a:ext cx="464820" cy="137075"/>
                  <a:chOff x="4594860" y="3581400"/>
                  <a:chExt cx="464820" cy="137075"/>
                </a:xfrm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D384EE14-018B-3985-189F-6B5E41172BA3}"/>
                      </a:ext>
                    </a:extLst>
                  </p:cNvPr>
                  <p:cNvSpPr/>
                  <p:nvPr/>
                </p:nvSpPr>
                <p:spPr>
                  <a:xfrm>
                    <a:off x="4594860" y="3581400"/>
                    <a:ext cx="190500" cy="13707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Rectangle 42">
                        <a:extLst>
                          <a:ext uri="{FF2B5EF4-FFF2-40B4-BE49-F238E27FC236}">
                            <a16:creationId xmlns:a16="http://schemas.microsoft.com/office/drawing/2014/main" id="{C0154911-2873-E4BE-2741-C65B1E4C9C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85360" y="3581400"/>
                        <a:ext cx="274320" cy="13707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  <a:alpha val="50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US" sz="6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oMath>
                        </a14:m>
                        <a:r>
                          <a:rPr lang="en-US" sz="500" baseline="-25000" dirty="0">
                            <a:solidFill>
                              <a:schemeClr val="tx1"/>
                            </a:solidFill>
                          </a:rPr>
                          <a:t>1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43" name="Rectangle 42">
                        <a:extLst>
                          <a:ext uri="{FF2B5EF4-FFF2-40B4-BE49-F238E27FC236}">
                            <a16:creationId xmlns:a16="http://schemas.microsoft.com/office/drawing/2014/main" id="{C0154911-2873-E4BE-2741-C65B1E4C9CB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785360" y="3581400"/>
                        <a:ext cx="274320" cy="137075"/>
                      </a:xfrm>
                      <a:prstGeom prst="rect">
                        <a:avLst/>
                      </a:prstGeom>
                      <a:blipFill>
                        <a:blip r:embed="rId2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7A9FEB64-0524-A85B-9E92-6B43ADF68C8C}"/>
                    </a:ext>
                  </a:extLst>
                </p:cNvPr>
                <p:cNvGrpSpPr/>
                <p:nvPr/>
              </p:nvGrpSpPr>
              <p:grpSpPr>
                <a:xfrm>
                  <a:off x="5124583" y="3792285"/>
                  <a:ext cx="464820" cy="137075"/>
                  <a:chOff x="4594860" y="3581400"/>
                  <a:chExt cx="464820" cy="137075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91CA3B01-7B52-1724-0B10-959F59EB06E3}"/>
                      </a:ext>
                    </a:extLst>
                  </p:cNvPr>
                  <p:cNvSpPr/>
                  <p:nvPr/>
                </p:nvSpPr>
                <p:spPr>
                  <a:xfrm>
                    <a:off x="4594860" y="3581400"/>
                    <a:ext cx="190500" cy="13707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" name="Rectangle 46">
                        <a:extLst>
                          <a:ext uri="{FF2B5EF4-FFF2-40B4-BE49-F238E27FC236}">
                            <a16:creationId xmlns:a16="http://schemas.microsoft.com/office/drawing/2014/main" id="{32378463-3F1D-3FE7-D5B0-957CAB5DBD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85360" y="3581400"/>
                        <a:ext cx="274320" cy="13707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  <a:alpha val="50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US" sz="6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oMath>
                        </a14:m>
                        <a:r>
                          <a:rPr lang="en-US" sz="500" baseline="-25000" dirty="0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en-US" sz="1200" baseline="-25000" dirty="0"/>
                      </a:p>
                    </p:txBody>
                  </p:sp>
                </mc:Choice>
                <mc:Fallback xmlns="">
                  <p:sp>
                    <p:nvSpPr>
                      <p:cNvPr id="47" name="Rectangle 46">
                        <a:extLst>
                          <a:ext uri="{FF2B5EF4-FFF2-40B4-BE49-F238E27FC236}">
                            <a16:creationId xmlns:a16="http://schemas.microsoft.com/office/drawing/2014/main" id="{32378463-3F1D-3FE7-D5B0-957CAB5DBDF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785360" y="3581400"/>
                        <a:ext cx="274320" cy="137075"/>
                      </a:xfrm>
                      <a:prstGeom prst="rect">
                        <a:avLst/>
                      </a:prstGeom>
                      <a:blipFill>
                        <a:blip r:embed="rId2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B618D348-D946-569F-51A9-54A6E68F82C6}"/>
                    </a:ext>
                  </a:extLst>
                </p:cNvPr>
                <p:cNvGrpSpPr/>
                <p:nvPr/>
              </p:nvGrpSpPr>
              <p:grpSpPr>
                <a:xfrm>
                  <a:off x="5829433" y="3792285"/>
                  <a:ext cx="464820" cy="137075"/>
                  <a:chOff x="4594860" y="3581400"/>
                  <a:chExt cx="464820" cy="137075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1E992CDF-A778-11F9-0A3A-3525868FEB8A}"/>
                      </a:ext>
                    </a:extLst>
                  </p:cNvPr>
                  <p:cNvSpPr/>
                  <p:nvPr/>
                </p:nvSpPr>
                <p:spPr>
                  <a:xfrm>
                    <a:off x="4594860" y="3581400"/>
                    <a:ext cx="190500" cy="13707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6" name="Rectangle 55">
                        <a:extLst>
                          <a:ext uri="{FF2B5EF4-FFF2-40B4-BE49-F238E27FC236}">
                            <a16:creationId xmlns:a16="http://schemas.microsoft.com/office/drawing/2014/main" id="{A1A554CB-DB41-62B7-6FA0-DC441BAB81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85360" y="3581400"/>
                        <a:ext cx="274320" cy="13707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  <a:alpha val="50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US" sz="6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oMath>
                        </a14:m>
                        <a:r>
                          <a:rPr lang="en-US" sz="500" baseline="-25000" dirty="0">
                            <a:solidFill>
                              <a:schemeClr val="tx1"/>
                            </a:solidFill>
                          </a:rPr>
                          <a:t>n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56" name="Rectangle 55">
                        <a:extLst>
                          <a:ext uri="{FF2B5EF4-FFF2-40B4-BE49-F238E27FC236}">
                            <a16:creationId xmlns:a16="http://schemas.microsoft.com/office/drawing/2014/main" id="{A1A554CB-DB41-62B7-6FA0-DC441BAB810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785360" y="3581400"/>
                        <a:ext cx="274320" cy="137075"/>
                      </a:xfrm>
                      <a:prstGeom prst="rect">
                        <a:avLst/>
                      </a:prstGeom>
                      <a:blipFill>
                        <a:blip r:embed="rId2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18455DC-F5C5-7466-89E0-F871E2392AB3}"/>
                    </a:ext>
                  </a:extLst>
                </p:cNvPr>
                <p:cNvSpPr txBox="1"/>
                <p:nvPr/>
              </p:nvSpPr>
              <p:spPr>
                <a:xfrm>
                  <a:off x="5549676" y="3609213"/>
                  <a:ext cx="343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59" name="Right Brace 58">
                  <a:extLst>
                    <a:ext uri="{FF2B5EF4-FFF2-40B4-BE49-F238E27FC236}">
                      <a16:creationId xmlns:a16="http://schemas.microsoft.com/office/drawing/2014/main" id="{18049CE4-BCAA-08AB-9424-A2FAFE558372}"/>
                    </a:ext>
                  </a:extLst>
                </p:cNvPr>
                <p:cNvSpPr/>
                <p:nvPr/>
              </p:nvSpPr>
              <p:spPr>
                <a:xfrm rot="5400000">
                  <a:off x="5345241" y="3118791"/>
                  <a:ext cx="125156" cy="1814511"/>
                </a:xfrm>
                <a:prstGeom prst="rightBrace">
                  <a:avLst>
                    <a:gd name="adj1" fmla="val 0"/>
                    <a:gd name="adj2" fmla="val 50000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665846D2-0499-F3C2-8EC3-51CC2F57E5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07819" y="4043400"/>
                  <a:ext cx="0" cy="9285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E8D6988B-8289-64FC-0B11-CF742EA17C67}"/>
                    </a:ext>
                  </a:extLst>
                </p:cNvPr>
                <p:cNvSpPr txBox="1"/>
                <p:nvPr/>
              </p:nvSpPr>
              <p:spPr>
                <a:xfrm>
                  <a:off x="4980618" y="4080061"/>
                  <a:ext cx="875561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dirty="0"/>
                    <a:t>HGNN Aggregation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3" name="TextBox 512">
                      <a:extLst>
                        <a:ext uri="{FF2B5EF4-FFF2-40B4-BE49-F238E27FC236}">
                          <a16:creationId xmlns:a16="http://schemas.microsoft.com/office/drawing/2014/main" id="{DB5CACD0-1485-C638-1294-7D45B4F972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48226" y="4178253"/>
                      <a:ext cx="1404807" cy="28950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1200" i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>
                                        <a:latin typeface="Cambria Math" panose="02040503050406030204" pitchFamily="18" charset="0"/>
                                      </a:rPr>
                                      <m:t>hyper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1200" i="0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0" dirty="0"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200" i="0" dirty="0">
                                    <a:latin typeface="Cambria Math" panose="02040503050406030204" pitchFamily="18" charset="0"/>
                                  </a:rPr>
                                  <m:t>×256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513" name="TextBox 512">
                      <a:extLst>
                        <a:ext uri="{FF2B5EF4-FFF2-40B4-BE49-F238E27FC236}">
                          <a16:creationId xmlns:a16="http://schemas.microsoft.com/office/drawing/2014/main" id="{DB5CACD0-1485-C638-1294-7D45B4F972D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48226" y="4178253"/>
                      <a:ext cx="1404807" cy="289503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792C2434-6AAF-7859-53FD-E400B4282D4E}"/>
                </a:ext>
              </a:extLst>
            </p:cNvPr>
            <p:cNvGrpSpPr/>
            <p:nvPr/>
          </p:nvGrpSpPr>
          <p:grpSpPr>
            <a:xfrm>
              <a:off x="6866144" y="3051545"/>
              <a:ext cx="2286000" cy="2346191"/>
              <a:chOff x="6864338" y="2987809"/>
              <a:chExt cx="2286000" cy="2346191"/>
            </a:xfrm>
          </p:grpSpPr>
          <p:sp>
            <p:nvSpPr>
              <p:cNvPr id="514" name="Rectangle: Rounded Corners 513">
                <a:extLst>
                  <a:ext uri="{FF2B5EF4-FFF2-40B4-BE49-F238E27FC236}">
                    <a16:creationId xmlns:a16="http://schemas.microsoft.com/office/drawing/2014/main" id="{94193E60-8368-9DDE-273A-1FD85047CE02}"/>
                  </a:ext>
                </a:extLst>
              </p:cNvPr>
              <p:cNvSpPr/>
              <p:nvPr/>
            </p:nvSpPr>
            <p:spPr>
              <a:xfrm>
                <a:off x="6864338" y="2987809"/>
                <a:ext cx="2286000" cy="234619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" name="Rectangle: Rounded Corners 514">
                <a:extLst>
                  <a:ext uri="{FF2B5EF4-FFF2-40B4-BE49-F238E27FC236}">
                    <a16:creationId xmlns:a16="http://schemas.microsoft.com/office/drawing/2014/main" id="{3B483F55-DB3C-0723-AE6F-C0FE736BC465}"/>
                  </a:ext>
                </a:extLst>
              </p:cNvPr>
              <p:cNvSpPr/>
              <p:nvPr/>
            </p:nvSpPr>
            <p:spPr>
              <a:xfrm>
                <a:off x="6982955" y="3105465"/>
                <a:ext cx="2020104" cy="62907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7" name="Rectangle: Rounded Corners 516">
                <a:extLst>
                  <a:ext uri="{FF2B5EF4-FFF2-40B4-BE49-F238E27FC236}">
                    <a16:creationId xmlns:a16="http://schemas.microsoft.com/office/drawing/2014/main" id="{836E4A25-FA24-8182-9A63-3741DFB0C175}"/>
                  </a:ext>
                </a:extLst>
              </p:cNvPr>
              <p:cNvSpPr/>
              <p:nvPr/>
            </p:nvSpPr>
            <p:spPr>
              <a:xfrm>
                <a:off x="6982955" y="3777859"/>
                <a:ext cx="2020104" cy="454633"/>
              </a:xfrm>
              <a:prstGeom prst="round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9" name="Rectangle: Rounded Corners 518">
                <a:extLst>
                  <a:ext uri="{FF2B5EF4-FFF2-40B4-BE49-F238E27FC236}">
                    <a16:creationId xmlns:a16="http://schemas.microsoft.com/office/drawing/2014/main" id="{0B4BE062-356B-39AF-CFDE-3E7B449CCAE1}"/>
                  </a:ext>
                </a:extLst>
              </p:cNvPr>
              <p:cNvSpPr/>
              <p:nvPr/>
            </p:nvSpPr>
            <p:spPr>
              <a:xfrm>
                <a:off x="6982954" y="4276042"/>
                <a:ext cx="2020103" cy="55730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0" name="TextBox 529">
                <a:extLst>
                  <a:ext uri="{FF2B5EF4-FFF2-40B4-BE49-F238E27FC236}">
                    <a16:creationId xmlns:a16="http://schemas.microsoft.com/office/drawing/2014/main" id="{C1F8CF14-EB7C-78C3-49AE-0CBD07239D80}"/>
                  </a:ext>
                </a:extLst>
              </p:cNvPr>
              <p:cNvSpPr txBox="1"/>
              <p:nvPr/>
            </p:nvSpPr>
            <p:spPr>
              <a:xfrm>
                <a:off x="6982955" y="3079728"/>
                <a:ext cx="202010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b="1" dirty="0"/>
                  <a:t>(a) Build </a:t>
                </a:r>
                <a:r>
                  <a:rPr lang="en-US" sz="900" b="1" dirty="0" err="1"/>
                  <a:t>kNN</a:t>
                </a:r>
                <a:r>
                  <a:rPr lang="en-US" sz="900" b="1" dirty="0"/>
                  <a:t> Graph (cosine similarity)</a:t>
                </a:r>
              </a:p>
            </p:txBody>
          </p:sp>
          <p:grpSp>
            <p:nvGrpSpPr>
              <p:cNvPr id="563" name="Group 562">
                <a:extLst>
                  <a:ext uri="{FF2B5EF4-FFF2-40B4-BE49-F238E27FC236}">
                    <a16:creationId xmlns:a16="http://schemas.microsoft.com/office/drawing/2014/main" id="{934CCFCA-E3C6-D6D3-35EE-513F201D5F63}"/>
                  </a:ext>
                </a:extLst>
              </p:cNvPr>
              <p:cNvGrpSpPr/>
              <p:nvPr/>
            </p:nvGrpSpPr>
            <p:grpSpPr>
              <a:xfrm>
                <a:off x="7328029" y="3290982"/>
                <a:ext cx="1017641" cy="398241"/>
                <a:chOff x="7328029" y="3336297"/>
                <a:chExt cx="1017641" cy="398241"/>
              </a:xfrm>
            </p:grpSpPr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63D825D2-7940-BAA0-17E1-010377621F3E}"/>
                    </a:ext>
                  </a:extLst>
                </p:cNvPr>
                <p:cNvSpPr/>
                <p:nvPr/>
              </p:nvSpPr>
              <p:spPr>
                <a:xfrm>
                  <a:off x="7554932" y="3336297"/>
                  <a:ext cx="66999" cy="80529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964EB69A-AE6F-0C23-108B-BC934BD5BEA1}"/>
                    </a:ext>
                  </a:extLst>
                </p:cNvPr>
                <p:cNvSpPr/>
                <p:nvPr/>
              </p:nvSpPr>
              <p:spPr>
                <a:xfrm>
                  <a:off x="7328029" y="3475031"/>
                  <a:ext cx="66999" cy="80529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6" name="Oval 535">
                  <a:extLst>
                    <a:ext uri="{FF2B5EF4-FFF2-40B4-BE49-F238E27FC236}">
                      <a16:creationId xmlns:a16="http://schemas.microsoft.com/office/drawing/2014/main" id="{EE59288E-F82E-1BA4-8F76-E65CD8000554}"/>
                    </a:ext>
                  </a:extLst>
                </p:cNvPr>
                <p:cNvSpPr/>
                <p:nvPr/>
              </p:nvSpPr>
              <p:spPr>
                <a:xfrm>
                  <a:off x="7807101" y="3416826"/>
                  <a:ext cx="66999" cy="80529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8" name="Oval 537">
                  <a:extLst>
                    <a:ext uri="{FF2B5EF4-FFF2-40B4-BE49-F238E27FC236}">
                      <a16:creationId xmlns:a16="http://schemas.microsoft.com/office/drawing/2014/main" id="{79CDDD80-6BFE-C6C3-3A7A-2E4929B71207}"/>
                    </a:ext>
                  </a:extLst>
                </p:cNvPr>
                <p:cNvSpPr/>
                <p:nvPr/>
              </p:nvSpPr>
              <p:spPr>
                <a:xfrm>
                  <a:off x="7601817" y="3654009"/>
                  <a:ext cx="66999" cy="80529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0" name="Oval 539">
                  <a:extLst>
                    <a:ext uri="{FF2B5EF4-FFF2-40B4-BE49-F238E27FC236}">
                      <a16:creationId xmlns:a16="http://schemas.microsoft.com/office/drawing/2014/main" id="{D9D8C649-E6E7-9FE4-8FFA-0E0FBB6EA8B7}"/>
                    </a:ext>
                  </a:extLst>
                </p:cNvPr>
                <p:cNvSpPr/>
                <p:nvPr/>
              </p:nvSpPr>
              <p:spPr>
                <a:xfrm>
                  <a:off x="7924309" y="3634411"/>
                  <a:ext cx="66999" cy="80529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2" name="Oval 541">
                  <a:extLst>
                    <a:ext uri="{FF2B5EF4-FFF2-40B4-BE49-F238E27FC236}">
                      <a16:creationId xmlns:a16="http://schemas.microsoft.com/office/drawing/2014/main" id="{947FA494-36FB-A8F5-FE64-08690B53E3BF}"/>
                    </a:ext>
                  </a:extLst>
                </p:cNvPr>
                <p:cNvSpPr/>
                <p:nvPr/>
              </p:nvSpPr>
              <p:spPr>
                <a:xfrm>
                  <a:off x="8126271" y="3399019"/>
                  <a:ext cx="66999" cy="80529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4" name="Oval 543">
                  <a:extLst>
                    <a:ext uri="{FF2B5EF4-FFF2-40B4-BE49-F238E27FC236}">
                      <a16:creationId xmlns:a16="http://schemas.microsoft.com/office/drawing/2014/main" id="{7591EE8A-FF8C-DA4A-E0DF-DD5E67681677}"/>
                    </a:ext>
                  </a:extLst>
                </p:cNvPr>
                <p:cNvSpPr/>
                <p:nvPr/>
              </p:nvSpPr>
              <p:spPr>
                <a:xfrm>
                  <a:off x="8278671" y="3551419"/>
                  <a:ext cx="66999" cy="80529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46" name="Straight Connector 545">
                  <a:extLst>
                    <a:ext uri="{FF2B5EF4-FFF2-40B4-BE49-F238E27FC236}">
                      <a16:creationId xmlns:a16="http://schemas.microsoft.com/office/drawing/2014/main" id="{C05F27C5-7706-FBD7-F1D5-41957B448533}"/>
                    </a:ext>
                  </a:extLst>
                </p:cNvPr>
                <p:cNvCxnSpPr>
                  <a:cxnSpLocks/>
                  <a:stCxn id="534" idx="6"/>
                  <a:endCxn id="532" idx="3"/>
                </p:cNvCxnSpPr>
                <p:nvPr/>
              </p:nvCxnSpPr>
              <p:spPr>
                <a:xfrm flipV="1">
                  <a:off x="7395028" y="3405033"/>
                  <a:ext cx="169716" cy="11026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Straight Connector 548">
                  <a:extLst>
                    <a:ext uri="{FF2B5EF4-FFF2-40B4-BE49-F238E27FC236}">
                      <a16:creationId xmlns:a16="http://schemas.microsoft.com/office/drawing/2014/main" id="{F062037C-538A-D5FD-C371-0FA561A294D4}"/>
                    </a:ext>
                  </a:extLst>
                </p:cNvPr>
                <p:cNvCxnSpPr>
                  <a:cxnSpLocks/>
                  <a:stCxn id="532" idx="4"/>
                  <a:endCxn id="538" idx="1"/>
                </p:cNvCxnSpPr>
                <p:nvPr/>
              </p:nvCxnSpPr>
              <p:spPr>
                <a:xfrm>
                  <a:off x="7588432" y="3416826"/>
                  <a:ext cx="23197" cy="2489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Straight Connector 552">
                  <a:extLst>
                    <a:ext uri="{FF2B5EF4-FFF2-40B4-BE49-F238E27FC236}">
                      <a16:creationId xmlns:a16="http://schemas.microsoft.com/office/drawing/2014/main" id="{BF3FB892-8E1E-5705-9DBF-DE4F83F42513}"/>
                    </a:ext>
                  </a:extLst>
                </p:cNvPr>
                <p:cNvCxnSpPr>
                  <a:stCxn id="538" idx="1"/>
                  <a:endCxn id="536" idx="3"/>
                </p:cNvCxnSpPr>
                <p:nvPr/>
              </p:nvCxnSpPr>
              <p:spPr>
                <a:xfrm flipV="1">
                  <a:off x="7611629" y="3485562"/>
                  <a:ext cx="205284" cy="18024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Straight Connector 554">
                  <a:extLst>
                    <a:ext uri="{FF2B5EF4-FFF2-40B4-BE49-F238E27FC236}">
                      <a16:creationId xmlns:a16="http://schemas.microsoft.com/office/drawing/2014/main" id="{63291A10-DB51-3230-1BD1-994487C347C3}"/>
                    </a:ext>
                  </a:extLst>
                </p:cNvPr>
                <p:cNvCxnSpPr>
                  <a:stCxn id="538" idx="7"/>
                  <a:endCxn id="542" idx="3"/>
                </p:cNvCxnSpPr>
                <p:nvPr/>
              </p:nvCxnSpPr>
              <p:spPr>
                <a:xfrm flipV="1">
                  <a:off x="7659004" y="3439284"/>
                  <a:ext cx="467267" cy="22651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" name="Straight Connector 556">
                  <a:extLst>
                    <a:ext uri="{FF2B5EF4-FFF2-40B4-BE49-F238E27FC236}">
                      <a16:creationId xmlns:a16="http://schemas.microsoft.com/office/drawing/2014/main" id="{DE3627B5-F4A1-C0D0-29B7-93A4080D316E}"/>
                    </a:ext>
                  </a:extLst>
                </p:cNvPr>
                <p:cNvCxnSpPr>
                  <a:stCxn id="540" idx="7"/>
                  <a:endCxn id="542" idx="3"/>
                </p:cNvCxnSpPr>
                <p:nvPr/>
              </p:nvCxnSpPr>
              <p:spPr>
                <a:xfrm flipV="1">
                  <a:off x="7981496" y="3467755"/>
                  <a:ext cx="154587" cy="17844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9" name="Straight Connector 558">
                  <a:extLst>
                    <a:ext uri="{FF2B5EF4-FFF2-40B4-BE49-F238E27FC236}">
                      <a16:creationId xmlns:a16="http://schemas.microsoft.com/office/drawing/2014/main" id="{5D10A673-0056-185E-6EDF-EA64296CB8DA}"/>
                    </a:ext>
                  </a:extLst>
                </p:cNvPr>
                <p:cNvCxnSpPr>
                  <a:cxnSpLocks/>
                  <a:stCxn id="540" idx="6"/>
                  <a:endCxn id="544" idx="5"/>
                </p:cNvCxnSpPr>
                <p:nvPr/>
              </p:nvCxnSpPr>
              <p:spPr>
                <a:xfrm flipV="1">
                  <a:off x="7991308" y="3620155"/>
                  <a:ext cx="344550" cy="5452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Straight Connector 561">
                  <a:extLst>
                    <a:ext uri="{FF2B5EF4-FFF2-40B4-BE49-F238E27FC236}">
                      <a16:creationId xmlns:a16="http://schemas.microsoft.com/office/drawing/2014/main" id="{BA368140-A64B-61CC-2F32-E6825AB91771}"/>
                    </a:ext>
                  </a:extLst>
                </p:cNvPr>
                <p:cNvCxnSpPr>
                  <a:stCxn id="534" idx="5"/>
                  <a:endCxn id="538" idx="2"/>
                </p:cNvCxnSpPr>
                <p:nvPr/>
              </p:nvCxnSpPr>
              <p:spPr>
                <a:xfrm>
                  <a:off x="7385216" y="3543767"/>
                  <a:ext cx="226413" cy="12203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3121EEA7-20E6-23DC-1F81-3227FF1D9E95}"/>
                  </a:ext>
                </a:extLst>
              </p:cNvPr>
              <p:cNvSpPr txBox="1"/>
              <p:nvPr/>
            </p:nvSpPr>
            <p:spPr>
              <a:xfrm>
                <a:off x="7076727" y="3744987"/>
                <a:ext cx="18101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(b) Dominant Displacement d*</a:t>
                </a:r>
              </a:p>
              <a:p>
                <a:pPr algn="ctr"/>
                <a:endParaRPr lang="en-US" sz="1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5" name="TextBox 564">
                    <a:extLst>
                      <a:ext uri="{FF2B5EF4-FFF2-40B4-BE49-F238E27FC236}">
                        <a16:creationId xmlns:a16="http://schemas.microsoft.com/office/drawing/2014/main" id="{02157C11-6EA1-3C8A-B7F2-9B596680C1AC}"/>
                      </a:ext>
                    </a:extLst>
                  </p:cNvPr>
                  <p:cNvSpPr txBox="1"/>
                  <p:nvPr/>
                </p:nvSpPr>
                <p:spPr>
                  <a:xfrm>
                    <a:off x="7205372" y="4429474"/>
                    <a:ext cx="1393074" cy="3735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800" i="1" dirty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800" i="0" dirty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800" i="0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800" i="0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en-US" sz="800" i="0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  <m:d>
                            <m:dPr>
                              <m:ctrlPr>
                                <a:rPr lang="en-US" sz="800" i="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i="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800" i="1" dirty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00" i="1" dirty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800" i="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8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800" i="1" dirty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800" i="0" dirty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00" i="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80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800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800" i="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oMath>
                      </m:oMathPara>
                    </a14:m>
                    <a:endParaRPr lang="en-US" sz="800" dirty="0"/>
                  </a:p>
                </p:txBody>
              </p:sp>
            </mc:Choice>
            <mc:Fallback xmlns="">
              <p:sp>
                <p:nvSpPr>
                  <p:cNvPr id="565" name="TextBox 564">
                    <a:extLst>
                      <a:ext uri="{FF2B5EF4-FFF2-40B4-BE49-F238E27FC236}">
                        <a16:creationId xmlns:a16="http://schemas.microsoft.com/office/drawing/2014/main" id="{02157C11-6EA1-3C8A-B7F2-9B596680C1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05372" y="4429474"/>
                    <a:ext cx="1393074" cy="37356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66" name="TextBox 565">
                <a:extLst>
                  <a:ext uri="{FF2B5EF4-FFF2-40B4-BE49-F238E27FC236}">
                    <a16:creationId xmlns:a16="http://schemas.microsoft.com/office/drawing/2014/main" id="{8BBFE894-EE1E-BE40-527B-20866D9FAF89}"/>
                  </a:ext>
                </a:extLst>
              </p:cNvPr>
              <p:cNvSpPr txBox="1"/>
              <p:nvPr/>
            </p:nvSpPr>
            <p:spPr>
              <a:xfrm>
                <a:off x="7133710" y="4277335"/>
                <a:ext cx="171874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(c) Gaussian Edge Weighting </a:t>
                </a:r>
              </a:p>
            </p:txBody>
          </p:sp>
          <p:sp>
            <p:nvSpPr>
              <p:cNvPr id="568" name="TextBox 567">
                <a:extLst>
                  <a:ext uri="{FF2B5EF4-FFF2-40B4-BE49-F238E27FC236}">
                    <a16:creationId xmlns:a16="http://schemas.microsoft.com/office/drawing/2014/main" id="{7FCC93E2-7D64-586F-77BC-DD52F6B2B5AB}"/>
                  </a:ext>
                </a:extLst>
              </p:cNvPr>
              <p:cNvSpPr txBox="1"/>
              <p:nvPr/>
            </p:nvSpPr>
            <p:spPr>
              <a:xfrm>
                <a:off x="7362633" y="4801310"/>
                <a:ext cx="122661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(d) Gin Propagation</a:t>
                </a:r>
              </a:p>
            </p:txBody>
          </p:sp>
          <p:sp>
            <p:nvSpPr>
              <p:cNvPr id="569" name="Rectangle: Rounded Corners 568">
                <a:extLst>
                  <a:ext uri="{FF2B5EF4-FFF2-40B4-BE49-F238E27FC236}">
                    <a16:creationId xmlns:a16="http://schemas.microsoft.com/office/drawing/2014/main" id="{C5537DC9-1F9D-0656-EB2C-44BB31DA0B6E}"/>
                  </a:ext>
                </a:extLst>
              </p:cNvPr>
              <p:cNvSpPr/>
              <p:nvPr/>
            </p:nvSpPr>
            <p:spPr>
              <a:xfrm>
                <a:off x="6982954" y="4857835"/>
                <a:ext cx="2020103" cy="35925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1" name="TextBox 570">
                    <a:extLst>
                      <a:ext uri="{FF2B5EF4-FFF2-40B4-BE49-F238E27FC236}">
                        <a16:creationId xmlns:a16="http://schemas.microsoft.com/office/drawing/2014/main" id="{80F6477C-9A21-8566-E6BE-76B86F226B3C}"/>
                      </a:ext>
                    </a:extLst>
                  </p:cNvPr>
                  <p:cNvSpPr txBox="1"/>
                  <p:nvPr/>
                </p:nvSpPr>
                <p:spPr>
                  <a:xfrm>
                    <a:off x="7362633" y="4984525"/>
                    <a:ext cx="1287788" cy="28950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2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dirty="0" smtClean="0">
                                      <a:latin typeface="Cambria Math" panose="02040503050406030204" pitchFamily="18" charset="0"/>
                                    </a:rPr>
                                    <m:t>GIN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200" i="0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200" i="0" dirty="0">
                                  <a:latin typeface="Cambria Math" panose="02040503050406030204" pitchFamily="18" charset="0"/>
                                </a:rPr>
                                <m:t>×256</m:t>
                              </m:r>
                            </m:sup>
                          </m:sSup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571" name="TextBox 570">
                    <a:extLst>
                      <a:ext uri="{FF2B5EF4-FFF2-40B4-BE49-F238E27FC236}">
                        <a16:creationId xmlns:a16="http://schemas.microsoft.com/office/drawing/2014/main" id="{80F6477C-9A21-8566-E6BE-76B86F226B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2633" y="4984525"/>
                    <a:ext cx="1287788" cy="289503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2644002E-297D-9359-8CA9-826C6FACA269}"/>
                </a:ext>
              </a:extLst>
            </p:cNvPr>
            <p:cNvGrpSpPr/>
            <p:nvPr/>
          </p:nvGrpSpPr>
          <p:grpSpPr>
            <a:xfrm>
              <a:off x="9235321" y="3051545"/>
              <a:ext cx="1765291" cy="2346191"/>
              <a:chOff x="9235323" y="2987809"/>
              <a:chExt cx="1765291" cy="2346191"/>
            </a:xfrm>
          </p:grpSpPr>
          <p:sp>
            <p:nvSpPr>
              <p:cNvPr id="573" name="Rectangle: Rounded Corners 572">
                <a:extLst>
                  <a:ext uri="{FF2B5EF4-FFF2-40B4-BE49-F238E27FC236}">
                    <a16:creationId xmlns:a16="http://schemas.microsoft.com/office/drawing/2014/main" id="{08B940C2-57CF-6609-8BEF-C0C7291E6AF3}"/>
                  </a:ext>
                </a:extLst>
              </p:cNvPr>
              <p:cNvSpPr/>
              <p:nvPr/>
            </p:nvSpPr>
            <p:spPr>
              <a:xfrm>
                <a:off x="9235323" y="2987809"/>
                <a:ext cx="1728690" cy="234619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75" name="Picture 574">
                <a:extLst>
                  <a:ext uri="{FF2B5EF4-FFF2-40B4-BE49-F238E27FC236}">
                    <a16:creationId xmlns:a16="http://schemas.microsoft.com/office/drawing/2014/main" id="{0A5B1A04-1479-B70A-D3B2-75258142A2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365568" y="3324751"/>
                <a:ext cx="409504" cy="151668"/>
              </a:xfrm>
              <a:prstGeom prst="rect">
                <a:avLst/>
              </a:prstGeom>
            </p:spPr>
          </p:pic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49F45F8A-0187-EB3A-F68D-F9C546C728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906288" y="3324751"/>
                <a:ext cx="408691" cy="147901"/>
              </a:xfrm>
              <a:prstGeom prst="rect">
                <a:avLst/>
              </a:prstGeom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EED628F7-0C05-B3B1-4D7F-6E2B3211A0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434744" y="3310560"/>
                <a:ext cx="409504" cy="1634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17950B48-5DA3-267E-1B0B-3B6AA8A2DB70}"/>
                      </a:ext>
                    </a:extLst>
                  </p:cNvPr>
                  <p:cNvSpPr txBox="1"/>
                  <p:nvPr/>
                </p:nvSpPr>
                <p:spPr>
                  <a:xfrm>
                    <a:off x="9261368" y="2995459"/>
                    <a:ext cx="644920" cy="256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sz="1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000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000" dirty="0">
                                      <a:latin typeface="Cambria Math" panose="02040503050406030204" pitchFamily="18" charset="0"/>
                                    </a:rPr>
                                    <m:t>hyper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17950B48-5DA3-267E-1B0B-3B6AA8A2DB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61368" y="2995459"/>
                    <a:ext cx="644920" cy="256609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8DA088FF-1D0C-D82C-4DD7-A0ED409C72F6}"/>
                      </a:ext>
                    </a:extLst>
                  </p:cNvPr>
                  <p:cNvSpPr txBox="1"/>
                  <p:nvPr/>
                </p:nvSpPr>
                <p:spPr>
                  <a:xfrm>
                    <a:off x="9837866" y="2997334"/>
                    <a:ext cx="545534" cy="256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sz="1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0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000" b="0" i="0" dirty="0" smtClean="0">
                                      <a:latin typeface="Cambria Math" panose="02040503050406030204" pitchFamily="18" charset="0"/>
                                    </a:rPr>
                                    <m:t>GIN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8DA088FF-1D0C-D82C-4DD7-A0ED409C72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37866" y="2997334"/>
                    <a:ext cx="545534" cy="256609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318825F-3340-4D81-CFFF-19391763DF22}"/>
                  </a:ext>
                </a:extLst>
              </p:cNvPr>
              <p:cNvSpPr txBox="1"/>
              <p:nvPr/>
            </p:nvSpPr>
            <p:spPr>
              <a:xfrm>
                <a:off x="9810010" y="3136652"/>
                <a:ext cx="6479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(Pairwise)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3F0D07F-CB61-259F-5F68-DB3DA7E56082}"/>
                  </a:ext>
                </a:extLst>
              </p:cNvPr>
              <p:cNvSpPr txBox="1"/>
              <p:nvPr/>
            </p:nvSpPr>
            <p:spPr>
              <a:xfrm>
                <a:off x="9296460" y="3138050"/>
                <a:ext cx="55015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(Group)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2956EF3B-CF28-D400-67FA-C847118A7F98}"/>
                      </a:ext>
                    </a:extLst>
                  </p:cNvPr>
                  <p:cNvSpPr txBox="1"/>
                  <p:nvPr/>
                </p:nvSpPr>
                <p:spPr>
                  <a:xfrm>
                    <a:off x="10374657" y="3001740"/>
                    <a:ext cx="484299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1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900" b="1" dirty="0">
                                  <a:latin typeface="Cambria Math" panose="02040503050406030204" pitchFamily="18" charset="0"/>
                                </a:rPr>
                                <m:t>norm</m:t>
                              </m:r>
                            </m:sub>
                          </m:sSub>
                        </m:oMath>
                      </m:oMathPara>
                    </a14:m>
                    <a:endParaRPr lang="en-US" sz="900" dirty="0"/>
                  </a:p>
                </p:txBody>
              </p:sp>
            </mc:Choice>
            <mc:Fallback xmlns="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2956EF3B-CF28-D400-67FA-C847118A7F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74657" y="3001740"/>
                    <a:ext cx="484299" cy="2308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8F1080D-E024-8533-FE6A-521004A8B937}"/>
                  </a:ext>
                </a:extLst>
              </p:cNvPr>
              <p:cNvSpPr txBox="1"/>
              <p:nvPr/>
            </p:nvSpPr>
            <p:spPr>
              <a:xfrm>
                <a:off x="10391249" y="3125729"/>
                <a:ext cx="51969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(Initial)</a:t>
                </a:r>
              </a:p>
            </p:txBody>
          </p:sp>
          <p:sp>
            <p:nvSpPr>
              <p:cNvPr id="89" name="Right Brace 88">
                <a:extLst>
                  <a:ext uri="{FF2B5EF4-FFF2-40B4-BE49-F238E27FC236}">
                    <a16:creationId xmlns:a16="http://schemas.microsoft.com/office/drawing/2014/main" id="{C877F1E0-BDB8-64E0-A8EA-8D1EB73CA351}"/>
                  </a:ext>
                </a:extLst>
              </p:cNvPr>
              <p:cNvSpPr/>
              <p:nvPr/>
            </p:nvSpPr>
            <p:spPr>
              <a:xfrm rot="5400000">
                <a:off x="9997533" y="3022931"/>
                <a:ext cx="163436" cy="1057781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79D5B1BD-16D8-3402-9751-659E5BA5721C}"/>
                  </a:ext>
                </a:extLst>
              </p:cNvPr>
              <p:cNvSpPr/>
              <p:nvPr/>
            </p:nvSpPr>
            <p:spPr>
              <a:xfrm>
                <a:off x="9296461" y="3754417"/>
                <a:ext cx="1614482" cy="32014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14391A2A-B848-FCE5-841C-A921731B28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79251" y="3581399"/>
                <a:ext cx="11326" cy="1964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747D8739-F672-AF73-9049-39D22FB83DC4}"/>
                  </a:ext>
                </a:extLst>
              </p:cNvPr>
              <p:cNvSpPr txBox="1"/>
              <p:nvPr/>
            </p:nvSpPr>
            <p:spPr>
              <a:xfrm>
                <a:off x="9693165" y="3703501"/>
                <a:ext cx="8755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Concatenate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C8EA4049-6A2E-E55E-5237-8D1AE18674BA}"/>
                      </a:ext>
                    </a:extLst>
                  </p:cNvPr>
                  <p:cNvSpPr txBox="1"/>
                  <p:nvPr/>
                </p:nvSpPr>
                <p:spPr>
                  <a:xfrm>
                    <a:off x="9460542" y="3867520"/>
                    <a:ext cx="1385507" cy="107112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900" dirty="0"/>
                      <a:t>|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900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90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900" dirty="0">
                                    <a:latin typeface="Cambria Math" panose="02040503050406030204" pitchFamily="18" charset="0"/>
                                  </a:rPr>
                                  <m:t>GIN</m:t>
                                </m:r>
                              </m:e>
                            </m:d>
                          </m:sup>
                        </m:sSup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9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900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900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90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900" dirty="0">
                                    <a:latin typeface="Cambria Math" panose="02040503050406030204" pitchFamily="18" charset="0"/>
                                  </a:rPr>
                                  <m:t>hyper</m:t>
                                </m:r>
                              </m:e>
                            </m:d>
                          </m:sup>
                        </m:sSup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||</m:t>
                        </m:r>
                        <m:sSub>
                          <m:sSubPr>
                            <m:ctrlPr>
                              <a:rPr lang="en-US" sz="9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1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dirty="0">
                                <a:latin typeface="Cambria Math" panose="02040503050406030204" pitchFamily="18" charset="0"/>
                              </a:rPr>
                              <m:t>norm</m:t>
                            </m:r>
                          </m:sub>
                        </m:sSub>
                        <m:r>
                          <a:rPr lang="en-US" sz="900" b="1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a14:m>
                    <a:endParaRPr lang="en-US" sz="900" dirty="0"/>
                  </a:p>
                  <a:p>
                    <a:endParaRPr lang="en-US" dirty="0"/>
                  </a:p>
                  <a:p>
                    <a:endParaRPr lang="en-US" dirty="0"/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C8EA4049-6A2E-E55E-5237-8D1AE18674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60542" y="3867520"/>
                    <a:ext cx="1385507" cy="1071127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ECCEEB89-1C1A-34C6-F0E7-E4AE60BB7267}"/>
                  </a:ext>
                </a:extLst>
              </p:cNvPr>
              <p:cNvSpPr/>
              <p:nvPr/>
            </p:nvSpPr>
            <p:spPr>
              <a:xfrm>
                <a:off x="9286687" y="4160904"/>
                <a:ext cx="1624256" cy="41884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D056F20B-7D71-FDAA-737C-C948963814C9}"/>
                      </a:ext>
                    </a:extLst>
                  </p:cNvPr>
                  <p:cNvSpPr txBox="1"/>
                  <p:nvPr/>
                </p:nvSpPr>
                <p:spPr>
                  <a:xfrm>
                    <a:off x="9235323" y="4342671"/>
                    <a:ext cx="1765291" cy="2185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7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700" i="0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7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700" i="0" dirty="0">
                              <a:latin typeface="Cambria Math" panose="02040503050406030204" pitchFamily="18" charset="0"/>
                            </a:rPr>
                            <m:t>​</m:t>
                          </m:r>
                          <m:d>
                            <m:dPr>
                              <m:ctrlPr>
                                <a:rPr lang="en-US" sz="7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700" i="1" dirty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700" i="0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700" i="0" dirty="0">
                                              <a:latin typeface="Cambria Math" panose="02040503050406030204" pitchFamily="18" charset="0"/>
                                            </a:rPr>
                                            <m:t>gin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700" i="0" dirty="0">
                                      <a:latin typeface="Cambria Math" panose="02040503050406030204" pitchFamily="18" charset="0"/>
                                    </a:rPr>
                                    <m:t> ‖ </m:t>
                                  </m:r>
                                  <m:sSup>
                                    <m:sSupPr>
                                      <m:ctrlP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700" i="0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700" i="0" dirty="0">
                                              <a:latin typeface="Cambria Math" panose="02040503050406030204" pitchFamily="18" charset="0"/>
                                            </a:rPr>
                                            <m:t>hyper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700" i="0" dirty="0">
                                      <a:latin typeface="Cambria Math" panose="02040503050406030204" pitchFamily="18" charset="0"/>
                                    </a:rPr>
                                    <m:t> ‖ </m:t>
                                  </m:r>
                                  <m:sSub>
                                    <m:sSubPr>
                                      <m:ctrlP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700" i="0" dirty="0">
                                          <a:latin typeface="Cambria Math" panose="02040503050406030204" pitchFamily="18" charset="0"/>
                                        </a:rPr>
                                        <m:t>norm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7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700" i="1" dirty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700" dirty="0"/>
                  </a:p>
                </p:txBody>
              </p:sp>
            </mc:Choice>
            <mc:Fallback xmlns=""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D056F20B-7D71-FDAA-737C-C948963814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35323" y="4342671"/>
                    <a:ext cx="1765291" cy="218521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C483401-AB48-2A81-5BBE-0616B9AA7322}"/>
                  </a:ext>
                </a:extLst>
              </p:cNvPr>
              <p:cNvSpPr txBox="1"/>
              <p:nvPr/>
            </p:nvSpPr>
            <p:spPr>
              <a:xfrm>
                <a:off x="9550784" y="4125473"/>
                <a:ext cx="116089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Gate</a:t>
                </a:r>
                <a:r>
                  <a:rPr lang="en-US" sz="1050" dirty="0"/>
                  <a:t> </a:t>
                </a:r>
                <a:r>
                  <a:rPr lang="en-US" sz="1000" dirty="0"/>
                  <a:t>Computation</a:t>
                </a:r>
                <a:endParaRPr lang="en-US" sz="1050" dirty="0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8D3A7A3-9E60-CBEF-0F5E-9703ECF3C8B1}"/>
                  </a:ext>
                </a:extLst>
              </p:cNvPr>
              <p:cNvSpPr txBox="1"/>
              <p:nvPr/>
            </p:nvSpPr>
            <p:spPr>
              <a:xfrm>
                <a:off x="9382736" y="4614874"/>
                <a:ext cx="151195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Refined Node Embedding</a:t>
                </a:r>
              </a:p>
            </p:txBody>
          </p:sp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CE4CE9DD-3CE6-6227-8224-12A9AE549924}"/>
                  </a:ext>
                </a:extLst>
              </p:cNvPr>
              <p:cNvSpPr/>
              <p:nvPr/>
            </p:nvSpPr>
            <p:spPr>
              <a:xfrm>
                <a:off x="9296460" y="4677965"/>
                <a:ext cx="1614483" cy="53912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C8F02521-20F5-B571-C8F4-9406E836ECA9}"/>
                      </a:ext>
                    </a:extLst>
                  </p:cNvPr>
                  <p:cNvSpPr txBox="1"/>
                  <p:nvPr/>
                </p:nvSpPr>
                <p:spPr>
                  <a:xfrm>
                    <a:off x="9242008" y="4732222"/>
                    <a:ext cx="1758606" cy="5296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sz="7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700" i="1" dirty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7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700" i="0" dirty="0" smtClean="0">
                                      <a:latin typeface="Cambria Math" panose="02040503050406030204" pitchFamily="18" charset="0"/>
                                    </a:rPr>
                                    <m:t>out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700" i="0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700" i="0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700" i="0" dirty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700" i="0" dirty="0" smtClean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  <m:d>
                            <m:dPr>
                              <m:ctrlPr>
                                <a:rPr lang="en-US" sz="7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7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700" i="0" dirty="0" smtClean="0">
                                      <a:latin typeface="Cambria Math" panose="02040503050406030204" pitchFamily="18" charset="0"/>
                                    </a:rPr>
                                    <m:t>MLP</m:t>
                                  </m:r>
                                </m:fName>
                                <m:e>
                                  <m:r>
                                    <a:rPr lang="en-US" sz="700" i="0" dirty="0" smtClean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func>
                              <m:d>
                                <m:dPr>
                                  <m:ctrlPr>
                                    <a:rPr lang="en-US" sz="7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70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700" i="0" dirty="0" smtClean="0">
                                      <a:latin typeface="Cambria Math" panose="02040503050406030204" pitchFamily="18" charset="0"/>
                                    </a:rPr>
                                    <m:t>⊙</m:t>
                                  </m:r>
                                  <m:d>
                                    <m:dPr>
                                      <m:ctrlPr>
                                        <a:rPr lang="en-US" sz="7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7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700" i="1" dirty="0" smtClean="0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700" i="0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700" i="0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gin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sz="700" i="0" dirty="0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7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700" i="1" dirty="0" smtClean="0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700" i="0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700" i="0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hyper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sz="700" i="0" dirty="0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7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 dirty="0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700" i="0" dirty="0" smtClean="0">
                                              <a:latin typeface="Cambria Math" panose="02040503050406030204" pitchFamily="18" charset="0"/>
                                            </a:rPr>
                                            <m:t>norm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sz="700" i="0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7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700" i="0" dirty="0" smtClean="0">
                                      <a:latin typeface="Cambria Math" panose="02040503050406030204" pitchFamily="18" charset="0"/>
                                    </a:rPr>
                                    <m:t>norm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700" dirty="0"/>
                  </a:p>
                </p:txBody>
              </p:sp>
            </mc:Choice>
            <mc:Fallback xmlns="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C8F02521-20F5-B571-C8F4-9406E836EC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42008" y="4732222"/>
                    <a:ext cx="1758606" cy="529697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t="-40230" r="-16955" b="-919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50F85A87-BD90-A38B-F2DB-3565F4B09E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98815" y="4075652"/>
                <a:ext cx="0" cy="99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07EFE1E3-E326-FE0F-B7A7-20DE9287F8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10633" y="4579749"/>
                <a:ext cx="7335" cy="1195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176E328-D301-A229-3ADC-C2511A10569C}"/>
                </a:ext>
              </a:extLst>
            </p:cNvPr>
            <p:cNvSpPr txBox="1"/>
            <p:nvPr/>
          </p:nvSpPr>
          <p:spPr>
            <a:xfrm>
              <a:off x="1553274" y="2831793"/>
              <a:ext cx="349166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/>
                <a:t>Step 1: LEARNABLE 2-CRITERIA HYPERGRAPH + HGNN AGGREGATION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E1918C8-22AD-9E8E-DAA5-2DF49759CED4}"/>
                </a:ext>
              </a:extLst>
            </p:cNvPr>
            <p:cNvSpPr txBox="1"/>
            <p:nvPr/>
          </p:nvSpPr>
          <p:spPr>
            <a:xfrm>
              <a:off x="7207178" y="2745326"/>
              <a:ext cx="17235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/>
                <a:t>Step 2: DISPLACEMENT-AWARE GIN </a:t>
              </a:r>
            </a:p>
            <a:p>
              <a:pPr algn="ctr"/>
              <a:r>
                <a:rPr lang="en-US" sz="800" b="1" dirty="0"/>
                <a:t>(PAIRWISE CONTEXT)</a:t>
              </a: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32B602E3-D642-B391-0A88-FCE821CC8FA6}"/>
                </a:ext>
              </a:extLst>
            </p:cNvPr>
            <p:cNvCxnSpPr>
              <a:cxnSpLocks/>
              <a:endCxn id="147" idx="1"/>
            </p:cNvCxnSpPr>
            <p:nvPr/>
          </p:nvCxnSpPr>
          <p:spPr>
            <a:xfrm>
              <a:off x="5080000" y="2914603"/>
              <a:ext cx="2127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4763273D-486A-0BF2-7C8D-DD386E663C86}"/>
                </a:ext>
              </a:extLst>
            </p:cNvPr>
            <p:cNvSpPr txBox="1"/>
            <p:nvPr/>
          </p:nvSpPr>
          <p:spPr>
            <a:xfrm>
              <a:off x="9521490" y="2738261"/>
              <a:ext cx="11929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/>
                <a:t>Step 3: FORENSIC GATE </a:t>
              </a:r>
            </a:p>
            <a:p>
              <a:pPr algn="ctr"/>
              <a:r>
                <a:rPr lang="en-US" sz="800" b="1" dirty="0"/>
                <a:t>(ADAPTIVE FUSION)</a:t>
              </a:r>
            </a:p>
          </p:txBody>
        </p: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7B03B8AB-4057-931F-D5A7-4417FE00460E}"/>
                </a:ext>
              </a:extLst>
            </p:cNvPr>
            <p:cNvCxnSpPr>
              <a:cxnSpLocks/>
            </p:cNvCxnSpPr>
            <p:nvPr/>
          </p:nvCxnSpPr>
          <p:spPr>
            <a:xfrm>
              <a:off x="8854256" y="2947209"/>
              <a:ext cx="5364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FC007959-4910-3965-1239-85EF4C4CDEF8}"/>
                </a:ext>
              </a:extLst>
            </p:cNvPr>
            <p:cNvSpPr/>
            <p:nvPr/>
          </p:nvSpPr>
          <p:spPr>
            <a:xfrm>
              <a:off x="409622" y="5788318"/>
              <a:ext cx="1622378" cy="9144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3C6A7DB9-23BC-64A7-5EF8-453C5A0DFC2C}"/>
                </a:ext>
              </a:extLst>
            </p:cNvPr>
            <p:cNvSpPr txBox="1"/>
            <p:nvPr/>
          </p:nvSpPr>
          <p:spPr>
            <a:xfrm>
              <a:off x="497862" y="5881227"/>
              <a:ext cx="15341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Input from HyperGIN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0B98DD31-43BE-B247-CE1B-C189DA7D7FE1}"/>
                    </a:ext>
                  </a:extLst>
                </p:cNvPr>
                <p:cNvSpPr txBox="1"/>
                <p:nvPr/>
              </p:nvSpPr>
              <p:spPr>
                <a:xfrm>
                  <a:off x="497862" y="6131265"/>
                  <a:ext cx="1439688" cy="3222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1400" b="0" i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b="0" i="0" dirty="0" smtClean="0">
                                    <a:latin typeface="Cambria Math" panose="02040503050406030204" pitchFamily="18" charset="0"/>
                                  </a:rPr>
                                  <m:t>out</m:t>
                                </m:r>
                              </m:e>
                            </m:d>
                          </m:sup>
                        </m:sSup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400" i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×256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0B98DD31-43BE-B247-CE1B-C189DA7D7F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62" y="6131265"/>
                  <a:ext cx="1439688" cy="322268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D83B4F86-4292-6F17-0D0C-B47B6C24C97D}"/>
                </a:ext>
              </a:extLst>
            </p:cNvPr>
            <p:cNvSpPr txBox="1"/>
            <p:nvPr/>
          </p:nvSpPr>
          <p:spPr>
            <a:xfrm>
              <a:off x="409622" y="6422653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(Reshape to 16X16X256)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6586713-D8B6-4021-F88F-4D8AC4470732}"/>
                </a:ext>
              </a:extLst>
            </p:cNvPr>
            <p:cNvSpPr txBox="1"/>
            <p:nvPr/>
          </p:nvSpPr>
          <p:spPr>
            <a:xfrm>
              <a:off x="2569153" y="5788319"/>
              <a:ext cx="1055899" cy="2556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Decoder Block 3</a:t>
              </a:r>
              <a:r>
                <a:rPr lang="en-US" sz="1100" dirty="0">
                  <a:sym typeface="Wingdings" panose="05000000000000000000" pitchFamily="2" charset="2"/>
                </a:rPr>
                <a:t></a:t>
              </a:r>
              <a:endParaRPr lang="en-US" sz="1100" dirty="0"/>
            </a:p>
          </p:txBody>
        </p:sp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83396DF3-FDCE-1C24-8C02-13615A02AF0B}"/>
                </a:ext>
              </a:extLst>
            </p:cNvPr>
            <p:cNvSpPr/>
            <p:nvPr/>
          </p:nvSpPr>
          <p:spPr>
            <a:xfrm>
              <a:off x="2148225" y="5859276"/>
              <a:ext cx="1725595" cy="80290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9963C1A3-0493-E743-3150-3ADE9A616B43}"/>
                </a:ext>
              </a:extLst>
            </p:cNvPr>
            <p:cNvSpPr txBox="1"/>
            <p:nvPr/>
          </p:nvSpPr>
          <p:spPr>
            <a:xfrm>
              <a:off x="2697972" y="5943927"/>
              <a:ext cx="572013" cy="240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(16 </a:t>
              </a:r>
              <a:r>
                <a:rPr lang="en-US" sz="1000" dirty="0">
                  <a:sym typeface="Wingdings" panose="05000000000000000000" pitchFamily="2" charset="2"/>
                </a:rPr>
                <a:t>32)</a:t>
              </a:r>
              <a:endParaRPr lang="en-US" sz="1000" dirty="0"/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77F35994-14A6-BE19-BDE5-97A093756370}"/>
                </a:ext>
              </a:extLst>
            </p:cNvPr>
            <p:cNvGrpSpPr/>
            <p:nvPr/>
          </p:nvGrpSpPr>
          <p:grpSpPr>
            <a:xfrm>
              <a:off x="2270604" y="6145128"/>
              <a:ext cx="240144" cy="255692"/>
              <a:chOff x="2713459" y="6269468"/>
              <a:chExt cx="123563" cy="261610"/>
            </a:xfrm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C68A4E2B-631A-E0A8-A9E1-9F50D6465DF4}"/>
                  </a:ext>
                </a:extLst>
              </p:cNvPr>
              <p:cNvSpPr/>
              <p:nvPr/>
            </p:nvSpPr>
            <p:spPr>
              <a:xfrm>
                <a:off x="2713459" y="6269468"/>
                <a:ext cx="123563" cy="2616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5" name="Straight Arrow Connector 214">
                <a:extLst>
                  <a:ext uri="{FF2B5EF4-FFF2-40B4-BE49-F238E27FC236}">
                    <a16:creationId xmlns:a16="http://schemas.microsoft.com/office/drawing/2014/main" id="{1F663E7A-99A2-B45B-3538-5C4BF7CE68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5240" y="6300126"/>
                <a:ext cx="0" cy="2083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1" name="Group 440">
              <a:extLst>
                <a:ext uri="{FF2B5EF4-FFF2-40B4-BE49-F238E27FC236}">
                  <a16:creationId xmlns:a16="http://schemas.microsoft.com/office/drawing/2014/main" id="{09117B57-470B-62B2-F114-6249570776FE}"/>
                </a:ext>
              </a:extLst>
            </p:cNvPr>
            <p:cNvGrpSpPr/>
            <p:nvPr/>
          </p:nvGrpSpPr>
          <p:grpSpPr>
            <a:xfrm>
              <a:off x="3170098" y="6097303"/>
              <a:ext cx="357153" cy="461665"/>
              <a:chOff x="3189541" y="6107972"/>
              <a:chExt cx="642667" cy="369344"/>
            </a:xfrm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C8B5055E-AB79-15E7-50C0-066634B223A8}"/>
                  </a:ext>
                </a:extLst>
              </p:cNvPr>
              <p:cNvSpPr/>
              <p:nvPr/>
            </p:nvSpPr>
            <p:spPr>
              <a:xfrm>
                <a:off x="3237093" y="6127772"/>
                <a:ext cx="595115" cy="31609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3E2819CF-04C8-D375-7D0C-5742103C39FD}"/>
                  </a:ext>
                </a:extLst>
              </p:cNvPr>
              <p:cNvSpPr txBox="1"/>
              <p:nvPr/>
            </p:nvSpPr>
            <p:spPr>
              <a:xfrm>
                <a:off x="3189541" y="6107972"/>
                <a:ext cx="642663" cy="369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Conv 3X3 +</a:t>
                </a:r>
              </a:p>
              <a:p>
                <a:r>
                  <a:rPr lang="en-US" sz="600" dirty="0"/>
                  <a:t>BN+ </a:t>
                </a:r>
                <a:r>
                  <a:rPr lang="en-US" sz="600" dirty="0" err="1"/>
                  <a:t>ReLU</a:t>
                </a:r>
                <a:endParaRPr lang="en-US" sz="600" dirty="0"/>
              </a:p>
            </p:txBody>
          </p:sp>
        </p:grpSp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id="{E389F323-FA54-4E5C-9963-9CF6D31C6669}"/>
                </a:ext>
              </a:extLst>
            </p:cNvPr>
            <p:cNvCxnSpPr>
              <a:cxnSpLocks/>
            </p:cNvCxnSpPr>
            <p:nvPr/>
          </p:nvCxnSpPr>
          <p:spPr>
            <a:xfrm>
              <a:off x="2535087" y="6259485"/>
              <a:ext cx="1755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11872F49-E3A9-C117-50EB-8E47B3A5ABBD}"/>
                </a:ext>
              </a:extLst>
            </p:cNvPr>
            <p:cNvSpPr txBox="1"/>
            <p:nvPr/>
          </p:nvSpPr>
          <p:spPr>
            <a:xfrm>
              <a:off x="2190546" y="6333390"/>
              <a:ext cx="8193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Bilinear </a:t>
              </a:r>
            </a:p>
            <a:p>
              <a:r>
                <a:rPr lang="en-US" sz="600" dirty="0"/>
                <a:t>Upsample</a:t>
              </a:r>
            </a:p>
            <a:p>
              <a:r>
                <a:rPr lang="en-US" sz="600" dirty="0"/>
                <a:t>X2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60F7959-81AF-1AC3-509D-42F3E4C8FA5F}"/>
                </a:ext>
              </a:extLst>
            </p:cNvPr>
            <p:cNvSpPr/>
            <p:nvPr/>
          </p:nvSpPr>
          <p:spPr>
            <a:xfrm>
              <a:off x="2771477" y="6145128"/>
              <a:ext cx="240144" cy="25569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BE4E594F-3DBC-4945-643D-8E63D276D953}"/>
                </a:ext>
              </a:extLst>
            </p:cNvPr>
            <p:cNvCxnSpPr>
              <a:cxnSpLocks/>
            </p:cNvCxnSpPr>
            <p:nvPr/>
          </p:nvCxnSpPr>
          <p:spPr>
            <a:xfrm>
              <a:off x="3038697" y="6259485"/>
              <a:ext cx="1755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Plus Sign 260">
              <a:extLst>
                <a:ext uri="{FF2B5EF4-FFF2-40B4-BE49-F238E27FC236}">
                  <a16:creationId xmlns:a16="http://schemas.microsoft.com/office/drawing/2014/main" id="{345B1B4C-7CDB-A33F-59F2-F78147758FF0}"/>
                </a:ext>
              </a:extLst>
            </p:cNvPr>
            <p:cNvSpPr/>
            <p:nvPr/>
          </p:nvSpPr>
          <p:spPr>
            <a:xfrm>
              <a:off x="2793094" y="6177034"/>
              <a:ext cx="187242" cy="196428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1744CEF6-CEE9-D4A9-397C-745BDC61E9BD}"/>
                </a:ext>
              </a:extLst>
            </p:cNvPr>
            <p:cNvSpPr txBox="1"/>
            <p:nvPr/>
          </p:nvSpPr>
          <p:spPr>
            <a:xfrm>
              <a:off x="2651678" y="6376586"/>
              <a:ext cx="81937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/>
                <a:t>Concatenate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E7FCD6CA-8C5E-10AA-1059-FA10EBF06DC6}"/>
                </a:ext>
              </a:extLst>
            </p:cNvPr>
            <p:cNvSpPr txBox="1"/>
            <p:nvPr/>
          </p:nvSpPr>
          <p:spPr>
            <a:xfrm>
              <a:off x="2460496" y="6462068"/>
              <a:ext cx="1039679" cy="240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Output: 32X32X128</a:t>
              </a:r>
            </a:p>
          </p:txBody>
        </p: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D548F279-057D-461B-6C46-2B633D4CE549}"/>
                </a:ext>
              </a:extLst>
            </p:cNvPr>
            <p:cNvGrpSpPr/>
            <p:nvPr/>
          </p:nvGrpSpPr>
          <p:grpSpPr>
            <a:xfrm>
              <a:off x="4000526" y="5788318"/>
              <a:ext cx="1925295" cy="914400"/>
              <a:chOff x="4313965" y="5788318"/>
              <a:chExt cx="2073576" cy="914400"/>
            </a:xfrm>
          </p:grpSpPr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75173DB2-99A1-18A0-F965-E059A8A794B8}"/>
                  </a:ext>
                </a:extLst>
              </p:cNvPr>
              <p:cNvGrpSpPr/>
              <p:nvPr/>
            </p:nvGrpSpPr>
            <p:grpSpPr>
              <a:xfrm>
                <a:off x="4313965" y="5839755"/>
                <a:ext cx="2073576" cy="862963"/>
                <a:chOff x="2390474" y="5881227"/>
                <a:chExt cx="2073576" cy="862963"/>
              </a:xfrm>
            </p:grpSpPr>
            <p:sp>
              <p:nvSpPr>
                <p:cNvPr id="272" name="Rectangle: Rounded Corners 271">
                  <a:extLst>
                    <a:ext uri="{FF2B5EF4-FFF2-40B4-BE49-F238E27FC236}">
                      <a16:creationId xmlns:a16="http://schemas.microsoft.com/office/drawing/2014/main" id="{7C75A556-972C-CD60-E61D-A91A9473D62D}"/>
                    </a:ext>
                  </a:extLst>
                </p:cNvPr>
                <p:cNvSpPr/>
                <p:nvPr/>
              </p:nvSpPr>
              <p:spPr>
                <a:xfrm>
                  <a:off x="2417543" y="5881227"/>
                  <a:ext cx="2046507" cy="821491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7B405492-3047-9C3B-3B3C-ECB4DB6AA1CD}"/>
                    </a:ext>
                  </a:extLst>
                </p:cNvPr>
                <p:cNvSpPr txBox="1"/>
                <p:nvPr/>
              </p:nvSpPr>
              <p:spPr>
                <a:xfrm>
                  <a:off x="3069527" y="5967837"/>
                  <a:ext cx="67839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(32 </a:t>
                  </a:r>
                  <a:r>
                    <a:rPr lang="en-US" sz="1000" dirty="0">
                      <a:sym typeface="Wingdings" panose="05000000000000000000" pitchFamily="2" charset="2"/>
                    </a:rPr>
                    <a:t>64)</a:t>
                  </a:r>
                  <a:endParaRPr lang="en-US" sz="1000" dirty="0"/>
                </a:p>
              </p:txBody>
            </p:sp>
            <p:grpSp>
              <p:nvGrpSpPr>
                <p:cNvPr id="274" name="Group 273">
                  <a:extLst>
                    <a:ext uri="{FF2B5EF4-FFF2-40B4-BE49-F238E27FC236}">
                      <a16:creationId xmlns:a16="http://schemas.microsoft.com/office/drawing/2014/main" id="{851785F1-BA65-5D4E-F5C9-D48E11EB2A9D}"/>
                    </a:ext>
                  </a:extLst>
                </p:cNvPr>
                <p:cNvGrpSpPr/>
                <p:nvPr/>
              </p:nvGrpSpPr>
              <p:grpSpPr>
                <a:xfrm>
                  <a:off x="2562681" y="6173695"/>
                  <a:ext cx="284804" cy="261610"/>
                  <a:chOff x="2713459" y="6269468"/>
                  <a:chExt cx="123563" cy="261610"/>
                </a:xfrm>
              </p:grpSpPr>
              <p:sp>
                <p:nvSpPr>
                  <p:cNvPr id="297" name="Rectangle 296">
                    <a:extLst>
                      <a:ext uri="{FF2B5EF4-FFF2-40B4-BE49-F238E27FC236}">
                        <a16:creationId xmlns:a16="http://schemas.microsoft.com/office/drawing/2014/main" id="{EB1D7DBD-4156-434C-9623-9659EF15AC51}"/>
                      </a:ext>
                    </a:extLst>
                  </p:cNvPr>
                  <p:cNvSpPr/>
                  <p:nvPr/>
                </p:nvSpPr>
                <p:spPr>
                  <a:xfrm>
                    <a:off x="2713459" y="6269468"/>
                    <a:ext cx="123563" cy="26161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99" name="Straight Arrow Connector 298">
                    <a:extLst>
                      <a:ext uri="{FF2B5EF4-FFF2-40B4-BE49-F238E27FC236}">
                        <a16:creationId xmlns:a16="http://schemas.microsoft.com/office/drawing/2014/main" id="{07564E90-C1F9-5F5B-EA45-8FA7BC4140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75240" y="6300126"/>
                    <a:ext cx="0" cy="20835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76" name="Straight Arrow Connector 275">
                  <a:extLst>
                    <a:ext uri="{FF2B5EF4-FFF2-40B4-BE49-F238E27FC236}">
                      <a16:creationId xmlns:a16="http://schemas.microsoft.com/office/drawing/2014/main" id="{B24B3C75-2E5A-7E3C-EB9D-3F157E33E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6351" y="6290698"/>
                  <a:ext cx="20822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2276236C-C4F5-3FC7-6646-67266AE1EE6D}"/>
                    </a:ext>
                  </a:extLst>
                </p:cNvPr>
                <p:cNvSpPr txBox="1"/>
                <p:nvPr/>
              </p:nvSpPr>
              <p:spPr>
                <a:xfrm>
                  <a:off x="2390474" y="6394941"/>
                  <a:ext cx="97175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" dirty="0"/>
                    <a:t>Bilinear Upsample</a:t>
                  </a:r>
                </a:p>
                <a:p>
                  <a:r>
                    <a:rPr lang="en-US" sz="600" dirty="0"/>
                    <a:t>X2</a:t>
                  </a:r>
                </a:p>
              </p:txBody>
            </p:sp>
            <p:sp>
              <p:nvSpPr>
                <p:cNvPr id="283" name="Rectangle 282">
                  <a:extLst>
                    <a:ext uri="{FF2B5EF4-FFF2-40B4-BE49-F238E27FC236}">
                      <a16:creationId xmlns:a16="http://schemas.microsoft.com/office/drawing/2014/main" id="{EAFCB949-286C-0159-DB9A-EB96C4DD390B}"/>
                    </a:ext>
                  </a:extLst>
                </p:cNvPr>
                <p:cNvSpPr/>
                <p:nvPr/>
              </p:nvSpPr>
              <p:spPr>
                <a:xfrm>
                  <a:off x="3156702" y="6173695"/>
                  <a:ext cx="284804" cy="26161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5" name="Straight Arrow Connector 284">
                  <a:extLst>
                    <a:ext uri="{FF2B5EF4-FFF2-40B4-BE49-F238E27FC236}">
                      <a16:creationId xmlns:a16="http://schemas.microsoft.com/office/drawing/2014/main" id="{C8EF9FD2-BA99-7C4A-4CB3-7D332C6EAB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73618" y="6290698"/>
                  <a:ext cx="20822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7" name="Plus Sign 286">
                  <a:extLst>
                    <a:ext uri="{FF2B5EF4-FFF2-40B4-BE49-F238E27FC236}">
                      <a16:creationId xmlns:a16="http://schemas.microsoft.com/office/drawing/2014/main" id="{4870936A-915C-1006-7EF4-EFE73B78F5B0}"/>
                    </a:ext>
                  </a:extLst>
                </p:cNvPr>
                <p:cNvSpPr/>
                <p:nvPr/>
              </p:nvSpPr>
              <p:spPr>
                <a:xfrm>
                  <a:off x="3182339" y="6206339"/>
                  <a:ext cx="222064" cy="200974"/>
                </a:xfrm>
                <a:prstGeom prst="mathPlus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F632D3F5-3C6E-8B54-E996-B21C776E7D54}"/>
                    </a:ext>
                  </a:extLst>
                </p:cNvPr>
                <p:cNvSpPr txBox="1"/>
                <p:nvPr/>
              </p:nvSpPr>
              <p:spPr>
                <a:xfrm>
                  <a:off x="3028771" y="6413785"/>
                  <a:ext cx="97175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" dirty="0"/>
                    <a:t>Concatenate</a:t>
                  </a:r>
                </a:p>
              </p:txBody>
            </p:sp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AE409180-0BE0-E765-C23F-6D9EE1F9A03E}"/>
                    </a:ext>
                  </a:extLst>
                </p:cNvPr>
                <p:cNvSpPr txBox="1"/>
                <p:nvPr/>
              </p:nvSpPr>
              <p:spPr>
                <a:xfrm>
                  <a:off x="2787888" y="6497969"/>
                  <a:ext cx="116730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Output: 64X64X64</a:t>
                  </a:r>
                </a:p>
              </p:txBody>
            </p:sp>
          </p:grp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9B9F9E68-53E6-AEDF-3632-F18A7C5EBCD2}"/>
                  </a:ext>
                </a:extLst>
              </p:cNvPr>
              <p:cNvSpPr txBox="1"/>
              <p:nvPr/>
            </p:nvSpPr>
            <p:spPr>
              <a:xfrm>
                <a:off x="4843734" y="5788318"/>
                <a:ext cx="125226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Decoder Block 2</a:t>
                </a:r>
                <a:r>
                  <a:rPr lang="en-US" sz="1100" dirty="0">
                    <a:sym typeface="Wingdings" panose="05000000000000000000" pitchFamily="2" charset="2"/>
                  </a:rPr>
                  <a:t></a:t>
                </a:r>
                <a:endParaRPr lang="en-US" sz="1100" dirty="0"/>
              </a:p>
            </p:txBody>
          </p:sp>
        </p:grp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69D012DC-EA67-7E4F-1003-D4E52BFF35DC}"/>
                </a:ext>
              </a:extLst>
            </p:cNvPr>
            <p:cNvGrpSpPr/>
            <p:nvPr/>
          </p:nvGrpSpPr>
          <p:grpSpPr>
            <a:xfrm>
              <a:off x="6059090" y="5813191"/>
              <a:ext cx="2009863" cy="898547"/>
              <a:chOff x="6501677" y="5788748"/>
              <a:chExt cx="2073576" cy="898547"/>
            </a:xfrm>
          </p:grpSpPr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id="{2FDCCF1A-F6FA-DE7A-B25C-514A9C83420B}"/>
                  </a:ext>
                </a:extLst>
              </p:cNvPr>
              <p:cNvGrpSpPr/>
              <p:nvPr/>
            </p:nvGrpSpPr>
            <p:grpSpPr>
              <a:xfrm>
                <a:off x="6501677" y="5824332"/>
                <a:ext cx="2073576" cy="862963"/>
                <a:chOff x="2390474" y="5881227"/>
                <a:chExt cx="2073576" cy="862963"/>
              </a:xfrm>
            </p:grpSpPr>
            <p:sp>
              <p:nvSpPr>
                <p:cNvPr id="303" name="Rectangle: Rounded Corners 302">
                  <a:extLst>
                    <a:ext uri="{FF2B5EF4-FFF2-40B4-BE49-F238E27FC236}">
                      <a16:creationId xmlns:a16="http://schemas.microsoft.com/office/drawing/2014/main" id="{0B8C816A-C07B-BE74-A5C4-E37392B21D14}"/>
                    </a:ext>
                  </a:extLst>
                </p:cNvPr>
                <p:cNvSpPr/>
                <p:nvPr/>
              </p:nvSpPr>
              <p:spPr>
                <a:xfrm>
                  <a:off x="2417543" y="5881227"/>
                  <a:ext cx="2046507" cy="821491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ABF87E6F-71C4-53C1-8798-E82FC6E52B37}"/>
                    </a:ext>
                  </a:extLst>
                </p:cNvPr>
                <p:cNvSpPr txBox="1"/>
                <p:nvPr/>
              </p:nvSpPr>
              <p:spPr>
                <a:xfrm>
                  <a:off x="3069527" y="5967837"/>
                  <a:ext cx="71526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(64</a:t>
                  </a:r>
                  <a:r>
                    <a:rPr lang="en-US" sz="1000" dirty="0">
                      <a:sym typeface="Wingdings" panose="05000000000000000000" pitchFamily="2" charset="2"/>
                    </a:rPr>
                    <a:t>128)</a:t>
                  </a:r>
                  <a:endParaRPr lang="en-US" sz="1000" dirty="0"/>
                </a:p>
              </p:txBody>
            </p:sp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E08295EC-9EA9-C0F8-7682-C2621A8073BF}"/>
                    </a:ext>
                  </a:extLst>
                </p:cNvPr>
                <p:cNvGrpSpPr/>
                <p:nvPr/>
              </p:nvGrpSpPr>
              <p:grpSpPr>
                <a:xfrm>
                  <a:off x="2562681" y="6173695"/>
                  <a:ext cx="284804" cy="261610"/>
                  <a:chOff x="2713459" y="6269468"/>
                  <a:chExt cx="123563" cy="261610"/>
                </a:xfrm>
              </p:grpSpPr>
              <p:sp>
                <p:nvSpPr>
                  <p:cNvPr id="325" name="Rectangle 324">
                    <a:extLst>
                      <a:ext uri="{FF2B5EF4-FFF2-40B4-BE49-F238E27FC236}">
                        <a16:creationId xmlns:a16="http://schemas.microsoft.com/office/drawing/2014/main" id="{515DFEB4-BC28-D988-508F-0B7339D293D0}"/>
                      </a:ext>
                    </a:extLst>
                  </p:cNvPr>
                  <p:cNvSpPr/>
                  <p:nvPr/>
                </p:nvSpPr>
                <p:spPr>
                  <a:xfrm>
                    <a:off x="2713459" y="6269468"/>
                    <a:ext cx="123563" cy="26161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27" name="Straight Arrow Connector 326">
                    <a:extLst>
                      <a:ext uri="{FF2B5EF4-FFF2-40B4-BE49-F238E27FC236}">
                        <a16:creationId xmlns:a16="http://schemas.microsoft.com/office/drawing/2014/main" id="{0FED1645-2E06-B091-11E9-8DB9880B7A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75240" y="6300126"/>
                    <a:ext cx="0" cy="20835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0" name="Straight Arrow Connector 309">
                  <a:extLst>
                    <a:ext uri="{FF2B5EF4-FFF2-40B4-BE49-F238E27FC236}">
                      <a16:creationId xmlns:a16="http://schemas.microsoft.com/office/drawing/2014/main" id="{AE03634E-E012-CAE0-2168-AAF70F1E05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6351" y="6290698"/>
                  <a:ext cx="20822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2" name="TextBox 311">
                  <a:extLst>
                    <a:ext uri="{FF2B5EF4-FFF2-40B4-BE49-F238E27FC236}">
                      <a16:creationId xmlns:a16="http://schemas.microsoft.com/office/drawing/2014/main" id="{0ECBEA06-8FE6-31EF-D972-BB2EDCA8C5B7}"/>
                    </a:ext>
                  </a:extLst>
                </p:cNvPr>
                <p:cNvSpPr txBox="1"/>
                <p:nvPr/>
              </p:nvSpPr>
              <p:spPr>
                <a:xfrm>
                  <a:off x="2390474" y="6394941"/>
                  <a:ext cx="97175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" dirty="0"/>
                    <a:t>Bilinear Upsample</a:t>
                  </a:r>
                </a:p>
                <a:p>
                  <a:r>
                    <a:rPr lang="en-US" sz="600" dirty="0"/>
                    <a:t>X2</a:t>
                  </a:r>
                </a:p>
              </p:txBody>
            </p:sp>
            <p:sp>
              <p:nvSpPr>
                <p:cNvPr id="313" name="Rectangle 312">
                  <a:extLst>
                    <a:ext uri="{FF2B5EF4-FFF2-40B4-BE49-F238E27FC236}">
                      <a16:creationId xmlns:a16="http://schemas.microsoft.com/office/drawing/2014/main" id="{2642E612-6662-403D-3DE4-86727F670FDC}"/>
                    </a:ext>
                  </a:extLst>
                </p:cNvPr>
                <p:cNvSpPr/>
                <p:nvPr/>
              </p:nvSpPr>
              <p:spPr>
                <a:xfrm>
                  <a:off x="3156702" y="6173695"/>
                  <a:ext cx="284804" cy="26161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5" name="Straight Arrow Connector 314">
                  <a:extLst>
                    <a:ext uri="{FF2B5EF4-FFF2-40B4-BE49-F238E27FC236}">
                      <a16:creationId xmlns:a16="http://schemas.microsoft.com/office/drawing/2014/main" id="{B2DB6D6D-5374-04A0-0E03-49A5976195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73618" y="6290698"/>
                  <a:ext cx="20822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6" name="Plus Sign 315">
                  <a:extLst>
                    <a:ext uri="{FF2B5EF4-FFF2-40B4-BE49-F238E27FC236}">
                      <a16:creationId xmlns:a16="http://schemas.microsoft.com/office/drawing/2014/main" id="{A4E3FE09-B7F4-4898-BC9A-A8DA51C3DDD9}"/>
                    </a:ext>
                  </a:extLst>
                </p:cNvPr>
                <p:cNvSpPr/>
                <p:nvPr/>
              </p:nvSpPr>
              <p:spPr>
                <a:xfrm>
                  <a:off x="3182339" y="6206339"/>
                  <a:ext cx="222064" cy="200974"/>
                </a:xfrm>
                <a:prstGeom prst="mathPlus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C3CDC2BB-9EF2-D90B-CBD5-5DF51D4AE34B}"/>
                    </a:ext>
                  </a:extLst>
                </p:cNvPr>
                <p:cNvSpPr txBox="1"/>
                <p:nvPr/>
              </p:nvSpPr>
              <p:spPr>
                <a:xfrm>
                  <a:off x="3028771" y="6413785"/>
                  <a:ext cx="97175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" dirty="0"/>
                    <a:t>Concatenate</a:t>
                  </a:r>
                </a:p>
              </p:txBody>
            </p:sp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5538D08F-09F3-D285-9CED-B7D46CBA55C5}"/>
                    </a:ext>
                  </a:extLst>
                </p:cNvPr>
                <p:cNvSpPr txBox="1"/>
                <p:nvPr/>
              </p:nvSpPr>
              <p:spPr>
                <a:xfrm>
                  <a:off x="2787888" y="6497969"/>
                  <a:ext cx="129875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Output: 128X128X32</a:t>
                  </a:r>
                </a:p>
              </p:txBody>
            </p:sp>
          </p:grp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93DA4090-5C91-3536-E12E-2888423CFCC6}"/>
                  </a:ext>
                </a:extLst>
              </p:cNvPr>
              <p:cNvSpPr txBox="1"/>
              <p:nvPr/>
            </p:nvSpPr>
            <p:spPr>
              <a:xfrm>
                <a:off x="7035790" y="5788748"/>
                <a:ext cx="125226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Decoder Block 1</a:t>
                </a:r>
                <a:r>
                  <a:rPr lang="en-US" sz="1100" dirty="0">
                    <a:sym typeface="Wingdings" panose="05000000000000000000" pitchFamily="2" charset="2"/>
                  </a:rPr>
                  <a:t></a:t>
                </a:r>
                <a:endParaRPr lang="en-US" sz="1100" dirty="0"/>
              </a:p>
            </p:txBody>
          </p:sp>
        </p:grp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A32149A7-3389-8E8C-B566-1CCA765AE1F0}"/>
                </a:ext>
              </a:extLst>
            </p:cNvPr>
            <p:cNvGrpSpPr/>
            <p:nvPr/>
          </p:nvGrpSpPr>
          <p:grpSpPr>
            <a:xfrm>
              <a:off x="8127700" y="5833814"/>
              <a:ext cx="971755" cy="1064861"/>
              <a:chOff x="8844456" y="5796474"/>
              <a:chExt cx="971755" cy="1064861"/>
            </a:xfrm>
          </p:grpSpPr>
          <p:grpSp>
            <p:nvGrpSpPr>
              <p:cNvPr id="339" name="Group 338">
                <a:extLst>
                  <a:ext uri="{FF2B5EF4-FFF2-40B4-BE49-F238E27FC236}">
                    <a16:creationId xmlns:a16="http://schemas.microsoft.com/office/drawing/2014/main" id="{A337E0CE-183A-C815-D0A5-BC96B47AB000}"/>
                  </a:ext>
                </a:extLst>
              </p:cNvPr>
              <p:cNvGrpSpPr/>
              <p:nvPr/>
            </p:nvGrpSpPr>
            <p:grpSpPr>
              <a:xfrm>
                <a:off x="8907734" y="5796474"/>
                <a:ext cx="795066" cy="657060"/>
                <a:chOff x="8986562" y="6076414"/>
                <a:chExt cx="284804" cy="261610"/>
              </a:xfrm>
            </p:grpSpPr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53EBEE2D-C5A7-214E-A952-377327BC8E09}"/>
                    </a:ext>
                  </a:extLst>
                </p:cNvPr>
                <p:cNvSpPr/>
                <p:nvPr/>
              </p:nvSpPr>
              <p:spPr>
                <a:xfrm>
                  <a:off x="8986562" y="6076414"/>
                  <a:ext cx="284804" cy="26161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7" name="Straight Arrow Connector 336">
                  <a:extLst>
                    <a:ext uri="{FF2B5EF4-FFF2-40B4-BE49-F238E27FC236}">
                      <a16:creationId xmlns:a16="http://schemas.microsoft.com/office/drawing/2014/main" id="{A3130278-AA71-45F4-1D94-EC8815DC38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28964" y="6191617"/>
                  <a:ext cx="0" cy="1197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B6392968-9830-8277-BBD6-E26183EA187F}"/>
                  </a:ext>
                </a:extLst>
              </p:cNvPr>
              <p:cNvSpPr txBox="1"/>
              <p:nvPr/>
            </p:nvSpPr>
            <p:spPr>
              <a:xfrm>
                <a:off x="8844456" y="5831938"/>
                <a:ext cx="9717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Bilinear Upsample</a:t>
                </a:r>
              </a:p>
              <a:p>
                <a:pPr algn="ctr"/>
                <a:r>
                  <a:rPr lang="en-US" sz="800" dirty="0"/>
                  <a:t>(X2)</a:t>
                </a:r>
              </a:p>
            </p:txBody>
          </p:sp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72EDD82C-C3D4-1541-5B1E-B18D175DB9FF}"/>
                  </a:ext>
                </a:extLst>
              </p:cNvPr>
              <p:cNvSpPr txBox="1"/>
              <p:nvPr/>
            </p:nvSpPr>
            <p:spPr>
              <a:xfrm>
                <a:off x="8930728" y="6461225"/>
                <a:ext cx="8098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(128X128</a:t>
                </a:r>
                <a:r>
                  <a:rPr lang="en-US" sz="1000" dirty="0">
                    <a:sym typeface="Wingdings" panose="05000000000000000000" pitchFamily="2" charset="2"/>
                  </a:rPr>
                  <a:t></a:t>
                </a:r>
              </a:p>
              <a:p>
                <a:r>
                  <a:rPr lang="en-US" sz="1000" dirty="0">
                    <a:sym typeface="Wingdings" panose="05000000000000000000" pitchFamily="2" charset="2"/>
                  </a:rPr>
                  <a:t>256X256)</a:t>
                </a:r>
                <a:endParaRPr lang="en-US" sz="1000" dirty="0"/>
              </a:p>
            </p:txBody>
          </p:sp>
        </p:grp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1E0063B3-10DF-960F-584F-5BCE5897D2B2}"/>
                </a:ext>
              </a:extLst>
            </p:cNvPr>
            <p:cNvSpPr/>
            <p:nvPr/>
          </p:nvSpPr>
          <p:spPr>
            <a:xfrm>
              <a:off x="9122499" y="5860552"/>
              <a:ext cx="533192" cy="54142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F4DCDF38-57D5-8A69-900D-84544F3B2721}"/>
                </a:ext>
              </a:extLst>
            </p:cNvPr>
            <p:cNvSpPr/>
            <p:nvPr/>
          </p:nvSpPr>
          <p:spPr>
            <a:xfrm>
              <a:off x="9799112" y="5860552"/>
              <a:ext cx="533192" cy="54142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8" name="Picture 367">
              <a:extLst>
                <a:ext uri="{FF2B5EF4-FFF2-40B4-BE49-F238E27FC236}">
                  <a16:creationId xmlns:a16="http://schemas.microsoft.com/office/drawing/2014/main" id="{0717D941-AADB-CD54-0166-6A7465A26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515114" y="6073189"/>
              <a:ext cx="776953" cy="560011"/>
            </a:xfrm>
            <a:prstGeom prst="rect">
              <a:avLst/>
            </a:prstGeom>
          </p:spPr>
        </p:pic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510B170D-DB29-D5C2-35B6-BED61E68F1A3}"/>
                </a:ext>
              </a:extLst>
            </p:cNvPr>
            <p:cNvSpPr txBox="1"/>
            <p:nvPr/>
          </p:nvSpPr>
          <p:spPr>
            <a:xfrm>
              <a:off x="9034925" y="6006813"/>
              <a:ext cx="68320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1X1 conv</a:t>
              </a: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7658770D-BD2C-5AEB-0A1A-A557AECB9A15}"/>
                </a:ext>
              </a:extLst>
            </p:cNvPr>
            <p:cNvSpPr txBox="1"/>
            <p:nvPr/>
          </p:nvSpPr>
          <p:spPr>
            <a:xfrm>
              <a:off x="9035472" y="6422653"/>
              <a:ext cx="70724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256X256X1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2EC34687-CFD2-5BE4-D22F-6D2760AAB31F}"/>
                </a:ext>
              </a:extLst>
            </p:cNvPr>
            <p:cNvSpPr txBox="1"/>
            <p:nvPr/>
          </p:nvSpPr>
          <p:spPr>
            <a:xfrm>
              <a:off x="9778180" y="5842401"/>
              <a:ext cx="5902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sigmoid</a:t>
              </a:r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7A349373-27D8-6FE1-19E2-E9217AF0B1FE}"/>
                </a:ext>
              </a:extLst>
            </p:cNvPr>
            <p:cNvSpPr txBox="1"/>
            <p:nvPr/>
          </p:nvSpPr>
          <p:spPr>
            <a:xfrm>
              <a:off x="9848613" y="5968518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200" dirty="0"/>
                <a:t>σ</a:t>
              </a:r>
              <a:r>
                <a:rPr lang="en-US" sz="1200" dirty="0"/>
                <a:t>(.)</a:t>
              </a:r>
            </a:p>
          </p:txBody>
        </p:sp>
        <p:pic>
          <p:nvPicPr>
            <p:cNvPr id="382" name="Picture 381">
              <a:extLst>
                <a:ext uri="{FF2B5EF4-FFF2-40B4-BE49-F238E27FC236}">
                  <a16:creationId xmlns:a16="http://schemas.microsoft.com/office/drawing/2014/main" id="{56F737F0-A88F-39A3-0B34-A13532F7E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9939678" y="6207219"/>
              <a:ext cx="267230" cy="170210"/>
            </a:xfrm>
            <a:prstGeom prst="rect">
              <a:avLst/>
            </a:prstGeom>
          </p:spPr>
        </p:pic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E81C69CE-2376-5EB8-6D94-1DC0E7199127}"/>
                </a:ext>
              </a:extLst>
            </p:cNvPr>
            <p:cNvSpPr txBox="1"/>
            <p:nvPr/>
          </p:nvSpPr>
          <p:spPr>
            <a:xfrm>
              <a:off x="10535502" y="5766672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/>
                <a:t>Predicted Forged </a:t>
              </a:r>
            </a:p>
            <a:p>
              <a:r>
                <a:rPr lang="en-US" sz="700" dirty="0"/>
                <a:t>Probability Map</a:t>
              </a:r>
            </a:p>
          </p:txBody>
        </p:sp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286FA5D9-E64E-ECA2-4648-4E91A715E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11023" y="5654145"/>
              <a:ext cx="0" cy="26641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E729588F-3F1B-31B0-AB90-56B65B551892}"/>
                </a:ext>
              </a:extLst>
            </p:cNvPr>
            <p:cNvCxnSpPr>
              <a:cxnSpLocks/>
            </p:cNvCxnSpPr>
            <p:nvPr/>
          </p:nvCxnSpPr>
          <p:spPr>
            <a:xfrm>
              <a:off x="5044935" y="5664106"/>
              <a:ext cx="0" cy="21712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9F69A614-96D5-C583-1565-C682A15F1F8A}"/>
                </a:ext>
              </a:extLst>
            </p:cNvPr>
            <p:cNvCxnSpPr>
              <a:cxnSpLocks/>
            </p:cNvCxnSpPr>
            <p:nvPr/>
          </p:nvCxnSpPr>
          <p:spPr>
            <a:xfrm>
              <a:off x="2032000" y="6207219"/>
              <a:ext cx="1236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641D46FC-B1F3-F50E-CFF2-8D1936CE9677}"/>
                </a:ext>
              </a:extLst>
            </p:cNvPr>
            <p:cNvCxnSpPr>
              <a:cxnSpLocks/>
            </p:cNvCxnSpPr>
            <p:nvPr/>
          </p:nvCxnSpPr>
          <p:spPr>
            <a:xfrm>
              <a:off x="3886226" y="6207219"/>
              <a:ext cx="176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Arrow Connector 414">
              <a:extLst>
                <a:ext uri="{FF2B5EF4-FFF2-40B4-BE49-F238E27FC236}">
                  <a16:creationId xmlns:a16="http://schemas.microsoft.com/office/drawing/2014/main" id="{AB0DB3AF-F554-04FE-EC92-C58DE0CE6365}"/>
                </a:ext>
              </a:extLst>
            </p:cNvPr>
            <p:cNvCxnSpPr>
              <a:cxnSpLocks/>
            </p:cNvCxnSpPr>
            <p:nvPr/>
          </p:nvCxnSpPr>
          <p:spPr>
            <a:xfrm>
              <a:off x="5919617" y="6236290"/>
              <a:ext cx="176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Arrow Connector 416">
              <a:extLst>
                <a:ext uri="{FF2B5EF4-FFF2-40B4-BE49-F238E27FC236}">
                  <a16:creationId xmlns:a16="http://schemas.microsoft.com/office/drawing/2014/main" id="{AD966B5B-0DED-021F-7B8E-0F62214454C4}"/>
                </a:ext>
              </a:extLst>
            </p:cNvPr>
            <p:cNvCxnSpPr>
              <a:cxnSpLocks/>
            </p:cNvCxnSpPr>
            <p:nvPr/>
          </p:nvCxnSpPr>
          <p:spPr>
            <a:xfrm>
              <a:off x="8068953" y="6181278"/>
              <a:ext cx="176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81285201-DC36-3A63-5C62-6B78CE12839D}"/>
                </a:ext>
              </a:extLst>
            </p:cNvPr>
            <p:cNvCxnSpPr>
              <a:cxnSpLocks/>
            </p:cNvCxnSpPr>
            <p:nvPr/>
          </p:nvCxnSpPr>
          <p:spPr>
            <a:xfrm>
              <a:off x="8980958" y="6181278"/>
              <a:ext cx="176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8DCD6EB3-FD72-C565-8B13-7D39DD2A6845}"/>
                </a:ext>
              </a:extLst>
            </p:cNvPr>
            <p:cNvCxnSpPr>
              <a:cxnSpLocks/>
            </p:cNvCxnSpPr>
            <p:nvPr/>
          </p:nvCxnSpPr>
          <p:spPr>
            <a:xfrm>
              <a:off x="9655691" y="6158226"/>
              <a:ext cx="176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13CA7AE5-ECEA-38E6-897A-B64FF1357036}"/>
                </a:ext>
              </a:extLst>
            </p:cNvPr>
            <p:cNvCxnSpPr>
              <a:cxnSpLocks/>
            </p:cNvCxnSpPr>
            <p:nvPr/>
          </p:nvCxnSpPr>
          <p:spPr>
            <a:xfrm>
              <a:off x="10351208" y="6158226"/>
              <a:ext cx="176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Arrow Connector 423">
              <a:extLst>
                <a:ext uri="{FF2B5EF4-FFF2-40B4-BE49-F238E27FC236}">
                  <a16:creationId xmlns:a16="http://schemas.microsoft.com/office/drawing/2014/main" id="{F9A652DC-8819-1EB8-B93E-75675C2D2566}"/>
                </a:ext>
              </a:extLst>
            </p:cNvPr>
            <p:cNvCxnSpPr>
              <a:cxnSpLocks/>
            </p:cNvCxnSpPr>
            <p:nvPr/>
          </p:nvCxnSpPr>
          <p:spPr>
            <a:xfrm>
              <a:off x="7109955" y="5658111"/>
              <a:ext cx="0" cy="21712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7185EB94-50BF-1FEC-E2B2-AF49B6AFD481}"/>
                </a:ext>
              </a:extLst>
            </p:cNvPr>
            <p:cNvSpPr txBox="1"/>
            <p:nvPr/>
          </p:nvSpPr>
          <p:spPr>
            <a:xfrm>
              <a:off x="2967402" y="5629011"/>
              <a:ext cx="12346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Skip: S</a:t>
              </a:r>
              <a:r>
                <a:rPr lang="en-US" sz="1000" baseline="-25000" dirty="0"/>
                <a:t>2</a:t>
              </a:r>
              <a:r>
                <a:rPr lang="en-US" sz="1000" dirty="0"/>
                <a:t>(16X16X256)</a:t>
              </a:r>
              <a:endParaRPr lang="en-US" sz="1000" baseline="-250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79760C54-2658-7CAD-0CEE-EA8DEA3D15B7}"/>
                </a:ext>
              </a:extLst>
            </p:cNvPr>
            <p:cNvSpPr txBox="1"/>
            <p:nvPr/>
          </p:nvSpPr>
          <p:spPr>
            <a:xfrm>
              <a:off x="5038678" y="5605806"/>
              <a:ext cx="12346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Skip: S</a:t>
              </a:r>
              <a:r>
                <a:rPr lang="en-US" sz="1000" baseline="-25000" dirty="0"/>
                <a:t>1</a:t>
              </a:r>
              <a:r>
                <a:rPr lang="en-US" sz="1000" dirty="0"/>
                <a:t>(32X32X128)</a:t>
              </a:r>
              <a:endParaRPr lang="en-US" sz="1000" baseline="-25000" dirty="0"/>
            </a:p>
          </p:txBody>
        </p:sp>
        <p:sp>
          <p:nvSpPr>
            <p:cNvPr id="437" name="TextBox 436">
              <a:extLst>
                <a:ext uri="{FF2B5EF4-FFF2-40B4-BE49-F238E27FC236}">
                  <a16:creationId xmlns:a16="http://schemas.microsoft.com/office/drawing/2014/main" id="{B4D13EAB-858D-881B-F6EF-025DE3155841}"/>
                </a:ext>
              </a:extLst>
            </p:cNvPr>
            <p:cNvSpPr txBox="1"/>
            <p:nvPr/>
          </p:nvSpPr>
          <p:spPr>
            <a:xfrm>
              <a:off x="7116211" y="5612662"/>
              <a:ext cx="1168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Skip: S</a:t>
              </a:r>
              <a:r>
                <a:rPr lang="en-US" sz="1000" baseline="-25000" dirty="0"/>
                <a:t>0</a:t>
              </a:r>
              <a:r>
                <a:rPr lang="en-US" sz="1000" dirty="0"/>
                <a:t>(64X64X64)</a:t>
              </a:r>
              <a:endParaRPr lang="en-US" sz="1000" baseline="-25000" dirty="0"/>
            </a:p>
          </p:txBody>
        </p: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71A82CC8-43F0-F411-5B4B-77B1FB96E2A6}"/>
                </a:ext>
              </a:extLst>
            </p:cNvPr>
            <p:cNvGrpSpPr/>
            <p:nvPr/>
          </p:nvGrpSpPr>
          <p:grpSpPr>
            <a:xfrm>
              <a:off x="3503680" y="6097064"/>
              <a:ext cx="357153" cy="461665"/>
              <a:chOff x="3189541" y="6107972"/>
              <a:chExt cx="642667" cy="369344"/>
            </a:xfrm>
          </p:grpSpPr>
          <p:sp>
            <p:nvSpPr>
              <p:cNvPr id="576" name="Rectangle 575">
                <a:extLst>
                  <a:ext uri="{FF2B5EF4-FFF2-40B4-BE49-F238E27FC236}">
                    <a16:creationId xmlns:a16="http://schemas.microsoft.com/office/drawing/2014/main" id="{4BE0DEC8-255E-391B-8F67-CBE94BA0B137}"/>
                  </a:ext>
                </a:extLst>
              </p:cNvPr>
              <p:cNvSpPr/>
              <p:nvPr/>
            </p:nvSpPr>
            <p:spPr>
              <a:xfrm>
                <a:off x="3237093" y="6127772"/>
                <a:ext cx="595115" cy="31609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7" name="TextBox 576">
                <a:extLst>
                  <a:ext uri="{FF2B5EF4-FFF2-40B4-BE49-F238E27FC236}">
                    <a16:creationId xmlns:a16="http://schemas.microsoft.com/office/drawing/2014/main" id="{449BBC1B-74C1-84D5-887B-E96705200D03}"/>
                  </a:ext>
                </a:extLst>
              </p:cNvPr>
              <p:cNvSpPr txBox="1"/>
              <p:nvPr/>
            </p:nvSpPr>
            <p:spPr>
              <a:xfrm>
                <a:off x="3189541" y="6107972"/>
                <a:ext cx="642663" cy="369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Conv 3X3 +</a:t>
                </a:r>
              </a:p>
              <a:p>
                <a:r>
                  <a:rPr lang="en-US" sz="600" dirty="0"/>
                  <a:t>BN+ </a:t>
                </a:r>
                <a:r>
                  <a:rPr lang="en-US" sz="600" dirty="0" err="1"/>
                  <a:t>ReLU</a:t>
                </a:r>
                <a:endParaRPr lang="en-US" sz="600" dirty="0"/>
              </a:p>
            </p:txBody>
          </p:sp>
        </p:grpSp>
        <p:grpSp>
          <p:nvGrpSpPr>
            <p:cNvPr id="578" name="Group 577">
              <a:extLst>
                <a:ext uri="{FF2B5EF4-FFF2-40B4-BE49-F238E27FC236}">
                  <a16:creationId xmlns:a16="http://schemas.microsoft.com/office/drawing/2014/main" id="{C9809D47-3FCB-5AFD-2462-BC5BBC22EB4E}"/>
                </a:ext>
              </a:extLst>
            </p:cNvPr>
            <p:cNvGrpSpPr/>
            <p:nvPr/>
          </p:nvGrpSpPr>
          <p:grpSpPr>
            <a:xfrm>
              <a:off x="5179727" y="6057582"/>
              <a:ext cx="357153" cy="461665"/>
              <a:chOff x="3189541" y="6107972"/>
              <a:chExt cx="642667" cy="369344"/>
            </a:xfrm>
          </p:grpSpPr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C1A5804B-4274-0BB1-B1B5-A69FCB488576}"/>
                  </a:ext>
                </a:extLst>
              </p:cNvPr>
              <p:cNvSpPr/>
              <p:nvPr/>
            </p:nvSpPr>
            <p:spPr>
              <a:xfrm>
                <a:off x="3237093" y="6127772"/>
                <a:ext cx="595115" cy="31609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7334C937-CADC-B276-D637-C4EB8A0431E3}"/>
                  </a:ext>
                </a:extLst>
              </p:cNvPr>
              <p:cNvSpPr txBox="1"/>
              <p:nvPr/>
            </p:nvSpPr>
            <p:spPr>
              <a:xfrm>
                <a:off x="3189541" y="6107972"/>
                <a:ext cx="642663" cy="369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Conv 3X3 +</a:t>
                </a:r>
              </a:p>
              <a:p>
                <a:r>
                  <a:rPr lang="en-US" sz="600" dirty="0"/>
                  <a:t>BN+ </a:t>
                </a:r>
                <a:r>
                  <a:rPr lang="en-US" sz="600" dirty="0" err="1"/>
                  <a:t>ReLU</a:t>
                </a:r>
                <a:endParaRPr lang="en-US" sz="600" dirty="0"/>
              </a:p>
            </p:txBody>
          </p:sp>
        </p:grpSp>
        <p:grpSp>
          <p:nvGrpSpPr>
            <p:cNvPr id="581" name="Group 580">
              <a:extLst>
                <a:ext uri="{FF2B5EF4-FFF2-40B4-BE49-F238E27FC236}">
                  <a16:creationId xmlns:a16="http://schemas.microsoft.com/office/drawing/2014/main" id="{29F02942-137D-3091-6691-108F785DF02B}"/>
                </a:ext>
              </a:extLst>
            </p:cNvPr>
            <p:cNvGrpSpPr/>
            <p:nvPr/>
          </p:nvGrpSpPr>
          <p:grpSpPr>
            <a:xfrm>
              <a:off x="5522893" y="6061225"/>
              <a:ext cx="357153" cy="461665"/>
              <a:chOff x="3189541" y="6107972"/>
              <a:chExt cx="642667" cy="369344"/>
            </a:xfrm>
          </p:grpSpPr>
          <p:sp>
            <p:nvSpPr>
              <p:cNvPr id="582" name="Rectangle 581">
                <a:extLst>
                  <a:ext uri="{FF2B5EF4-FFF2-40B4-BE49-F238E27FC236}">
                    <a16:creationId xmlns:a16="http://schemas.microsoft.com/office/drawing/2014/main" id="{617E80A9-8C78-8E8C-9CCA-C26BAC33C950}"/>
                  </a:ext>
                </a:extLst>
              </p:cNvPr>
              <p:cNvSpPr/>
              <p:nvPr/>
            </p:nvSpPr>
            <p:spPr>
              <a:xfrm>
                <a:off x="3237093" y="6127772"/>
                <a:ext cx="595115" cy="31609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D3C577DE-6D73-7100-0448-CDC90B428C99}"/>
                  </a:ext>
                </a:extLst>
              </p:cNvPr>
              <p:cNvSpPr txBox="1"/>
              <p:nvPr/>
            </p:nvSpPr>
            <p:spPr>
              <a:xfrm>
                <a:off x="3189541" y="6107972"/>
                <a:ext cx="642663" cy="369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Conv 3X3 +</a:t>
                </a:r>
              </a:p>
              <a:p>
                <a:r>
                  <a:rPr lang="en-US" sz="600" dirty="0"/>
                  <a:t>BN+ </a:t>
                </a:r>
                <a:r>
                  <a:rPr lang="en-US" sz="600" dirty="0" err="1"/>
                  <a:t>ReLU</a:t>
                </a:r>
                <a:endParaRPr lang="en-US" sz="600" dirty="0"/>
              </a:p>
            </p:txBody>
          </p:sp>
        </p:grp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0C2C1507-DA09-57DD-EE75-4015B40287B2}"/>
                </a:ext>
              </a:extLst>
            </p:cNvPr>
            <p:cNvGrpSpPr/>
            <p:nvPr/>
          </p:nvGrpSpPr>
          <p:grpSpPr>
            <a:xfrm>
              <a:off x="7304477" y="6078023"/>
              <a:ext cx="357153" cy="461665"/>
              <a:chOff x="3189541" y="6107972"/>
              <a:chExt cx="642667" cy="369344"/>
            </a:xfrm>
          </p:grpSpPr>
          <p:sp>
            <p:nvSpPr>
              <p:cNvPr id="585" name="Rectangle 584">
                <a:extLst>
                  <a:ext uri="{FF2B5EF4-FFF2-40B4-BE49-F238E27FC236}">
                    <a16:creationId xmlns:a16="http://schemas.microsoft.com/office/drawing/2014/main" id="{246623B7-9306-7531-DA6B-00EDA2982B7A}"/>
                  </a:ext>
                </a:extLst>
              </p:cNvPr>
              <p:cNvSpPr/>
              <p:nvPr/>
            </p:nvSpPr>
            <p:spPr>
              <a:xfrm>
                <a:off x="3237093" y="6127772"/>
                <a:ext cx="595115" cy="31609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6" name="TextBox 585">
                <a:extLst>
                  <a:ext uri="{FF2B5EF4-FFF2-40B4-BE49-F238E27FC236}">
                    <a16:creationId xmlns:a16="http://schemas.microsoft.com/office/drawing/2014/main" id="{FB1CAD44-A030-FB1F-BB8B-E80A7DF4AE83}"/>
                  </a:ext>
                </a:extLst>
              </p:cNvPr>
              <p:cNvSpPr txBox="1"/>
              <p:nvPr/>
            </p:nvSpPr>
            <p:spPr>
              <a:xfrm>
                <a:off x="3189541" y="6107972"/>
                <a:ext cx="642663" cy="369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Conv 3X3 +</a:t>
                </a:r>
              </a:p>
              <a:p>
                <a:r>
                  <a:rPr lang="en-US" sz="600" dirty="0"/>
                  <a:t>BN+ </a:t>
                </a:r>
                <a:r>
                  <a:rPr lang="en-US" sz="600" dirty="0" err="1"/>
                  <a:t>ReLU</a:t>
                </a:r>
                <a:endParaRPr lang="en-US" sz="600" dirty="0"/>
              </a:p>
            </p:txBody>
          </p:sp>
        </p:grpSp>
        <p:grpSp>
          <p:nvGrpSpPr>
            <p:cNvPr id="587" name="Group 586">
              <a:extLst>
                <a:ext uri="{FF2B5EF4-FFF2-40B4-BE49-F238E27FC236}">
                  <a16:creationId xmlns:a16="http://schemas.microsoft.com/office/drawing/2014/main" id="{866DE731-3DFD-B31F-D92C-B9F414F854B8}"/>
                </a:ext>
              </a:extLst>
            </p:cNvPr>
            <p:cNvGrpSpPr/>
            <p:nvPr/>
          </p:nvGrpSpPr>
          <p:grpSpPr>
            <a:xfrm>
              <a:off x="7649366" y="6079749"/>
              <a:ext cx="357153" cy="461665"/>
              <a:chOff x="3189541" y="6107972"/>
              <a:chExt cx="642667" cy="369344"/>
            </a:xfrm>
          </p:grpSpPr>
          <p:sp>
            <p:nvSpPr>
              <p:cNvPr id="588" name="Rectangle 587">
                <a:extLst>
                  <a:ext uri="{FF2B5EF4-FFF2-40B4-BE49-F238E27FC236}">
                    <a16:creationId xmlns:a16="http://schemas.microsoft.com/office/drawing/2014/main" id="{37BB6D6D-380F-7255-FB62-1E84BF90FC1B}"/>
                  </a:ext>
                </a:extLst>
              </p:cNvPr>
              <p:cNvSpPr/>
              <p:nvPr/>
            </p:nvSpPr>
            <p:spPr>
              <a:xfrm>
                <a:off x="3237093" y="6127772"/>
                <a:ext cx="595115" cy="31609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B9BC4DB3-F20B-3771-3DFF-E5F2C394FB58}"/>
                  </a:ext>
                </a:extLst>
              </p:cNvPr>
              <p:cNvSpPr txBox="1"/>
              <p:nvPr/>
            </p:nvSpPr>
            <p:spPr>
              <a:xfrm>
                <a:off x="3189541" y="6107972"/>
                <a:ext cx="642663" cy="369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Conv 3X3 +</a:t>
                </a:r>
              </a:p>
              <a:p>
                <a:r>
                  <a:rPr lang="en-US" sz="600" dirty="0"/>
                  <a:t>BN+ </a:t>
                </a:r>
                <a:r>
                  <a:rPr lang="en-US" sz="600" dirty="0" err="1"/>
                  <a:t>ReLU</a:t>
                </a:r>
                <a:endParaRPr lang="en-US" sz="600" dirty="0"/>
              </a:p>
            </p:txBody>
          </p: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311141B-FA5D-79A2-4E3A-9D499A74CC78}"/>
                </a:ext>
              </a:extLst>
            </p:cNvPr>
            <p:cNvSpPr/>
            <p:nvPr/>
          </p:nvSpPr>
          <p:spPr>
            <a:xfrm>
              <a:off x="334649" y="3062625"/>
              <a:ext cx="6488000" cy="187753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96660938-D1B7-40C7-9F14-724BA6DB2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7505211" y="4012203"/>
              <a:ext cx="884726" cy="238043"/>
            </a:xfrm>
            <a:prstGeom prst="rect">
              <a:avLst/>
            </a:prstGeom>
          </p:spPr>
        </p:pic>
        <p:pic>
          <p:nvPicPr>
            <p:cNvPr id="516" name="Picture 515">
              <a:extLst>
                <a:ext uri="{FF2B5EF4-FFF2-40B4-BE49-F238E27FC236}">
                  <a16:creationId xmlns:a16="http://schemas.microsoft.com/office/drawing/2014/main" id="{CFD4F3B6-2B58-F9E3-5931-8C2EE0769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8650006" y="1926109"/>
              <a:ext cx="2136238" cy="586361"/>
            </a:xfrm>
            <a:prstGeom prst="rect">
              <a:avLst/>
            </a:prstGeom>
          </p:spPr>
        </p:pic>
        <p:sp>
          <p:nvSpPr>
            <p:cNvPr id="518" name="Rectangle: Rounded Corners 517">
              <a:extLst>
                <a:ext uri="{FF2B5EF4-FFF2-40B4-BE49-F238E27FC236}">
                  <a16:creationId xmlns:a16="http://schemas.microsoft.com/office/drawing/2014/main" id="{FC4CE682-622B-8CB8-EF58-27404777095E}"/>
                </a:ext>
              </a:extLst>
            </p:cNvPr>
            <p:cNvSpPr/>
            <p:nvPr/>
          </p:nvSpPr>
          <p:spPr>
            <a:xfrm>
              <a:off x="8562975" y="1874909"/>
              <a:ext cx="2324100" cy="64801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446ECE4A-37BE-B0BC-858A-31FD0FF18EC0}"/>
                </a:ext>
              </a:extLst>
            </p:cNvPr>
            <p:cNvCxnSpPr>
              <a:cxnSpLocks/>
            </p:cNvCxnSpPr>
            <p:nvPr/>
          </p:nvCxnSpPr>
          <p:spPr>
            <a:xfrm>
              <a:off x="2032000" y="2310826"/>
              <a:ext cx="0" cy="1085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Arrow Connector 534">
              <a:extLst>
                <a:ext uri="{FF2B5EF4-FFF2-40B4-BE49-F238E27FC236}">
                  <a16:creationId xmlns:a16="http://schemas.microsoft.com/office/drawing/2014/main" id="{5175975D-A0FB-D1ED-5434-4AB34B674EE5}"/>
                </a:ext>
              </a:extLst>
            </p:cNvPr>
            <p:cNvCxnSpPr/>
            <p:nvPr/>
          </p:nvCxnSpPr>
          <p:spPr>
            <a:xfrm>
              <a:off x="2032000" y="2419350"/>
              <a:ext cx="65309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9605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A25D-EAE7-5D78-3C5B-129A73053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61" y="-173154"/>
            <a:ext cx="10515600" cy="1325563"/>
          </a:xfrm>
        </p:spPr>
        <p:txBody>
          <a:bodyPr/>
          <a:lstStyle/>
          <a:p>
            <a:r>
              <a:rPr lang="en-US" dirty="0"/>
              <a:t>Forensic Feature Extraction</a:t>
            </a:r>
          </a:p>
        </p:txBody>
      </p:sp>
      <p:sp>
        <p:nvSpPr>
          <p:cNvPr id="623" name="Rectangle: Rounded Corners 622">
            <a:extLst>
              <a:ext uri="{FF2B5EF4-FFF2-40B4-BE49-F238E27FC236}">
                <a16:creationId xmlns:a16="http://schemas.microsoft.com/office/drawing/2014/main" id="{6E6261A3-62FE-FBFC-14C9-4A48B52FF009}"/>
              </a:ext>
            </a:extLst>
          </p:cNvPr>
          <p:cNvSpPr/>
          <p:nvPr/>
        </p:nvSpPr>
        <p:spPr>
          <a:xfrm>
            <a:off x="261257" y="203200"/>
            <a:ext cx="6168557" cy="580567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040A46-ABAD-F4D0-7D4B-B957BF2F18F8}"/>
              </a:ext>
            </a:extLst>
          </p:cNvPr>
          <p:cNvGrpSpPr/>
          <p:nvPr/>
        </p:nvGrpSpPr>
        <p:grpSpPr>
          <a:xfrm>
            <a:off x="0" y="783767"/>
            <a:ext cx="12192000" cy="6074233"/>
            <a:chOff x="0" y="783767"/>
            <a:chExt cx="12192000" cy="607423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003AEB-A12E-4379-CE3F-936DDE0183EA}"/>
                </a:ext>
              </a:extLst>
            </p:cNvPr>
            <p:cNvSpPr/>
            <p:nvPr/>
          </p:nvSpPr>
          <p:spPr>
            <a:xfrm>
              <a:off x="224061" y="4172027"/>
              <a:ext cx="9635198" cy="25080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4F322CA-A896-5054-A328-B28A7CAEBEB0}"/>
                </a:ext>
              </a:extLst>
            </p:cNvPr>
            <p:cNvGrpSpPr/>
            <p:nvPr/>
          </p:nvGrpSpPr>
          <p:grpSpPr>
            <a:xfrm>
              <a:off x="2229358" y="4562959"/>
              <a:ext cx="2507314" cy="1965001"/>
              <a:chOff x="2278505" y="4244404"/>
              <a:chExt cx="2683239" cy="203338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E9DF9C2-656D-5265-AB22-6F8B7A707093}"/>
                  </a:ext>
                </a:extLst>
              </p:cNvPr>
              <p:cNvSpPr/>
              <p:nvPr/>
            </p:nvSpPr>
            <p:spPr>
              <a:xfrm>
                <a:off x="2278505" y="4302177"/>
                <a:ext cx="2683239" cy="19637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1E3D3E0-2E1E-C355-40E3-6D43514F1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28441" y="5017050"/>
                <a:ext cx="2400300" cy="1028700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5AE369-461E-4360-83B5-16EEFBBC2DE2}"/>
                  </a:ext>
                </a:extLst>
              </p:cNvPr>
              <p:cNvSpPr txBox="1"/>
              <p:nvPr/>
            </p:nvSpPr>
            <p:spPr>
              <a:xfrm>
                <a:off x="2470403" y="4244404"/>
                <a:ext cx="2358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SRM Filters (fixed, 5X5)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6BB907-2D24-8524-652B-4D64DE20AE96}"/>
                  </a:ext>
                </a:extLst>
              </p:cNvPr>
              <p:cNvSpPr txBox="1"/>
              <p:nvPr/>
            </p:nvSpPr>
            <p:spPr>
              <a:xfrm>
                <a:off x="2649810" y="6000785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/12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065CB7-27C6-1B7E-FA30-81380DBEBD93}"/>
                  </a:ext>
                </a:extLst>
              </p:cNvPr>
              <p:cNvSpPr txBox="1"/>
              <p:nvPr/>
            </p:nvSpPr>
            <p:spPr>
              <a:xfrm>
                <a:off x="3460046" y="6000785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/12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4FC4F3-D4AC-82D4-A752-D8B63FBD0CDF}"/>
                  </a:ext>
                </a:extLst>
              </p:cNvPr>
              <p:cNvSpPr txBox="1"/>
              <p:nvPr/>
            </p:nvSpPr>
            <p:spPr>
              <a:xfrm>
                <a:off x="4308141" y="5988890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/12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B98E8C-926F-7BF6-5C0F-53961D9F8A29}"/>
                  </a:ext>
                </a:extLst>
              </p:cNvPr>
              <p:cNvSpPr txBox="1"/>
              <p:nvPr/>
            </p:nvSpPr>
            <p:spPr>
              <a:xfrm>
                <a:off x="2316364" y="4671509"/>
                <a:ext cx="9108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Second order </a:t>
                </a:r>
              </a:p>
              <a:p>
                <a:r>
                  <a:rPr lang="en-US" sz="1000" dirty="0"/>
                  <a:t>derivative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4E4859-64D1-B11C-4812-4525AC28FFA4}"/>
                  </a:ext>
                </a:extLst>
              </p:cNvPr>
              <p:cNvSpPr txBox="1"/>
              <p:nvPr/>
            </p:nvSpPr>
            <p:spPr>
              <a:xfrm>
                <a:off x="3200093" y="4659614"/>
                <a:ext cx="7537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Horizontal </a:t>
                </a:r>
              </a:p>
              <a:p>
                <a:r>
                  <a:rPr lang="en-US" sz="1000" dirty="0"/>
                  <a:t>High-Pass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DE83EF-1F09-8635-57B4-B1D25A558B48}"/>
                  </a:ext>
                </a:extLst>
              </p:cNvPr>
              <p:cNvSpPr txBox="1"/>
              <p:nvPr/>
            </p:nvSpPr>
            <p:spPr>
              <a:xfrm>
                <a:off x="4042469" y="4715221"/>
                <a:ext cx="69762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Laplacian 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1C3CDE5-3654-96E5-9924-45981E0022F0}"/>
                  </a:ext>
                </a:extLst>
              </p:cNvPr>
              <p:cNvSpPr txBox="1"/>
              <p:nvPr/>
            </p:nvSpPr>
            <p:spPr>
              <a:xfrm>
                <a:off x="2591356" y="4408505"/>
                <a:ext cx="333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518C30D-CCC8-82C6-C6EE-4E7BE0D0EA77}"/>
                  </a:ext>
                </a:extLst>
              </p:cNvPr>
              <p:cNvSpPr txBox="1"/>
              <p:nvPr/>
            </p:nvSpPr>
            <p:spPr>
              <a:xfrm>
                <a:off x="3410086" y="4428137"/>
                <a:ext cx="333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912918-4CD0-20A7-DDC8-B4F57AA385EA}"/>
                  </a:ext>
                </a:extLst>
              </p:cNvPr>
              <p:cNvSpPr txBox="1"/>
              <p:nvPr/>
            </p:nvSpPr>
            <p:spPr>
              <a:xfrm>
                <a:off x="4174931" y="4440956"/>
                <a:ext cx="333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</a:t>
                </a:r>
                <a:r>
                  <a:rPr lang="en-US" baseline="-25000" dirty="0"/>
                  <a:t>3</a:t>
                </a: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383520A8-95F2-9C2C-5EAD-414EA20F61C3}"/>
                </a:ext>
              </a:extLst>
            </p:cNvPr>
            <p:cNvGrpSpPr/>
            <p:nvPr/>
          </p:nvGrpSpPr>
          <p:grpSpPr>
            <a:xfrm>
              <a:off x="998171" y="4738611"/>
              <a:ext cx="1217000" cy="1224449"/>
              <a:chOff x="1155157" y="4458914"/>
              <a:chExt cx="1217000" cy="1224449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40C48DD-9CDE-4E37-52D8-C5B1456DA3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4764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65875" y="4916816"/>
                <a:ext cx="669782" cy="766547"/>
              </a:xfrm>
              <a:prstGeom prst="rect">
                <a:avLst/>
              </a:prstGeom>
              <a:ln w="19050">
                <a:solidFill>
                  <a:schemeClr val="accent1">
                    <a:shade val="15000"/>
                  </a:schemeClr>
                </a:solidFill>
              </a:ln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952964B-AF85-AA68-8815-1EEA5746024B}"/>
                  </a:ext>
                </a:extLst>
              </p:cNvPr>
              <p:cNvSpPr txBox="1"/>
              <p:nvPr/>
            </p:nvSpPr>
            <p:spPr>
              <a:xfrm>
                <a:off x="1155157" y="4458914"/>
                <a:ext cx="12170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Luminance (Y)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D22336-A8EB-D9B0-4DCB-DD746FBEFD07}"/>
                  </a:ext>
                </a:extLst>
              </p:cNvPr>
              <p:cNvSpPr txBox="1"/>
              <p:nvPr/>
            </p:nvSpPr>
            <p:spPr>
              <a:xfrm>
                <a:off x="1391811" y="4611075"/>
                <a:ext cx="73930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Grayscale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26E0D8D-08AF-DC57-2404-02BE13425397}"/>
                </a:ext>
              </a:extLst>
            </p:cNvPr>
            <p:cNvGrpSpPr/>
            <p:nvPr/>
          </p:nvGrpSpPr>
          <p:grpSpPr>
            <a:xfrm>
              <a:off x="223277" y="4759408"/>
              <a:ext cx="876095" cy="1216231"/>
              <a:chOff x="409078" y="4467132"/>
              <a:chExt cx="876095" cy="1216231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3B8EC016-2795-DF66-C652-1B8ADAC01713}"/>
                  </a:ext>
                </a:extLst>
              </p:cNvPr>
              <p:cNvGrpSpPr/>
              <p:nvPr/>
            </p:nvGrpSpPr>
            <p:grpSpPr>
              <a:xfrm>
                <a:off x="409078" y="4467132"/>
                <a:ext cx="866456" cy="1216231"/>
                <a:chOff x="409078" y="4467132"/>
                <a:chExt cx="866456" cy="1216231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54D4B59F-04DA-5580-4FB5-388E67162F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309" y="4916816"/>
                  <a:ext cx="669782" cy="766547"/>
                </a:xfrm>
                <a:prstGeom prst="rect">
                  <a:avLst/>
                </a:prstGeom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</p:pic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3D35EAB-0FB1-9177-DA3B-72B5B23F08A3}"/>
                    </a:ext>
                  </a:extLst>
                </p:cNvPr>
                <p:cNvSpPr txBox="1"/>
                <p:nvPr/>
              </p:nvSpPr>
              <p:spPr>
                <a:xfrm>
                  <a:off x="409078" y="4467132"/>
                  <a:ext cx="86645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RGB Image</a:t>
                  </a:r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E7E402-4BA3-FDE5-4303-568CC15606AA}"/>
                  </a:ext>
                </a:extLst>
              </p:cNvPr>
              <p:cNvSpPr txBox="1"/>
              <p:nvPr/>
            </p:nvSpPr>
            <p:spPr>
              <a:xfrm>
                <a:off x="428848" y="4626786"/>
                <a:ext cx="85632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(3X256X256)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C4EC196-AC9F-7E95-B62A-1D403D1207D4}"/>
                </a:ext>
              </a:extLst>
            </p:cNvPr>
            <p:cNvGrpSpPr/>
            <p:nvPr/>
          </p:nvGrpSpPr>
          <p:grpSpPr>
            <a:xfrm>
              <a:off x="4939070" y="5091548"/>
              <a:ext cx="1029565" cy="817743"/>
              <a:chOff x="5290486" y="4651797"/>
              <a:chExt cx="1151514" cy="1132014"/>
            </a:xfrm>
          </p:grpSpPr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7FDB5E8F-E9B2-CEE9-201F-68333CE3D23C}"/>
                  </a:ext>
                </a:extLst>
              </p:cNvPr>
              <p:cNvSpPr/>
              <p:nvPr/>
            </p:nvSpPr>
            <p:spPr>
              <a:xfrm>
                <a:off x="5290486" y="4651798"/>
                <a:ext cx="404735" cy="1132013"/>
              </a:xfrm>
              <a:prstGeom prst="cube">
                <a:avLst>
                  <a:gd name="adj" fmla="val 5431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17F9797D-CDA8-AC26-59D9-B7EDD94E6D70}"/>
                  </a:ext>
                </a:extLst>
              </p:cNvPr>
              <p:cNvSpPr/>
              <p:nvPr/>
            </p:nvSpPr>
            <p:spPr>
              <a:xfrm>
                <a:off x="5684215" y="4651797"/>
                <a:ext cx="404735" cy="1132013"/>
              </a:xfrm>
              <a:prstGeom prst="cube">
                <a:avLst>
                  <a:gd name="adj" fmla="val 5431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5B50D31D-6BB8-5504-0A3C-346D3EACE6D6}"/>
                  </a:ext>
                </a:extLst>
              </p:cNvPr>
              <p:cNvSpPr/>
              <p:nvPr/>
            </p:nvSpPr>
            <p:spPr>
              <a:xfrm>
                <a:off x="6037265" y="4651797"/>
                <a:ext cx="404735" cy="1132013"/>
              </a:xfrm>
              <a:prstGeom prst="cube">
                <a:avLst>
                  <a:gd name="adj" fmla="val 5431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1A1832F3-539B-B1C6-0769-61ADDA3457EC}"/>
                </a:ext>
              </a:extLst>
            </p:cNvPr>
            <p:cNvGrpSpPr/>
            <p:nvPr/>
          </p:nvGrpSpPr>
          <p:grpSpPr>
            <a:xfrm>
              <a:off x="6154792" y="4987935"/>
              <a:ext cx="751643" cy="905484"/>
              <a:chOff x="6141738" y="4679188"/>
              <a:chExt cx="751643" cy="905484"/>
            </a:xfrm>
          </p:grpSpPr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BC9EA93E-892C-4F27-EA3A-1B9575790FEA}"/>
                  </a:ext>
                </a:extLst>
              </p:cNvPr>
              <p:cNvSpPr/>
              <p:nvPr/>
            </p:nvSpPr>
            <p:spPr>
              <a:xfrm>
                <a:off x="6141738" y="4684671"/>
                <a:ext cx="751643" cy="900001"/>
              </a:xfrm>
              <a:prstGeom prst="cube">
                <a:avLst>
                  <a:gd name="adj" fmla="val 35875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A7028956-038A-B18F-0866-B0F5752608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078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9D84F32A-45DB-7D7D-3255-E6DDD1915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984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7E8A8CC0-08A2-8B8D-6636-B5DADB56C3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890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2580721E-B7F2-2CB7-BA50-8259D6F1C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034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F9C46E3B-CE2F-90F6-CF45-F9C3793D58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065843"/>
                <a:ext cx="477254" cy="54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C18376DC-F44A-567D-6F28-E070F24F0A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198325"/>
                <a:ext cx="4648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E9971128-668F-5308-3138-8D92CF669D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294930"/>
                <a:ext cx="4648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8BAA7EC9-B9C9-1F41-D7CB-0C034946BF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41738" y="5426925"/>
                <a:ext cx="477254" cy="18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EA7F7FB9-E63D-C028-C465-DB0C0AB8C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4" y="4830278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76448DB4-7DA9-13CC-6C71-8D5FC8DE55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4" y="4950802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1AA96113-C1DE-587E-BDE2-13E6E156D7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3" y="5057270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6490DE0B-6A75-3790-F9EF-9A3DE781F5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2" y="5187746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2DADF79B-4C82-406C-F594-28607345E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1770" y="4867046"/>
                <a:ext cx="0" cy="641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9D5002C9-A37A-9409-8F1A-63AB680BA8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1405" y="4801809"/>
                <a:ext cx="0" cy="641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2307CB91-6AD0-A030-A4B1-D6F502A22B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0357" y="4746041"/>
                <a:ext cx="0" cy="641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9B86B1EA-2FBF-B70C-E715-2A3D632980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30340" y="4680596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F6316FAA-BF35-B870-F9C4-BB1076DA38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42597" y="4679188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6CC0544B-D9CE-33A2-CCA6-CA41FE39C5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35113" y="4686591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6574C520-F56E-5801-2BCC-AB0A67489E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38976" y="4680338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5ABA74D6-E9B5-E45B-DF6F-C1AE02279E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38064" y="4877998"/>
                <a:ext cx="470318" cy="339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CE30EDDF-EFE8-FC65-9558-36E7263E6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07879" y="4794468"/>
                <a:ext cx="457894" cy="126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CCD88BE1-A361-D565-4F06-DAFE0B7BDE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67376" y="4729315"/>
                <a:ext cx="462083" cy="168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F0C11D8C-D314-DF9B-6750-045354C461C0}"/>
                </a:ext>
              </a:extLst>
            </p:cNvPr>
            <p:cNvSpPr/>
            <p:nvPr/>
          </p:nvSpPr>
          <p:spPr>
            <a:xfrm>
              <a:off x="7176460" y="5222757"/>
              <a:ext cx="437807" cy="34484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6458389E-8A42-FC7B-0BA6-8449909B483E}"/>
                </a:ext>
              </a:extLst>
            </p:cNvPr>
            <p:cNvSpPr/>
            <p:nvPr/>
          </p:nvSpPr>
          <p:spPr>
            <a:xfrm>
              <a:off x="8843388" y="5138453"/>
              <a:ext cx="532075" cy="42914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14F0E8D4-0727-26C6-802F-6D73A5F7D4E3}"/>
                </a:ext>
              </a:extLst>
            </p:cNvPr>
            <p:cNvGrpSpPr/>
            <p:nvPr/>
          </p:nvGrpSpPr>
          <p:grpSpPr>
            <a:xfrm>
              <a:off x="7855408" y="4909614"/>
              <a:ext cx="751643" cy="905484"/>
              <a:chOff x="6141738" y="4679188"/>
              <a:chExt cx="751643" cy="905484"/>
            </a:xfrm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361C97A1-FF9A-B16B-9D1E-6705B3DED801}"/>
                  </a:ext>
                </a:extLst>
              </p:cNvPr>
              <p:cNvSpPr/>
              <p:nvPr/>
            </p:nvSpPr>
            <p:spPr>
              <a:xfrm>
                <a:off x="6141738" y="4684671"/>
                <a:ext cx="751643" cy="900001"/>
              </a:xfrm>
              <a:prstGeom prst="cube">
                <a:avLst>
                  <a:gd name="adj" fmla="val 35875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73EF6A5A-EE0E-CA7D-F086-4EE1B1F9D6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078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9FF9D323-7A70-89D8-51A5-824105AD69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984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106E3E1E-9C3E-2277-01BE-919EEDBE0A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890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AF7B7648-4E2E-6AE7-1A90-A9D1925C9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034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528B5E9-228F-2938-64A0-FB03309430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071326"/>
                <a:ext cx="47725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2FE5E5EF-F256-8814-CA52-ED0936647B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198325"/>
                <a:ext cx="4648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35AFACC7-38D1-1FDB-EDC0-018E8F4B57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294930"/>
                <a:ext cx="4648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8DD772F1-88B8-5E88-5131-ABD63A5049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426925"/>
                <a:ext cx="47725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BA4B2C21-7087-305A-0E5A-F0B9347A06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4" y="4830278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2F0F9D87-9125-4AC3-FB92-8F71B1E279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4" y="4950802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40E660CD-067E-B756-3C12-525D47EB37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3" y="5057270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711397C3-5754-CF2B-012A-B9DD3F052A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2" y="5187746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E68681D7-6497-82AC-9A10-D2725BD72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1770" y="4867046"/>
                <a:ext cx="0" cy="641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9B202EAC-2DE2-1579-6254-76CCDB3268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1405" y="4801809"/>
                <a:ext cx="0" cy="641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4CE771E2-3458-12DC-A37F-89B056B3D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0357" y="4746041"/>
                <a:ext cx="0" cy="641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275F7E4A-CE29-E64F-9AC0-B6E4F9AD98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30340" y="4680596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F5E6B316-2D81-3270-11CF-A1E94D17F8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42597" y="4679188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819E8BAA-69FD-0DC3-A4FD-B556FBBE29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35113" y="4686591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6C5EDC26-2139-9160-C238-08AC9CA298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38976" y="4680338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27E9A8A3-6F56-9D5E-7C8D-33EDCAE6F7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38064" y="4877998"/>
                <a:ext cx="470318" cy="339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2CC7434-728A-6707-94CE-25A8179CEB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07879" y="4794468"/>
                <a:ext cx="457894" cy="126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58B84EF0-DFFE-C90D-FD03-AFA02D7A1B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67376" y="4729315"/>
                <a:ext cx="462083" cy="168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13590701-95F0-CBFF-85B7-C30DDAE4C25A}"/>
                </a:ext>
              </a:extLst>
            </p:cNvPr>
            <p:cNvGrpSpPr/>
            <p:nvPr/>
          </p:nvGrpSpPr>
          <p:grpSpPr>
            <a:xfrm>
              <a:off x="8844761" y="5887137"/>
              <a:ext cx="469257" cy="387660"/>
              <a:chOff x="8799061" y="4921715"/>
              <a:chExt cx="469257" cy="387660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DA1FD0A8-90E4-DCB7-64E8-9964CACFFFDC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</p:grpSpPr>
            <p:sp>
              <p:nvSpPr>
                <p:cNvPr id="234" name="Cube 233">
                  <a:extLst>
                    <a:ext uri="{FF2B5EF4-FFF2-40B4-BE49-F238E27FC236}">
                      <a16:creationId xmlns:a16="http://schemas.microsoft.com/office/drawing/2014/main" id="{22F6B37B-C1A4-8E1C-EF53-CF23F591BD0D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5A8966FE-1D66-269D-78C2-07B7F2342C1A}"/>
                    </a:ext>
                  </a:extLst>
                </p:cNvPr>
                <p:cNvCxnSpPr>
                  <a:stCxn id="234" idx="2"/>
                  <a:endCxn id="234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7BD363BB-CF9B-EA00-0B78-849B6B22221B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1DA3F76D-6AAE-990E-B8EF-A9C43F3CACEC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60C89FCA-A28B-AC15-BB4C-5D2E5C7C81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D32A7D01-D702-2CC6-DB1B-4C766993DD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8D1CD4E9-3AD7-C6BC-71F2-A2AB8F9E44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08663AF6-7FD8-2106-62AA-294F74091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5611CDC5-FA58-EF44-E411-813FD2563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4A9456D5-2182-6D39-1BED-D9CA96C2FD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AC47BB52-D5B1-0438-AFDD-E86E622978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34376A6E-7107-CD34-F5CE-910773F7C0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F8298CB4-4AE4-E580-6A0E-B55640BBA830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7BC9275B-CE84-4868-989F-F6BDC4A6F309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AC21C815-DF2E-0BD8-14E3-0D3F9FBA67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AEFBA12E-16A5-D867-14FF-8D01AB3DD3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E9A7D9B3-A809-FB35-6DAE-76083536D1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6DDD3312-FAEF-4F40-BF9D-6F60C0CA22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4814B6D7-788C-F972-3409-33CEF64A09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2" name="Straight Arrow Connector 301">
              <a:extLst>
                <a:ext uri="{FF2B5EF4-FFF2-40B4-BE49-F238E27FC236}">
                  <a16:creationId xmlns:a16="http://schemas.microsoft.com/office/drawing/2014/main" id="{54211CFC-FB9D-D134-3F7D-79A359594AB4}"/>
                </a:ext>
              </a:extLst>
            </p:cNvPr>
            <p:cNvCxnSpPr>
              <a:cxnSpLocks/>
            </p:cNvCxnSpPr>
            <p:nvPr/>
          </p:nvCxnSpPr>
          <p:spPr>
            <a:xfrm>
              <a:off x="996179" y="5561149"/>
              <a:ext cx="3127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Arrow Connector 303">
              <a:extLst>
                <a:ext uri="{FF2B5EF4-FFF2-40B4-BE49-F238E27FC236}">
                  <a16:creationId xmlns:a16="http://schemas.microsoft.com/office/drawing/2014/main" id="{125378C7-C38A-3ABB-8B53-AA7CB09F2F1E}"/>
                </a:ext>
              </a:extLst>
            </p:cNvPr>
            <p:cNvCxnSpPr>
              <a:cxnSpLocks/>
            </p:cNvCxnSpPr>
            <p:nvPr/>
          </p:nvCxnSpPr>
          <p:spPr>
            <a:xfrm>
              <a:off x="1902461" y="5552306"/>
              <a:ext cx="3127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96688F47-50C0-7D4C-85C1-C33007DF4FDC}"/>
                </a:ext>
              </a:extLst>
            </p:cNvPr>
            <p:cNvCxnSpPr>
              <a:cxnSpLocks/>
            </p:cNvCxnSpPr>
            <p:nvPr/>
          </p:nvCxnSpPr>
          <p:spPr>
            <a:xfrm>
              <a:off x="4709041" y="5551771"/>
              <a:ext cx="2300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Arrow Connector 309">
              <a:extLst>
                <a:ext uri="{FF2B5EF4-FFF2-40B4-BE49-F238E27FC236}">
                  <a16:creationId xmlns:a16="http://schemas.microsoft.com/office/drawing/2014/main" id="{DBAF3971-801E-CC08-9EE2-4CBB341B6DBF}"/>
                </a:ext>
              </a:extLst>
            </p:cNvPr>
            <p:cNvCxnSpPr>
              <a:cxnSpLocks/>
              <a:endCxn id="98" idx="2"/>
            </p:cNvCxnSpPr>
            <p:nvPr/>
          </p:nvCxnSpPr>
          <p:spPr>
            <a:xfrm flipV="1">
              <a:off x="5924531" y="5578244"/>
              <a:ext cx="230261" cy="190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Arrow Connector 310">
              <a:extLst>
                <a:ext uri="{FF2B5EF4-FFF2-40B4-BE49-F238E27FC236}">
                  <a16:creationId xmlns:a16="http://schemas.microsoft.com/office/drawing/2014/main" id="{98608658-F680-FE9A-EB2B-8C37D8AAFB13}"/>
                </a:ext>
              </a:extLst>
            </p:cNvPr>
            <p:cNvCxnSpPr>
              <a:cxnSpLocks/>
              <a:endCxn id="195" idx="1"/>
            </p:cNvCxnSpPr>
            <p:nvPr/>
          </p:nvCxnSpPr>
          <p:spPr>
            <a:xfrm>
              <a:off x="6932249" y="5388809"/>
              <a:ext cx="244211" cy="63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Arrow Connector 315">
              <a:extLst>
                <a:ext uri="{FF2B5EF4-FFF2-40B4-BE49-F238E27FC236}">
                  <a16:creationId xmlns:a16="http://schemas.microsoft.com/office/drawing/2014/main" id="{B639765F-DC85-B68B-006F-5D8208CD4DD7}"/>
                </a:ext>
              </a:extLst>
            </p:cNvPr>
            <p:cNvCxnSpPr>
              <a:cxnSpLocks/>
              <a:stCxn id="195" idx="3"/>
            </p:cNvCxnSpPr>
            <p:nvPr/>
          </p:nvCxnSpPr>
          <p:spPr>
            <a:xfrm flipV="1">
              <a:off x="7614267" y="5388809"/>
              <a:ext cx="244211" cy="63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8C1D2056-94EA-F34A-A259-FC44084A1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9177" y="5395178"/>
              <a:ext cx="244211" cy="63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Arrow Connector 321">
              <a:extLst>
                <a:ext uri="{FF2B5EF4-FFF2-40B4-BE49-F238E27FC236}">
                  <a16:creationId xmlns:a16="http://schemas.microsoft.com/office/drawing/2014/main" id="{C386F59E-13A1-D96B-3A64-D1C379E1CD4C}"/>
                </a:ext>
              </a:extLst>
            </p:cNvPr>
            <p:cNvCxnSpPr>
              <a:cxnSpLocks/>
            </p:cNvCxnSpPr>
            <p:nvPr/>
          </p:nvCxnSpPr>
          <p:spPr>
            <a:xfrm>
              <a:off x="9058938" y="5578244"/>
              <a:ext cx="0" cy="328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Arrow Connector 323">
              <a:extLst>
                <a:ext uri="{FF2B5EF4-FFF2-40B4-BE49-F238E27FC236}">
                  <a16:creationId xmlns:a16="http://schemas.microsoft.com/office/drawing/2014/main" id="{58ACD0B2-147F-80F5-848B-0BB552F805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1195" y="6041064"/>
              <a:ext cx="244211" cy="63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172F5E47-BCB2-BB98-2406-56E3023396C3}"/>
                </a:ext>
              </a:extLst>
            </p:cNvPr>
            <p:cNvSpPr txBox="1"/>
            <p:nvPr/>
          </p:nvSpPr>
          <p:spPr>
            <a:xfrm>
              <a:off x="347561" y="4209394"/>
              <a:ext cx="28371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(B) FORENSIC NOISE STREAM (SRM)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3159BF3-C531-6F57-C3FD-C1AE34FDC5F8}"/>
                </a:ext>
              </a:extLst>
            </p:cNvPr>
            <p:cNvSpPr/>
            <p:nvPr/>
          </p:nvSpPr>
          <p:spPr>
            <a:xfrm>
              <a:off x="204425" y="880076"/>
              <a:ext cx="9635198" cy="22608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D0053F35-DBE5-7E0D-6BED-2BB2354477C6}"/>
                </a:ext>
              </a:extLst>
            </p:cNvPr>
            <p:cNvGrpSpPr/>
            <p:nvPr/>
          </p:nvGrpSpPr>
          <p:grpSpPr>
            <a:xfrm>
              <a:off x="231182" y="1463959"/>
              <a:ext cx="866456" cy="1217016"/>
              <a:chOff x="436619" y="4466347"/>
              <a:chExt cx="866456" cy="1217016"/>
            </a:xfrm>
          </p:grpSpPr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BDE5A30C-8796-FCA9-88ED-E5474618FEAF}"/>
                  </a:ext>
                </a:extLst>
              </p:cNvPr>
              <p:cNvGrpSpPr/>
              <p:nvPr/>
            </p:nvGrpSpPr>
            <p:grpSpPr>
              <a:xfrm>
                <a:off x="436619" y="4466347"/>
                <a:ext cx="866456" cy="1217016"/>
                <a:chOff x="436619" y="4466347"/>
                <a:chExt cx="866456" cy="1217016"/>
              </a:xfrm>
            </p:grpSpPr>
            <p:pic>
              <p:nvPicPr>
                <p:cNvPr id="328" name="Picture 327">
                  <a:extLst>
                    <a:ext uri="{FF2B5EF4-FFF2-40B4-BE49-F238E27FC236}">
                      <a16:creationId xmlns:a16="http://schemas.microsoft.com/office/drawing/2014/main" id="{300BC48D-DA3F-35AA-E7F4-A5C6B142DA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309" y="4916816"/>
                  <a:ext cx="669782" cy="766547"/>
                </a:xfrm>
                <a:prstGeom prst="rect">
                  <a:avLst/>
                </a:prstGeom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</p:pic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635E5786-76AD-342C-D27D-8D10ACE3BBDA}"/>
                    </a:ext>
                  </a:extLst>
                </p:cNvPr>
                <p:cNvSpPr txBox="1"/>
                <p:nvPr/>
              </p:nvSpPr>
              <p:spPr>
                <a:xfrm>
                  <a:off x="436619" y="4466347"/>
                  <a:ext cx="86645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RGB Image</a:t>
                  </a:r>
                </a:p>
              </p:txBody>
            </p:sp>
          </p:grp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428F7D61-3BD8-AA8A-7B50-AF03DC42A481}"/>
                  </a:ext>
                </a:extLst>
              </p:cNvPr>
              <p:cNvSpPr txBox="1"/>
              <p:nvPr/>
            </p:nvSpPr>
            <p:spPr>
              <a:xfrm>
                <a:off x="445420" y="4676455"/>
                <a:ext cx="85632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(3X256X256)</a:t>
                </a:r>
              </a:p>
            </p:txBody>
          </p:sp>
        </p:grp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96A90872-E693-C1C2-58A2-EF9DEA67C177}"/>
                </a:ext>
              </a:extLst>
            </p:cNvPr>
            <p:cNvSpPr/>
            <p:nvPr/>
          </p:nvSpPr>
          <p:spPr>
            <a:xfrm>
              <a:off x="1362956" y="1500859"/>
              <a:ext cx="535627" cy="1157963"/>
            </a:xfrm>
            <a:prstGeom prst="cube">
              <a:avLst>
                <a:gd name="adj" fmla="val 54310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F5813EC9-A4F0-3063-7CE2-49CD8902BF22}"/>
                </a:ext>
              </a:extLst>
            </p:cNvPr>
            <p:cNvSpPr/>
            <p:nvPr/>
          </p:nvSpPr>
          <p:spPr>
            <a:xfrm>
              <a:off x="2211294" y="1602459"/>
              <a:ext cx="419141" cy="867678"/>
            </a:xfrm>
            <a:prstGeom prst="cube">
              <a:avLst>
                <a:gd name="adj" fmla="val 54310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2377B8F7-B755-065E-5AF4-27D71DA1E185}"/>
                </a:ext>
              </a:extLst>
            </p:cNvPr>
            <p:cNvSpPr/>
            <p:nvPr/>
          </p:nvSpPr>
          <p:spPr>
            <a:xfrm>
              <a:off x="2914299" y="1500859"/>
              <a:ext cx="535627" cy="1157963"/>
            </a:xfrm>
            <a:prstGeom prst="cube">
              <a:avLst>
                <a:gd name="adj" fmla="val 54310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61FEAF7D-3EE3-652F-2AB2-ED5E2FB9942D}"/>
                </a:ext>
              </a:extLst>
            </p:cNvPr>
            <p:cNvSpPr/>
            <p:nvPr/>
          </p:nvSpPr>
          <p:spPr>
            <a:xfrm>
              <a:off x="3715315" y="1500859"/>
              <a:ext cx="535627" cy="1157963"/>
            </a:xfrm>
            <a:prstGeom prst="cube">
              <a:avLst>
                <a:gd name="adj" fmla="val 54310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0" name="Rectangle: Rounded Corners 339">
              <a:extLst>
                <a:ext uri="{FF2B5EF4-FFF2-40B4-BE49-F238E27FC236}">
                  <a16:creationId xmlns:a16="http://schemas.microsoft.com/office/drawing/2014/main" id="{87BE6333-FEF3-383E-B811-3414ED72A783}"/>
                </a:ext>
              </a:extLst>
            </p:cNvPr>
            <p:cNvSpPr/>
            <p:nvPr/>
          </p:nvSpPr>
          <p:spPr>
            <a:xfrm>
              <a:off x="4607876" y="1602459"/>
              <a:ext cx="828295" cy="71264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4D015AB1-7B4E-EBB0-66BA-4B7DC09167A1}"/>
                </a:ext>
              </a:extLst>
            </p:cNvPr>
            <p:cNvGrpSpPr/>
            <p:nvPr/>
          </p:nvGrpSpPr>
          <p:grpSpPr>
            <a:xfrm>
              <a:off x="5888254" y="1579887"/>
              <a:ext cx="751643" cy="905484"/>
              <a:chOff x="6141738" y="4679188"/>
              <a:chExt cx="751643" cy="905484"/>
            </a:xfrm>
          </p:grpSpPr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3EB8751A-D221-C55F-7BD3-AC95BBCD25A7}"/>
                  </a:ext>
                </a:extLst>
              </p:cNvPr>
              <p:cNvSpPr/>
              <p:nvPr/>
            </p:nvSpPr>
            <p:spPr>
              <a:xfrm>
                <a:off x="6141738" y="4684671"/>
                <a:ext cx="751643" cy="900001"/>
              </a:xfrm>
              <a:prstGeom prst="cube">
                <a:avLst>
                  <a:gd name="adj" fmla="val 35875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60680DE7-FD35-E514-630B-077B7C22DC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078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DB3A7E78-7FFA-AFC6-CBE1-1327012C9E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984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7DCC1C06-3254-E040-73B2-843BEB61F1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890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DEAA6792-8231-070D-95FE-10DB62FA33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0340" y="4944601"/>
                <a:ext cx="0" cy="640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041247FD-36C1-53C3-A749-2E19A9E59B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071326"/>
                <a:ext cx="47725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3C3ECA9E-864E-5062-0FB2-DFB2AE7820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198325"/>
                <a:ext cx="4648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FC3F9680-A573-9EB2-FBDF-F608507600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294930"/>
                <a:ext cx="4648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133B5CCD-AA22-9D58-F072-9E53A7847C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738" y="5426925"/>
                <a:ext cx="47725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1E014EBD-139E-E01C-944F-713F211B2E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4" y="4830278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D1D8E389-9868-F772-10D7-68E649D28C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4" y="4950802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FF35005F-9B0E-B8B6-AAC3-E08889645D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3" y="5057270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BE29F5BF-EB20-C66A-1D57-1332E576EF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8992" y="5187746"/>
                <a:ext cx="274387" cy="241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8A4DDFFA-D2BE-D82F-8F06-8AAADAAA73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1770" y="4867046"/>
                <a:ext cx="0" cy="641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25692C41-C790-B4EA-74F0-2F1B13A72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1405" y="4801809"/>
                <a:ext cx="0" cy="641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B2EFF64C-258C-7EE0-8132-6D562DB0D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0357" y="4746041"/>
                <a:ext cx="0" cy="641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C775A03C-3148-86A6-E778-0FB8E2C881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30340" y="4680596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E579667A-97C3-6DF3-B57D-D609194737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42597" y="4679188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43267FE0-BB90-427F-8FF8-1E1D39CDB2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35113" y="4686591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847F7A92-2EEC-58B1-D067-FC67B913AB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38976" y="4680338"/>
                <a:ext cx="264225" cy="2625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6C049936-085F-750F-A084-B32C9DC35F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38064" y="4877998"/>
                <a:ext cx="470318" cy="339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3A71DE9F-737D-F852-62B4-FB23F7BDF8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07879" y="4794468"/>
                <a:ext cx="457894" cy="126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A5EFA3E3-D9F3-903B-1E90-B3E105633B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67376" y="4729315"/>
                <a:ext cx="462083" cy="168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6" name="Rectangle: Rounded Corners 365">
              <a:extLst>
                <a:ext uri="{FF2B5EF4-FFF2-40B4-BE49-F238E27FC236}">
                  <a16:creationId xmlns:a16="http://schemas.microsoft.com/office/drawing/2014/main" id="{A5A5DE45-BD5A-65FA-92AF-F7C0BB183C44}"/>
                </a:ext>
              </a:extLst>
            </p:cNvPr>
            <p:cNvSpPr/>
            <p:nvPr/>
          </p:nvSpPr>
          <p:spPr>
            <a:xfrm>
              <a:off x="7116423" y="1602459"/>
              <a:ext cx="828295" cy="71264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701B1D8D-E608-5170-9BAC-7AFA4FE75A3D}"/>
                </a:ext>
              </a:extLst>
            </p:cNvPr>
            <p:cNvGrpSpPr/>
            <p:nvPr/>
          </p:nvGrpSpPr>
          <p:grpSpPr>
            <a:xfrm>
              <a:off x="8524111" y="1764951"/>
              <a:ext cx="469257" cy="387660"/>
              <a:chOff x="8799061" y="4921715"/>
              <a:chExt cx="469257" cy="387660"/>
            </a:xfrm>
          </p:grpSpPr>
          <p:grpSp>
            <p:nvGrpSpPr>
              <p:cNvPr id="368" name="Group 367">
                <a:extLst>
                  <a:ext uri="{FF2B5EF4-FFF2-40B4-BE49-F238E27FC236}">
                    <a16:creationId xmlns:a16="http://schemas.microsoft.com/office/drawing/2014/main" id="{D56E56CB-EDDF-8018-22B9-3F20AC9E728C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</p:grpSpPr>
            <p:sp>
              <p:nvSpPr>
                <p:cNvPr id="372" name="Cube 371">
                  <a:extLst>
                    <a:ext uri="{FF2B5EF4-FFF2-40B4-BE49-F238E27FC236}">
                      <a16:creationId xmlns:a16="http://schemas.microsoft.com/office/drawing/2014/main" id="{F2C21143-E764-2755-506A-275E705E435E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3599C041-6C3B-D8DA-9C6F-823DF423BFC5}"/>
                    </a:ext>
                  </a:extLst>
                </p:cNvPr>
                <p:cNvCxnSpPr>
                  <a:stCxn id="372" idx="2"/>
                  <a:endCxn id="372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F0D59D89-8D2E-66A5-5B4F-D8E96C7FBEE0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5A33DD7C-C300-4394-91BE-0B88FEC4DBE9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97B81422-9681-723C-986A-0317192A7E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C8A0BCA4-6923-36C7-4AA8-DD6A077298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16829013-DC87-0788-EB63-D7E5EFC7DC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92B08904-919A-9F21-1F75-6A3795F545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310033AB-7015-93D4-AE8B-240EF8692A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Straight Connector 380">
                  <a:extLst>
                    <a:ext uri="{FF2B5EF4-FFF2-40B4-BE49-F238E27FC236}">
                      <a16:creationId xmlns:a16="http://schemas.microsoft.com/office/drawing/2014/main" id="{C7F913A4-AEDF-824B-FFCE-FC879F05D9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A74113A1-A7E4-996E-0288-10F942D768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8E8F5022-953C-3665-CBF2-F54BCBAA8B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Straight Connector 383">
                  <a:extLst>
                    <a:ext uri="{FF2B5EF4-FFF2-40B4-BE49-F238E27FC236}">
                      <a16:creationId xmlns:a16="http://schemas.microsoft.com/office/drawing/2014/main" id="{6C96E057-BAB0-1961-A95B-6A1B8ADF34CA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337EA2FD-3C2E-2999-27C7-BB594BA77651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8274E25D-7140-E195-E2E0-4F2A86AA5B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B94FDC79-A498-B657-089A-564683AD42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C83AA2E6-322D-6D14-6FF8-7E13480E45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AF2A1808-F34A-6C68-B44E-10D683B737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9A3EF3EE-F240-F00F-B53D-6465E3DDD9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40C7682E-30CF-0AF6-B932-3238D22AF020}"/>
                </a:ext>
              </a:extLst>
            </p:cNvPr>
            <p:cNvSpPr txBox="1"/>
            <p:nvPr/>
          </p:nvSpPr>
          <p:spPr>
            <a:xfrm>
              <a:off x="312166" y="933965"/>
              <a:ext cx="30376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(A) APPEARANCE STREAM (ResNet-50)</a:t>
              </a:r>
            </a:p>
          </p:txBody>
        </p: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8EE7CE95-8BBF-4521-E1C1-29B51383B459}"/>
                </a:ext>
              </a:extLst>
            </p:cNvPr>
            <p:cNvCxnSpPr>
              <a:cxnSpLocks/>
            </p:cNvCxnSpPr>
            <p:nvPr/>
          </p:nvCxnSpPr>
          <p:spPr>
            <a:xfrm>
              <a:off x="976543" y="2195629"/>
              <a:ext cx="3623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Arrow Connector 425">
              <a:extLst>
                <a:ext uri="{FF2B5EF4-FFF2-40B4-BE49-F238E27FC236}">
                  <a16:creationId xmlns:a16="http://schemas.microsoft.com/office/drawing/2014/main" id="{512A584A-A0D4-ED7A-845C-1A6A4CCA231A}"/>
                </a:ext>
              </a:extLst>
            </p:cNvPr>
            <p:cNvCxnSpPr>
              <a:cxnSpLocks/>
            </p:cNvCxnSpPr>
            <p:nvPr/>
          </p:nvCxnSpPr>
          <p:spPr>
            <a:xfrm>
              <a:off x="1858019" y="2208969"/>
              <a:ext cx="3623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Arrow Connector 426">
              <a:extLst>
                <a:ext uri="{FF2B5EF4-FFF2-40B4-BE49-F238E27FC236}">
                  <a16:creationId xmlns:a16="http://schemas.microsoft.com/office/drawing/2014/main" id="{BECEF45C-851A-B9A4-A77D-2E5BD833D123}"/>
                </a:ext>
              </a:extLst>
            </p:cNvPr>
            <p:cNvCxnSpPr>
              <a:cxnSpLocks/>
            </p:cNvCxnSpPr>
            <p:nvPr/>
          </p:nvCxnSpPr>
          <p:spPr>
            <a:xfrm>
              <a:off x="2551978" y="2165335"/>
              <a:ext cx="3623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>
              <a:extLst>
                <a:ext uri="{FF2B5EF4-FFF2-40B4-BE49-F238E27FC236}">
                  <a16:creationId xmlns:a16="http://schemas.microsoft.com/office/drawing/2014/main" id="{62B4A083-4B0F-4C05-BE89-56FD2D4D797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994" y="2165335"/>
              <a:ext cx="3623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Arrow Connector 428">
              <a:extLst>
                <a:ext uri="{FF2B5EF4-FFF2-40B4-BE49-F238E27FC236}">
                  <a16:creationId xmlns:a16="http://schemas.microsoft.com/office/drawing/2014/main" id="{9531B472-8662-F726-482C-A5A1592A32C9}"/>
                </a:ext>
              </a:extLst>
            </p:cNvPr>
            <p:cNvCxnSpPr>
              <a:cxnSpLocks/>
            </p:cNvCxnSpPr>
            <p:nvPr/>
          </p:nvCxnSpPr>
          <p:spPr>
            <a:xfrm>
              <a:off x="4250942" y="2032629"/>
              <a:ext cx="3623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CD109300-FBDE-8242-666E-DB6E32FFAA26}"/>
                </a:ext>
              </a:extLst>
            </p:cNvPr>
            <p:cNvCxnSpPr>
              <a:cxnSpLocks/>
            </p:cNvCxnSpPr>
            <p:nvPr/>
          </p:nvCxnSpPr>
          <p:spPr>
            <a:xfrm>
              <a:off x="5436171" y="2017862"/>
              <a:ext cx="3907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Arrow Connector 436">
              <a:extLst>
                <a:ext uri="{FF2B5EF4-FFF2-40B4-BE49-F238E27FC236}">
                  <a16:creationId xmlns:a16="http://schemas.microsoft.com/office/drawing/2014/main" id="{198DE1FF-BF3B-85F7-98B3-ABEA129E3E09}"/>
                </a:ext>
              </a:extLst>
            </p:cNvPr>
            <p:cNvCxnSpPr>
              <a:cxnSpLocks/>
            </p:cNvCxnSpPr>
            <p:nvPr/>
          </p:nvCxnSpPr>
          <p:spPr>
            <a:xfrm>
              <a:off x="6672397" y="1967439"/>
              <a:ext cx="3623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Arrow Connector 437">
              <a:extLst>
                <a:ext uri="{FF2B5EF4-FFF2-40B4-BE49-F238E27FC236}">
                  <a16:creationId xmlns:a16="http://schemas.microsoft.com/office/drawing/2014/main" id="{5E10DC28-806D-C9B8-5EDB-F1F37AA120C8}"/>
                </a:ext>
              </a:extLst>
            </p:cNvPr>
            <p:cNvCxnSpPr>
              <a:cxnSpLocks/>
            </p:cNvCxnSpPr>
            <p:nvPr/>
          </p:nvCxnSpPr>
          <p:spPr>
            <a:xfrm>
              <a:off x="7944718" y="1998006"/>
              <a:ext cx="5575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Arrow Connector 439">
              <a:extLst>
                <a:ext uri="{FF2B5EF4-FFF2-40B4-BE49-F238E27FC236}">
                  <a16:creationId xmlns:a16="http://schemas.microsoft.com/office/drawing/2014/main" id="{0805C088-5062-20C8-1219-09009A95F871}"/>
                </a:ext>
              </a:extLst>
            </p:cNvPr>
            <p:cNvCxnSpPr>
              <a:cxnSpLocks/>
            </p:cNvCxnSpPr>
            <p:nvPr/>
          </p:nvCxnSpPr>
          <p:spPr>
            <a:xfrm>
              <a:off x="9039302" y="1929472"/>
              <a:ext cx="3623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F51FCF61-F8CB-5F98-BD7B-C6B0ED909933}"/>
                </a:ext>
              </a:extLst>
            </p:cNvPr>
            <p:cNvSpPr txBox="1"/>
            <p:nvPr/>
          </p:nvSpPr>
          <p:spPr>
            <a:xfrm>
              <a:off x="1623897" y="1238215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</a:t>
              </a:r>
              <a:r>
                <a:rPr lang="en-US" sz="1200" baseline="-25000" dirty="0"/>
                <a:t>0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463DCBE7-213F-BE18-AEC5-1160773D6F17}"/>
                </a:ext>
              </a:extLst>
            </p:cNvPr>
            <p:cNvSpPr txBox="1"/>
            <p:nvPr/>
          </p:nvSpPr>
          <p:spPr>
            <a:xfrm>
              <a:off x="3200708" y="1193078"/>
              <a:ext cx="3064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</a:t>
              </a:r>
              <a:r>
                <a:rPr lang="en-US" sz="1200" baseline="-25000" dirty="0"/>
                <a:t>1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02A98FC8-2748-59CE-D4E0-BE80E47DA580}"/>
                </a:ext>
              </a:extLst>
            </p:cNvPr>
            <p:cNvSpPr txBox="1"/>
            <p:nvPr/>
          </p:nvSpPr>
          <p:spPr>
            <a:xfrm>
              <a:off x="3979680" y="1198960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</a:t>
              </a:r>
              <a:r>
                <a:rPr lang="en-US" sz="1200" baseline="-25000" dirty="0"/>
                <a:t>2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6D7821A0-E339-F72E-5EFC-38FCDF301C4F}"/>
                </a:ext>
              </a:extLst>
            </p:cNvPr>
            <p:cNvSpPr txBox="1"/>
            <p:nvPr/>
          </p:nvSpPr>
          <p:spPr>
            <a:xfrm>
              <a:off x="6184737" y="1204443"/>
              <a:ext cx="4097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F</a:t>
              </a:r>
              <a:r>
                <a:rPr lang="en-US" sz="1200" baseline="-25000" dirty="0" err="1"/>
                <a:t>app</a:t>
              </a:r>
              <a:endParaRPr lang="en-US" sz="1200" baseline="-25000" dirty="0"/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B5BF20BD-6780-2401-E782-728D38CBE542}"/>
                </a:ext>
              </a:extLst>
            </p:cNvPr>
            <p:cNvSpPr txBox="1"/>
            <p:nvPr/>
          </p:nvSpPr>
          <p:spPr>
            <a:xfrm>
              <a:off x="1241239" y="2633042"/>
              <a:ext cx="72648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Conv1</a:t>
              </a:r>
            </a:p>
            <a:p>
              <a:r>
                <a:rPr lang="en-US" sz="1000" dirty="0"/>
                <a:t>7X7, 64 ch</a:t>
              </a:r>
            </a:p>
            <a:p>
              <a:r>
                <a:rPr lang="en-US" sz="1000" dirty="0"/>
                <a:t>Stride 2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80C3F923-CC40-6890-261D-C680D0B54AB5}"/>
                </a:ext>
              </a:extLst>
            </p:cNvPr>
            <p:cNvSpPr txBox="1"/>
            <p:nvPr/>
          </p:nvSpPr>
          <p:spPr>
            <a:xfrm>
              <a:off x="2033899" y="2658822"/>
              <a:ext cx="63991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MaxPool</a:t>
              </a:r>
              <a:endParaRPr lang="en-US" sz="1000" dirty="0"/>
            </a:p>
            <a:p>
              <a:r>
                <a:rPr lang="en-US" sz="1000" dirty="0"/>
                <a:t>3X3</a:t>
              </a:r>
            </a:p>
            <a:p>
              <a:r>
                <a:rPr lang="en-US" sz="1000" dirty="0"/>
                <a:t>Stride 2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21AFABEE-4BE0-D672-A5E6-02740518A188}"/>
                </a:ext>
              </a:extLst>
            </p:cNvPr>
            <p:cNvSpPr txBox="1"/>
            <p:nvPr/>
          </p:nvSpPr>
          <p:spPr>
            <a:xfrm>
              <a:off x="4679442" y="1692423"/>
              <a:ext cx="76655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1X1 Conv +</a:t>
              </a:r>
            </a:p>
            <a:p>
              <a:r>
                <a:rPr lang="en-US" sz="1000" dirty="0"/>
                <a:t>BN +</a:t>
              </a:r>
              <a:r>
                <a:rPr lang="en-US" sz="1000" dirty="0" err="1"/>
                <a:t>ReLU</a:t>
              </a:r>
              <a:r>
                <a:rPr lang="en-US" sz="1000" dirty="0"/>
                <a:t> </a:t>
              </a:r>
            </a:p>
            <a:p>
              <a:r>
                <a:rPr lang="en-US" sz="1000" dirty="0"/>
                <a:t>(W</a:t>
              </a:r>
              <a:r>
                <a:rPr lang="en-US" sz="1000" baseline="-25000" dirty="0"/>
                <a:t>app</a:t>
              </a:r>
              <a:r>
                <a:rPr lang="en-US" sz="1000" dirty="0"/>
                <a:t>)</a:t>
              </a: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0B5EC926-59FB-4655-2294-6948BE0E9D9E}"/>
                </a:ext>
              </a:extLst>
            </p:cNvPr>
            <p:cNvSpPr txBox="1"/>
            <p:nvPr/>
          </p:nvSpPr>
          <p:spPr>
            <a:xfrm>
              <a:off x="7258358" y="1751323"/>
              <a:ext cx="606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AvgPool</a:t>
              </a:r>
              <a:endParaRPr lang="en-US" sz="1000" dirty="0"/>
            </a:p>
            <a:p>
              <a:r>
                <a:rPr lang="en-US" sz="1000" dirty="0"/>
                <a:t>k=2,s=2</a:t>
              </a: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1DE97E34-C9BC-C70D-8971-40D15AA96FCD}"/>
                </a:ext>
              </a:extLst>
            </p:cNvPr>
            <p:cNvSpPr txBox="1"/>
            <p:nvPr/>
          </p:nvSpPr>
          <p:spPr>
            <a:xfrm>
              <a:off x="2842368" y="2657580"/>
              <a:ext cx="56137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Layer 1</a:t>
              </a:r>
            </a:p>
            <a:p>
              <a:r>
                <a:rPr lang="en-US" sz="1000" dirty="0"/>
                <a:t>C2,x</a:t>
              </a:r>
            </a:p>
            <a:p>
              <a:r>
                <a:rPr lang="en-US" sz="1000" dirty="0"/>
                <a:t>256 ch</a:t>
              </a: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11C7DCBE-BF32-3A25-F183-FBE81E9FEACC}"/>
                </a:ext>
              </a:extLst>
            </p:cNvPr>
            <p:cNvSpPr txBox="1"/>
            <p:nvPr/>
          </p:nvSpPr>
          <p:spPr>
            <a:xfrm>
              <a:off x="3616138" y="2633042"/>
              <a:ext cx="56137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Layer 2</a:t>
              </a:r>
            </a:p>
            <a:p>
              <a:r>
                <a:rPr lang="en-US" sz="1000" dirty="0"/>
                <a:t>C3,x</a:t>
              </a:r>
            </a:p>
            <a:p>
              <a:r>
                <a:rPr lang="en-US" sz="1000" dirty="0"/>
                <a:t>512 ch</a:t>
              </a:r>
            </a:p>
          </p:txBody>
        </p: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7262E254-71FF-0D90-4C63-9220EC0271B2}"/>
                </a:ext>
              </a:extLst>
            </p:cNvPr>
            <p:cNvCxnSpPr>
              <a:stCxn id="519" idx="2"/>
            </p:cNvCxnSpPr>
            <p:nvPr/>
          </p:nvCxnSpPr>
          <p:spPr>
            <a:xfrm flipH="1">
              <a:off x="1604479" y="3187040"/>
              <a:ext cx="1" cy="24196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" name="TextBox 531">
              <a:extLst>
                <a:ext uri="{FF2B5EF4-FFF2-40B4-BE49-F238E27FC236}">
                  <a16:creationId xmlns:a16="http://schemas.microsoft.com/office/drawing/2014/main" id="{EF639164-B9DD-5EE7-37A4-E66DB1B5223A}"/>
                </a:ext>
              </a:extLst>
            </p:cNvPr>
            <p:cNvSpPr txBox="1"/>
            <p:nvPr/>
          </p:nvSpPr>
          <p:spPr>
            <a:xfrm>
              <a:off x="1099372" y="3461214"/>
              <a:ext cx="10102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H/2XW/2X64</a:t>
              </a:r>
            </a:p>
          </p:txBody>
        </p: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CC382BC7-FD54-EAEF-8B8B-F7BC3522C4D7}"/>
                </a:ext>
              </a:extLst>
            </p:cNvPr>
            <p:cNvCxnSpPr>
              <a:cxnSpLocks/>
              <a:stCxn id="532" idx="2"/>
            </p:cNvCxnSpPr>
            <p:nvPr/>
          </p:nvCxnSpPr>
          <p:spPr>
            <a:xfrm flipH="1">
              <a:off x="1604478" y="3738213"/>
              <a:ext cx="1" cy="2824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318CAB71-B2D9-0408-0550-63697DB03DA7}"/>
                </a:ext>
              </a:extLst>
            </p:cNvPr>
            <p:cNvSpPr txBox="1"/>
            <p:nvPr/>
          </p:nvSpPr>
          <p:spPr>
            <a:xfrm>
              <a:off x="5208310" y="4603196"/>
              <a:ext cx="8066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Conv Layers</a:t>
              </a:r>
            </a:p>
            <a:p>
              <a:pPr algn="ctr"/>
              <a:r>
                <a:rPr lang="en-US" sz="1000" dirty="0"/>
                <a:t>(3-layers)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B98583E8-40C2-5348-3F20-760B974D4DEB}"/>
                </a:ext>
              </a:extLst>
            </p:cNvPr>
            <p:cNvSpPr txBox="1"/>
            <p:nvPr/>
          </p:nvSpPr>
          <p:spPr>
            <a:xfrm>
              <a:off x="5731114" y="2537453"/>
              <a:ext cx="9412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H/8XW/8X256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A944E641-D81A-A7D5-FB33-ED0C04127746}"/>
                </a:ext>
              </a:extLst>
            </p:cNvPr>
            <p:cNvSpPr txBox="1"/>
            <p:nvPr/>
          </p:nvSpPr>
          <p:spPr>
            <a:xfrm>
              <a:off x="8407553" y="2209754"/>
              <a:ext cx="6511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16X16XC</a:t>
              </a:r>
            </a:p>
            <a:p>
              <a:pPr algn="ctr"/>
              <a:r>
                <a:rPr lang="en-US" sz="1000" dirty="0"/>
                <a:t>(C=256)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1B681B5E-2EAE-4F8E-C3B6-9949BC8A7E77}"/>
                </a:ext>
              </a:extLst>
            </p:cNvPr>
            <p:cNvSpPr txBox="1"/>
            <p:nvPr/>
          </p:nvSpPr>
          <p:spPr>
            <a:xfrm>
              <a:off x="2462245" y="3463288"/>
              <a:ext cx="1088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H/4XW/4X256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429DE18C-FEA3-FEBB-7777-894EDCAC9E62}"/>
                </a:ext>
              </a:extLst>
            </p:cNvPr>
            <p:cNvSpPr txBox="1"/>
            <p:nvPr/>
          </p:nvSpPr>
          <p:spPr>
            <a:xfrm>
              <a:off x="3530126" y="3463288"/>
              <a:ext cx="1088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H/8XW/8X256</a:t>
              </a:r>
            </a:p>
          </p:txBody>
        </p:sp>
        <p:cxnSp>
          <p:nvCxnSpPr>
            <p:cNvPr id="547" name="Straight Connector 546">
              <a:extLst>
                <a:ext uri="{FF2B5EF4-FFF2-40B4-BE49-F238E27FC236}">
                  <a16:creationId xmlns:a16="http://schemas.microsoft.com/office/drawing/2014/main" id="{ADEB42C2-AF9A-DB41-4061-394BA47A7361}"/>
                </a:ext>
              </a:extLst>
            </p:cNvPr>
            <p:cNvCxnSpPr>
              <a:stCxn id="526" idx="2"/>
            </p:cNvCxnSpPr>
            <p:nvPr/>
          </p:nvCxnSpPr>
          <p:spPr>
            <a:xfrm>
              <a:off x="3123054" y="3211578"/>
              <a:ext cx="0" cy="21742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548">
              <a:extLst>
                <a:ext uri="{FF2B5EF4-FFF2-40B4-BE49-F238E27FC236}">
                  <a16:creationId xmlns:a16="http://schemas.microsoft.com/office/drawing/2014/main" id="{3FBF6564-D729-F60B-CFD4-2D18F28465E2}"/>
                </a:ext>
              </a:extLst>
            </p:cNvPr>
            <p:cNvCxnSpPr/>
            <p:nvPr/>
          </p:nvCxnSpPr>
          <p:spPr>
            <a:xfrm>
              <a:off x="3123054" y="3738213"/>
              <a:ext cx="0" cy="2824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550">
              <a:extLst>
                <a:ext uri="{FF2B5EF4-FFF2-40B4-BE49-F238E27FC236}">
                  <a16:creationId xmlns:a16="http://schemas.microsoft.com/office/drawing/2014/main" id="{4C49570D-0164-155E-106E-12E3AEEC2A90}"/>
                </a:ext>
              </a:extLst>
            </p:cNvPr>
            <p:cNvCxnSpPr>
              <a:cxnSpLocks/>
              <a:stCxn id="528" idx="2"/>
            </p:cNvCxnSpPr>
            <p:nvPr/>
          </p:nvCxnSpPr>
          <p:spPr>
            <a:xfrm>
              <a:off x="3896824" y="3187040"/>
              <a:ext cx="0" cy="24196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8C0C252D-5324-CB83-77DA-774C755D0492}"/>
                </a:ext>
              </a:extLst>
            </p:cNvPr>
            <p:cNvCxnSpPr/>
            <p:nvPr/>
          </p:nvCxnSpPr>
          <p:spPr>
            <a:xfrm>
              <a:off x="3896824" y="3738213"/>
              <a:ext cx="0" cy="2824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345B5B81-B1AD-BB6C-8365-088C9C9CD900}"/>
                </a:ext>
              </a:extLst>
            </p:cNvPr>
            <p:cNvCxnSpPr>
              <a:cxnSpLocks/>
            </p:cNvCxnSpPr>
            <p:nvPr/>
          </p:nvCxnSpPr>
          <p:spPr>
            <a:xfrm>
              <a:off x="1604478" y="4020648"/>
              <a:ext cx="8295483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16F35515-5E58-8531-2C6D-B8AC7933FC2D}"/>
                </a:ext>
              </a:extLst>
            </p:cNvPr>
            <p:cNvGrpSpPr/>
            <p:nvPr/>
          </p:nvGrpSpPr>
          <p:grpSpPr>
            <a:xfrm>
              <a:off x="9899961" y="1498301"/>
              <a:ext cx="2238180" cy="5181816"/>
              <a:chOff x="9899961" y="1498301"/>
              <a:chExt cx="2238180" cy="5181816"/>
            </a:xfrm>
          </p:grpSpPr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1D85C3D7-83DA-6968-E15B-6B18E85A7807}"/>
                  </a:ext>
                </a:extLst>
              </p:cNvPr>
              <p:cNvSpPr/>
              <p:nvPr/>
            </p:nvSpPr>
            <p:spPr>
              <a:xfrm>
                <a:off x="9974543" y="1498301"/>
                <a:ext cx="2089017" cy="51818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: Rounded Corners 395">
                <a:extLst>
                  <a:ext uri="{FF2B5EF4-FFF2-40B4-BE49-F238E27FC236}">
                    <a16:creationId xmlns:a16="http://schemas.microsoft.com/office/drawing/2014/main" id="{CE1CF187-196F-BECC-373F-883C4164545E}"/>
                  </a:ext>
                </a:extLst>
              </p:cNvPr>
              <p:cNvSpPr/>
              <p:nvPr/>
            </p:nvSpPr>
            <p:spPr>
              <a:xfrm>
                <a:off x="10110035" y="2386779"/>
                <a:ext cx="640302" cy="607959"/>
              </a:xfrm>
              <a:prstGeom prst="roundRect">
                <a:avLst/>
              </a:prstGeom>
              <a:solidFill>
                <a:srgbClr val="7030A0">
                  <a:alpha val="25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4BBBB17F-B18B-4048-4AF4-A97F118C3FFF}"/>
                  </a:ext>
                </a:extLst>
              </p:cNvPr>
              <p:cNvSpPr txBox="1"/>
              <p:nvPr/>
            </p:nvSpPr>
            <p:spPr>
              <a:xfrm>
                <a:off x="9994630" y="1582969"/>
                <a:ext cx="18935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(C) SKIP CONNECTIONS</a:t>
                </a:r>
              </a:p>
            </p:txBody>
          </p:sp>
          <p:grpSp>
            <p:nvGrpSpPr>
              <p:cNvPr id="469" name="Group 468">
                <a:extLst>
                  <a:ext uri="{FF2B5EF4-FFF2-40B4-BE49-F238E27FC236}">
                    <a16:creationId xmlns:a16="http://schemas.microsoft.com/office/drawing/2014/main" id="{CE879972-60E8-CCB7-115D-D17D4E96F649}"/>
                  </a:ext>
                </a:extLst>
              </p:cNvPr>
              <p:cNvGrpSpPr/>
              <p:nvPr/>
            </p:nvGrpSpPr>
            <p:grpSpPr>
              <a:xfrm>
                <a:off x="11144504" y="2119086"/>
                <a:ext cx="658201" cy="918904"/>
                <a:chOff x="11144504" y="2119086"/>
                <a:chExt cx="658201" cy="918904"/>
              </a:xfrm>
            </p:grpSpPr>
            <p:sp>
              <p:nvSpPr>
                <p:cNvPr id="393" name="Cube 392">
                  <a:extLst>
                    <a:ext uri="{FF2B5EF4-FFF2-40B4-BE49-F238E27FC236}">
                      <a16:creationId xmlns:a16="http://schemas.microsoft.com/office/drawing/2014/main" id="{14848A7F-F7F3-9A20-C809-69ECE1FEFC2A}"/>
                    </a:ext>
                  </a:extLst>
                </p:cNvPr>
                <p:cNvSpPr/>
                <p:nvPr/>
              </p:nvSpPr>
              <p:spPr>
                <a:xfrm>
                  <a:off x="11144504" y="2119086"/>
                  <a:ext cx="658201" cy="918904"/>
                </a:xfrm>
                <a:prstGeom prst="cube">
                  <a:avLst>
                    <a:gd name="adj" fmla="val 36671"/>
                  </a:avLst>
                </a:prstGeom>
                <a:solidFill>
                  <a:srgbClr val="7030A0">
                    <a:alpha val="25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68" name="Group 467">
                  <a:extLst>
                    <a:ext uri="{FF2B5EF4-FFF2-40B4-BE49-F238E27FC236}">
                      <a16:creationId xmlns:a16="http://schemas.microsoft.com/office/drawing/2014/main" id="{A874B653-FC9C-9313-C9CE-886D4DF34BC6}"/>
                    </a:ext>
                  </a:extLst>
                </p:cNvPr>
                <p:cNvGrpSpPr/>
                <p:nvPr/>
              </p:nvGrpSpPr>
              <p:grpSpPr>
                <a:xfrm>
                  <a:off x="11144504" y="2119086"/>
                  <a:ext cx="658201" cy="918904"/>
                  <a:chOff x="11144504" y="2119086"/>
                  <a:chExt cx="658201" cy="918904"/>
                </a:xfrm>
              </p:grpSpPr>
              <p:cxnSp>
                <p:nvCxnSpPr>
                  <p:cNvPr id="442" name="Straight Connector 441">
                    <a:extLst>
                      <a:ext uri="{FF2B5EF4-FFF2-40B4-BE49-F238E27FC236}">
                        <a16:creationId xmlns:a16="http://schemas.microsoft.com/office/drawing/2014/main" id="{396FAD68-47B3-5756-4D44-EAEB2D56FF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251320" y="2360455"/>
                    <a:ext cx="0" cy="67753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3" name="Straight Connector 442">
                    <a:extLst>
                      <a:ext uri="{FF2B5EF4-FFF2-40B4-BE49-F238E27FC236}">
                        <a16:creationId xmlns:a16="http://schemas.microsoft.com/office/drawing/2014/main" id="{BA53FA57-0AD6-C063-688D-1D9DB7FAAF40}"/>
                      </a:ext>
                    </a:extLst>
                  </p:cNvPr>
                  <p:cNvCxnSpPr/>
                  <p:nvPr/>
                </p:nvCxnSpPr>
                <p:spPr>
                  <a:xfrm>
                    <a:off x="11353800" y="2360455"/>
                    <a:ext cx="0" cy="67753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Straight Connector 443">
                    <a:extLst>
                      <a:ext uri="{FF2B5EF4-FFF2-40B4-BE49-F238E27FC236}">
                        <a16:creationId xmlns:a16="http://schemas.microsoft.com/office/drawing/2014/main" id="{610B499B-98B1-AED2-FED7-23E929FDD649}"/>
                      </a:ext>
                    </a:extLst>
                  </p:cNvPr>
                  <p:cNvCxnSpPr/>
                  <p:nvPr/>
                </p:nvCxnSpPr>
                <p:spPr>
                  <a:xfrm>
                    <a:off x="11352920" y="2360455"/>
                    <a:ext cx="0" cy="67753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5" name="Straight Connector 444">
                    <a:extLst>
                      <a:ext uri="{FF2B5EF4-FFF2-40B4-BE49-F238E27FC236}">
                        <a16:creationId xmlns:a16="http://schemas.microsoft.com/office/drawing/2014/main" id="{3DF54BB3-26AA-CFF0-2BC2-2BAE17B686EA}"/>
                      </a:ext>
                    </a:extLst>
                  </p:cNvPr>
                  <p:cNvCxnSpPr/>
                  <p:nvPr/>
                </p:nvCxnSpPr>
                <p:spPr>
                  <a:xfrm>
                    <a:off x="11466374" y="2360455"/>
                    <a:ext cx="0" cy="67753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6" name="Straight Connector 445">
                    <a:extLst>
                      <a:ext uri="{FF2B5EF4-FFF2-40B4-BE49-F238E27FC236}">
                        <a16:creationId xmlns:a16="http://schemas.microsoft.com/office/drawing/2014/main" id="{03D9DDB0-62C9-14F4-8729-FDA7AC233A1A}"/>
                      </a:ext>
                    </a:extLst>
                  </p:cNvPr>
                  <p:cNvCxnSpPr>
                    <a:cxnSpLocks/>
                    <a:stCxn id="393" idx="2"/>
                    <a:endCxn id="393" idx="4"/>
                  </p:cNvCxnSpPr>
                  <p:nvPr/>
                </p:nvCxnSpPr>
                <p:spPr>
                  <a:xfrm>
                    <a:off x="11144504" y="2699222"/>
                    <a:ext cx="41683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9" name="Straight Connector 448">
                    <a:extLst>
                      <a:ext uri="{FF2B5EF4-FFF2-40B4-BE49-F238E27FC236}">
                        <a16:creationId xmlns:a16="http://schemas.microsoft.com/office/drawing/2014/main" id="{27047659-2841-C86F-7511-44EC29972E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144504" y="2827196"/>
                    <a:ext cx="41683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>
                    <a:extLst>
                      <a:ext uri="{FF2B5EF4-FFF2-40B4-BE49-F238E27FC236}">
                        <a16:creationId xmlns:a16="http://schemas.microsoft.com/office/drawing/2014/main" id="{F9A69220-4E02-3340-3128-56362E2F19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144504" y="2547699"/>
                    <a:ext cx="41683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1" name="Straight Connector 450">
                    <a:extLst>
                      <a:ext uri="{FF2B5EF4-FFF2-40B4-BE49-F238E27FC236}">
                        <a16:creationId xmlns:a16="http://schemas.microsoft.com/office/drawing/2014/main" id="{32C2292B-3737-5AAE-2DE4-46B026A149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289576" y="2209658"/>
                    <a:ext cx="41683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2" name="Straight Connector 451">
                    <a:extLst>
                      <a:ext uri="{FF2B5EF4-FFF2-40B4-BE49-F238E27FC236}">
                        <a16:creationId xmlns:a16="http://schemas.microsoft.com/office/drawing/2014/main" id="{7FF3CA30-CC3C-8507-FA83-A78C7A0DB0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231390" y="2278139"/>
                    <a:ext cx="41683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3" name="Straight Connector 452">
                    <a:extLst>
                      <a:ext uri="{FF2B5EF4-FFF2-40B4-BE49-F238E27FC236}">
                        <a16:creationId xmlns:a16="http://schemas.microsoft.com/office/drawing/2014/main" id="{3E00A78C-ECE4-C0B5-7B93-1A9849C0E1DA}"/>
                      </a:ext>
                    </a:extLst>
                  </p:cNvPr>
                  <p:cNvCxnSpPr>
                    <a:cxnSpLocks/>
                    <a:endCxn id="393" idx="0"/>
                  </p:cNvCxnSpPr>
                  <p:nvPr/>
                </p:nvCxnSpPr>
                <p:spPr>
                  <a:xfrm flipV="1">
                    <a:off x="11352920" y="2119086"/>
                    <a:ext cx="241369" cy="23213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7" name="Straight Connector 456">
                    <a:extLst>
                      <a:ext uri="{FF2B5EF4-FFF2-40B4-BE49-F238E27FC236}">
                        <a16:creationId xmlns:a16="http://schemas.microsoft.com/office/drawing/2014/main" id="{4EDBEBF1-1E22-6A0B-88C2-67D9F9709A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252953" y="2120343"/>
                    <a:ext cx="241369" cy="23213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8" name="Straight Connector 457">
                    <a:extLst>
                      <a:ext uri="{FF2B5EF4-FFF2-40B4-BE49-F238E27FC236}">
                        <a16:creationId xmlns:a16="http://schemas.microsoft.com/office/drawing/2014/main" id="{EFA90868-C7DE-D415-6787-14B322E3A1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466374" y="2119086"/>
                    <a:ext cx="241369" cy="23213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9" name="Straight Connector 458">
                    <a:extLst>
                      <a:ext uri="{FF2B5EF4-FFF2-40B4-BE49-F238E27FC236}">
                        <a16:creationId xmlns:a16="http://schemas.microsoft.com/office/drawing/2014/main" id="{7806A58B-E9F6-7F95-7EEF-833EB940D9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706408" y="2220686"/>
                    <a:ext cx="0" cy="65586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2" name="Straight Connector 461">
                    <a:extLst>
                      <a:ext uri="{FF2B5EF4-FFF2-40B4-BE49-F238E27FC236}">
                        <a16:creationId xmlns:a16="http://schemas.microsoft.com/office/drawing/2014/main" id="{B6E50CBF-AEE6-BA32-1CCD-1A9832DDB1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632530" y="2296725"/>
                    <a:ext cx="0" cy="65586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3" name="Straight Connector 462">
                    <a:extLst>
                      <a:ext uri="{FF2B5EF4-FFF2-40B4-BE49-F238E27FC236}">
                        <a16:creationId xmlns:a16="http://schemas.microsoft.com/office/drawing/2014/main" id="{DBEC4113-5BE9-719B-C3AE-A8340C1EAC9A}"/>
                      </a:ext>
                    </a:extLst>
                  </p:cNvPr>
                  <p:cNvCxnSpPr>
                    <a:cxnSpLocks/>
                    <a:stCxn id="393" idx="5"/>
                    <a:endCxn id="393" idx="4"/>
                  </p:cNvCxnSpPr>
                  <p:nvPr/>
                </p:nvCxnSpPr>
                <p:spPr>
                  <a:xfrm flipH="1">
                    <a:off x="11561336" y="2457854"/>
                    <a:ext cx="241369" cy="24136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6" name="Straight Connector 465">
                    <a:extLst>
                      <a:ext uri="{FF2B5EF4-FFF2-40B4-BE49-F238E27FC236}">
                        <a16:creationId xmlns:a16="http://schemas.microsoft.com/office/drawing/2014/main" id="{95591F79-B1BC-A08F-1B5D-B44F73A9EB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1559547" y="2585949"/>
                    <a:ext cx="241369" cy="24136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7" name="Straight Connector 466">
                    <a:extLst>
                      <a:ext uri="{FF2B5EF4-FFF2-40B4-BE49-F238E27FC236}">
                        <a16:creationId xmlns:a16="http://schemas.microsoft.com/office/drawing/2014/main" id="{33E5577E-0F30-D695-F2CB-C15A4E0BF7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1561335" y="2306331"/>
                    <a:ext cx="241369" cy="24136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E6CFA503-A7DC-F2DF-1BAD-05EB69D2DA99}"/>
                  </a:ext>
                </a:extLst>
              </p:cNvPr>
              <p:cNvGrpSpPr/>
              <p:nvPr/>
            </p:nvGrpSpPr>
            <p:grpSpPr>
              <a:xfrm>
                <a:off x="10110035" y="3652798"/>
                <a:ext cx="1692670" cy="918904"/>
                <a:chOff x="10110035" y="3561196"/>
                <a:chExt cx="1692670" cy="918904"/>
              </a:xfrm>
            </p:grpSpPr>
            <p:sp>
              <p:nvSpPr>
                <p:cNvPr id="406" name="Rectangle: Rounded Corners 405">
                  <a:extLst>
                    <a:ext uri="{FF2B5EF4-FFF2-40B4-BE49-F238E27FC236}">
                      <a16:creationId xmlns:a16="http://schemas.microsoft.com/office/drawing/2014/main" id="{6744E324-F580-4984-688C-FF09B23D74DF}"/>
                    </a:ext>
                  </a:extLst>
                </p:cNvPr>
                <p:cNvSpPr/>
                <p:nvPr/>
              </p:nvSpPr>
              <p:spPr>
                <a:xfrm>
                  <a:off x="10110035" y="3831050"/>
                  <a:ext cx="640302" cy="607959"/>
                </a:xfrm>
                <a:prstGeom prst="roundRect">
                  <a:avLst/>
                </a:prstGeom>
                <a:solidFill>
                  <a:srgbClr val="7030A0">
                    <a:alpha val="25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70" name="Group 469">
                  <a:extLst>
                    <a:ext uri="{FF2B5EF4-FFF2-40B4-BE49-F238E27FC236}">
                      <a16:creationId xmlns:a16="http://schemas.microsoft.com/office/drawing/2014/main" id="{47619A74-1EB5-1B30-009E-0C2BD7886773}"/>
                    </a:ext>
                  </a:extLst>
                </p:cNvPr>
                <p:cNvGrpSpPr/>
                <p:nvPr/>
              </p:nvGrpSpPr>
              <p:grpSpPr>
                <a:xfrm>
                  <a:off x="11144504" y="3561196"/>
                  <a:ext cx="658201" cy="918904"/>
                  <a:chOff x="11144504" y="2119086"/>
                  <a:chExt cx="658201" cy="918904"/>
                </a:xfrm>
              </p:grpSpPr>
              <p:sp>
                <p:nvSpPr>
                  <p:cNvPr id="471" name="Cube 470">
                    <a:extLst>
                      <a:ext uri="{FF2B5EF4-FFF2-40B4-BE49-F238E27FC236}">
                        <a16:creationId xmlns:a16="http://schemas.microsoft.com/office/drawing/2014/main" id="{B2774FF1-1AD1-D256-6D0A-734AA8E8E09A}"/>
                      </a:ext>
                    </a:extLst>
                  </p:cNvPr>
                  <p:cNvSpPr/>
                  <p:nvPr/>
                </p:nvSpPr>
                <p:spPr>
                  <a:xfrm>
                    <a:off x="11144504" y="2119086"/>
                    <a:ext cx="658201" cy="918904"/>
                  </a:xfrm>
                  <a:prstGeom prst="cube">
                    <a:avLst>
                      <a:gd name="adj" fmla="val 36671"/>
                    </a:avLst>
                  </a:prstGeom>
                  <a:solidFill>
                    <a:srgbClr val="7030A0">
                      <a:alpha val="25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472" name="Group 471">
                    <a:extLst>
                      <a:ext uri="{FF2B5EF4-FFF2-40B4-BE49-F238E27FC236}">
                        <a16:creationId xmlns:a16="http://schemas.microsoft.com/office/drawing/2014/main" id="{28F4EDA5-3241-544B-CDE6-26757A825129}"/>
                      </a:ext>
                    </a:extLst>
                  </p:cNvPr>
                  <p:cNvGrpSpPr/>
                  <p:nvPr/>
                </p:nvGrpSpPr>
                <p:grpSpPr>
                  <a:xfrm>
                    <a:off x="11144504" y="2119086"/>
                    <a:ext cx="658201" cy="918904"/>
                    <a:chOff x="11144504" y="2119086"/>
                    <a:chExt cx="658201" cy="918904"/>
                  </a:xfrm>
                </p:grpSpPr>
                <p:cxnSp>
                  <p:nvCxnSpPr>
                    <p:cNvPr id="473" name="Straight Connector 472">
                      <a:extLst>
                        <a:ext uri="{FF2B5EF4-FFF2-40B4-BE49-F238E27FC236}">
                          <a16:creationId xmlns:a16="http://schemas.microsoft.com/office/drawing/2014/main" id="{B0DAC261-D4D7-A45D-98A2-46DFD1EB5A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251320" y="2360455"/>
                      <a:ext cx="0" cy="67753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4" name="Straight Connector 473">
                      <a:extLst>
                        <a:ext uri="{FF2B5EF4-FFF2-40B4-BE49-F238E27FC236}">
                          <a16:creationId xmlns:a16="http://schemas.microsoft.com/office/drawing/2014/main" id="{A0A6964A-7405-A91F-8549-992DFE0A6A7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53800" y="2360455"/>
                      <a:ext cx="0" cy="67753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5" name="Straight Connector 474">
                      <a:extLst>
                        <a:ext uri="{FF2B5EF4-FFF2-40B4-BE49-F238E27FC236}">
                          <a16:creationId xmlns:a16="http://schemas.microsoft.com/office/drawing/2014/main" id="{D0377FAA-113D-EBBA-3997-749064BE9CA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52920" y="2360455"/>
                      <a:ext cx="0" cy="67753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6" name="Straight Connector 475">
                      <a:extLst>
                        <a:ext uri="{FF2B5EF4-FFF2-40B4-BE49-F238E27FC236}">
                          <a16:creationId xmlns:a16="http://schemas.microsoft.com/office/drawing/2014/main" id="{8A949EF1-83DA-581B-A953-E4D6CA5CE2E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466374" y="2360455"/>
                      <a:ext cx="0" cy="67753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7" name="Straight Connector 476">
                      <a:extLst>
                        <a:ext uri="{FF2B5EF4-FFF2-40B4-BE49-F238E27FC236}">
                          <a16:creationId xmlns:a16="http://schemas.microsoft.com/office/drawing/2014/main" id="{4B3C295C-D5D4-645F-2481-DA94D47884B5}"/>
                        </a:ext>
                      </a:extLst>
                    </p:cNvPr>
                    <p:cNvCxnSpPr>
                      <a:cxnSpLocks/>
                      <a:stCxn id="471" idx="2"/>
                      <a:endCxn id="471" idx="4"/>
                    </p:cNvCxnSpPr>
                    <p:nvPr/>
                  </p:nvCxnSpPr>
                  <p:spPr>
                    <a:xfrm>
                      <a:off x="11144504" y="2699222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8" name="Straight Connector 477">
                      <a:extLst>
                        <a:ext uri="{FF2B5EF4-FFF2-40B4-BE49-F238E27FC236}">
                          <a16:creationId xmlns:a16="http://schemas.microsoft.com/office/drawing/2014/main" id="{3CB21F1F-0D06-7C8F-71C1-37472EB5965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144504" y="2827196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9" name="Straight Connector 478">
                      <a:extLst>
                        <a:ext uri="{FF2B5EF4-FFF2-40B4-BE49-F238E27FC236}">
                          <a16:creationId xmlns:a16="http://schemas.microsoft.com/office/drawing/2014/main" id="{FD006E95-ACC1-96EC-128D-41D2698533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144504" y="2547699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0" name="Straight Connector 479">
                      <a:extLst>
                        <a:ext uri="{FF2B5EF4-FFF2-40B4-BE49-F238E27FC236}">
                          <a16:creationId xmlns:a16="http://schemas.microsoft.com/office/drawing/2014/main" id="{7082577D-6A6F-404D-CBFC-BE8E0292E5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289576" y="2209658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1" name="Straight Connector 480">
                      <a:extLst>
                        <a:ext uri="{FF2B5EF4-FFF2-40B4-BE49-F238E27FC236}">
                          <a16:creationId xmlns:a16="http://schemas.microsoft.com/office/drawing/2014/main" id="{9F671772-7819-457F-F394-F4C6AC607A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231390" y="2278139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2" name="Straight Connector 481">
                      <a:extLst>
                        <a:ext uri="{FF2B5EF4-FFF2-40B4-BE49-F238E27FC236}">
                          <a16:creationId xmlns:a16="http://schemas.microsoft.com/office/drawing/2014/main" id="{FE5DD528-499D-AA97-8C6D-FFDAFA2D399E}"/>
                        </a:ext>
                      </a:extLst>
                    </p:cNvPr>
                    <p:cNvCxnSpPr>
                      <a:cxnSpLocks/>
                      <a:endCxn id="471" idx="0"/>
                    </p:cNvCxnSpPr>
                    <p:nvPr/>
                  </p:nvCxnSpPr>
                  <p:spPr>
                    <a:xfrm flipV="1">
                      <a:off x="11352920" y="2119086"/>
                      <a:ext cx="241369" cy="23213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3" name="Straight Connector 482">
                      <a:extLst>
                        <a:ext uri="{FF2B5EF4-FFF2-40B4-BE49-F238E27FC236}">
                          <a16:creationId xmlns:a16="http://schemas.microsoft.com/office/drawing/2014/main" id="{04595A41-5652-1825-8D47-30F8FF636A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252953" y="2120343"/>
                      <a:ext cx="241369" cy="23213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4" name="Straight Connector 483">
                      <a:extLst>
                        <a:ext uri="{FF2B5EF4-FFF2-40B4-BE49-F238E27FC236}">
                          <a16:creationId xmlns:a16="http://schemas.microsoft.com/office/drawing/2014/main" id="{535A877B-ECCD-E636-6A2A-88551F61476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466374" y="2119086"/>
                      <a:ext cx="241369" cy="23213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5" name="Straight Connector 484">
                      <a:extLst>
                        <a:ext uri="{FF2B5EF4-FFF2-40B4-BE49-F238E27FC236}">
                          <a16:creationId xmlns:a16="http://schemas.microsoft.com/office/drawing/2014/main" id="{F2B699D2-2306-6995-5D82-061D24794C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706408" y="2220686"/>
                      <a:ext cx="0" cy="65586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6" name="Straight Connector 485">
                      <a:extLst>
                        <a:ext uri="{FF2B5EF4-FFF2-40B4-BE49-F238E27FC236}">
                          <a16:creationId xmlns:a16="http://schemas.microsoft.com/office/drawing/2014/main" id="{8BA697BE-E1CD-3518-09ED-44CEE01A68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632530" y="2296725"/>
                      <a:ext cx="0" cy="65586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7" name="Straight Connector 486">
                      <a:extLst>
                        <a:ext uri="{FF2B5EF4-FFF2-40B4-BE49-F238E27FC236}">
                          <a16:creationId xmlns:a16="http://schemas.microsoft.com/office/drawing/2014/main" id="{8ADFD31E-B265-26E7-4F94-6CE5A5568BC8}"/>
                        </a:ext>
                      </a:extLst>
                    </p:cNvPr>
                    <p:cNvCxnSpPr>
                      <a:cxnSpLocks/>
                      <a:stCxn id="471" idx="5"/>
                      <a:endCxn id="471" idx="4"/>
                    </p:cNvCxnSpPr>
                    <p:nvPr/>
                  </p:nvCxnSpPr>
                  <p:spPr>
                    <a:xfrm flipH="1">
                      <a:off x="11561336" y="2457854"/>
                      <a:ext cx="241369" cy="24136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8" name="Straight Connector 487">
                      <a:extLst>
                        <a:ext uri="{FF2B5EF4-FFF2-40B4-BE49-F238E27FC236}">
                          <a16:creationId xmlns:a16="http://schemas.microsoft.com/office/drawing/2014/main" id="{E2357EA0-B5A3-8327-7540-017CC19C76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59547" y="2585949"/>
                      <a:ext cx="241369" cy="24136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9" name="Straight Connector 488">
                      <a:extLst>
                        <a:ext uri="{FF2B5EF4-FFF2-40B4-BE49-F238E27FC236}">
                          <a16:creationId xmlns:a16="http://schemas.microsoft.com/office/drawing/2014/main" id="{3385A75D-A4B8-237C-2C11-AADC8F712CC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61335" y="2306331"/>
                      <a:ext cx="241369" cy="24136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540" name="Group 539">
                <a:extLst>
                  <a:ext uri="{FF2B5EF4-FFF2-40B4-BE49-F238E27FC236}">
                    <a16:creationId xmlns:a16="http://schemas.microsoft.com/office/drawing/2014/main" id="{B418275A-C3D2-4E64-DEB8-138CAD074E5E}"/>
                  </a:ext>
                </a:extLst>
              </p:cNvPr>
              <p:cNvGrpSpPr/>
              <p:nvPr/>
            </p:nvGrpSpPr>
            <p:grpSpPr>
              <a:xfrm>
                <a:off x="10132409" y="5275031"/>
                <a:ext cx="1670296" cy="918904"/>
                <a:chOff x="10134253" y="5003306"/>
                <a:chExt cx="1670296" cy="918904"/>
              </a:xfrm>
            </p:grpSpPr>
            <p:sp>
              <p:nvSpPr>
                <p:cNvPr id="408" name="Rectangle: Rounded Corners 407">
                  <a:extLst>
                    <a:ext uri="{FF2B5EF4-FFF2-40B4-BE49-F238E27FC236}">
                      <a16:creationId xmlns:a16="http://schemas.microsoft.com/office/drawing/2014/main" id="{88EFFD2E-53CE-B2EE-C223-CC873721271C}"/>
                    </a:ext>
                  </a:extLst>
                </p:cNvPr>
                <p:cNvSpPr/>
                <p:nvPr/>
              </p:nvSpPr>
              <p:spPr>
                <a:xfrm>
                  <a:off x="10134253" y="5165283"/>
                  <a:ext cx="640302" cy="607959"/>
                </a:xfrm>
                <a:prstGeom prst="roundRect">
                  <a:avLst/>
                </a:prstGeom>
                <a:solidFill>
                  <a:srgbClr val="7030A0">
                    <a:alpha val="25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90" name="Group 489">
                  <a:extLst>
                    <a:ext uri="{FF2B5EF4-FFF2-40B4-BE49-F238E27FC236}">
                      <a16:creationId xmlns:a16="http://schemas.microsoft.com/office/drawing/2014/main" id="{FE701815-993F-1E29-291F-2F9CA757D343}"/>
                    </a:ext>
                  </a:extLst>
                </p:cNvPr>
                <p:cNvGrpSpPr/>
                <p:nvPr/>
              </p:nvGrpSpPr>
              <p:grpSpPr>
                <a:xfrm>
                  <a:off x="11146348" y="5003306"/>
                  <a:ext cx="658201" cy="918904"/>
                  <a:chOff x="11144504" y="2119086"/>
                  <a:chExt cx="658201" cy="918904"/>
                </a:xfrm>
              </p:grpSpPr>
              <p:sp>
                <p:nvSpPr>
                  <p:cNvPr id="491" name="Cube 490">
                    <a:extLst>
                      <a:ext uri="{FF2B5EF4-FFF2-40B4-BE49-F238E27FC236}">
                        <a16:creationId xmlns:a16="http://schemas.microsoft.com/office/drawing/2014/main" id="{93346A52-18BB-46E8-3EB6-9B242903A28A}"/>
                      </a:ext>
                    </a:extLst>
                  </p:cNvPr>
                  <p:cNvSpPr/>
                  <p:nvPr/>
                </p:nvSpPr>
                <p:spPr>
                  <a:xfrm>
                    <a:off x="11144504" y="2119086"/>
                    <a:ext cx="658201" cy="918904"/>
                  </a:xfrm>
                  <a:prstGeom prst="cube">
                    <a:avLst>
                      <a:gd name="adj" fmla="val 36671"/>
                    </a:avLst>
                  </a:prstGeom>
                  <a:solidFill>
                    <a:srgbClr val="7030A0">
                      <a:alpha val="25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492" name="Group 491">
                    <a:extLst>
                      <a:ext uri="{FF2B5EF4-FFF2-40B4-BE49-F238E27FC236}">
                        <a16:creationId xmlns:a16="http://schemas.microsoft.com/office/drawing/2014/main" id="{65A7CE01-37E7-9153-56FF-1183A89DEA23}"/>
                      </a:ext>
                    </a:extLst>
                  </p:cNvPr>
                  <p:cNvGrpSpPr/>
                  <p:nvPr/>
                </p:nvGrpSpPr>
                <p:grpSpPr>
                  <a:xfrm>
                    <a:off x="11144504" y="2119086"/>
                    <a:ext cx="658201" cy="918904"/>
                    <a:chOff x="11144504" y="2119086"/>
                    <a:chExt cx="658201" cy="918904"/>
                  </a:xfrm>
                </p:grpSpPr>
                <p:cxnSp>
                  <p:nvCxnSpPr>
                    <p:cNvPr id="493" name="Straight Connector 492">
                      <a:extLst>
                        <a:ext uri="{FF2B5EF4-FFF2-40B4-BE49-F238E27FC236}">
                          <a16:creationId xmlns:a16="http://schemas.microsoft.com/office/drawing/2014/main" id="{5B951DA0-D982-3C67-F05F-FF1FB0D009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251320" y="2360455"/>
                      <a:ext cx="0" cy="67753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4" name="Straight Connector 493">
                      <a:extLst>
                        <a:ext uri="{FF2B5EF4-FFF2-40B4-BE49-F238E27FC236}">
                          <a16:creationId xmlns:a16="http://schemas.microsoft.com/office/drawing/2014/main" id="{9D4E1AC5-2015-CE05-8AAF-AE315360DE5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53800" y="2360455"/>
                      <a:ext cx="0" cy="67753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5" name="Straight Connector 494">
                      <a:extLst>
                        <a:ext uri="{FF2B5EF4-FFF2-40B4-BE49-F238E27FC236}">
                          <a16:creationId xmlns:a16="http://schemas.microsoft.com/office/drawing/2014/main" id="{77DBB746-BBB3-9953-0AF4-E6E5AF2EA13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52920" y="2360455"/>
                      <a:ext cx="0" cy="67753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6" name="Straight Connector 495">
                      <a:extLst>
                        <a:ext uri="{FF2B5EF4-FFF2-40B4-BE49-F238E27FC236}">
                          <a16:creationId xmlns:a16="http://schemas.microsoft.com/office/drawing/2014/main" id="{148F84D7-FE2B-50BB-712A-BE78FA67421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466374" y="2360455"/>
                      <a:ext cx="0" cy="67753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7" name="Straight Connector 496">
                      <a:extLst>
                        <a:ext uri="{FF2B5EF4-FFF2-40B4-BE49-F238E27FC236}">
                          <a16:creationId xmlns:a16="http://schemas.microsoft.com/office/drawing/2014/main" id="{B670753E-16DA-4521-1F8B-07799AE700DE}"/>
                        </a:ext>
                      </a:extLst>
                    </p:cNvPr>
                    <p:cNvCxnSpPr>
                      <a:cxnSpLocks/>
                      <a:stCxn id="491" idx="2"/>
                      <a:endCxn id="491" idx="4"/>
                    </p:cNvCxnSpPr>
                    <p:nvPr/>
                  </p:nvCxnSpPr>
                  <p:spPr>
                    <a:xfrm>
                      <a:off x="11144504" y="2699222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8" name="Straight Connector 497">
                      <a:extLst>
                        <a:ext uri="{FF2B5EF4-FFF2-40B4-BE49-F238E27FC236}">
                          <a16:creationId xmlns:a16="http://schemas.microsoft.com/office/drawing/2014/main" id="{EAC73822-6D62-C396-98FA-AB61DA2738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144504" y="2827196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9" name="Straight Connector 498">
                      <a:extLst>
                        <a:ext uri="{FF2B5EF4-FFF2-40B4-BE49-F238E27FC236}">
                          <a16:creationId xmlns:a16="http://schemas.microsoft.com/office/drawing/2014/main" id="{82B122A8-CEBD-0292-8EE3-1C04D06635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144504" y="2547699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0" name="Straight Connector 499">
                      <a:extLst>
                        <a:ext uri="{FF2B5EF4-FFF2-40B4-BE49-F238E27FC236}">
                          <a16:creationId xmlns:a16="http://schemas.microsoft.com/office/drawing/2014/main" id="{87D7C3A6-F20D-3997-AFEE-5C48AD9A8D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289576" y="2209658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1" name="Straight Connector 500">
                      <a:extLst>
                        <a:ext uri="{FF2B5EF4-FFF2-40B4-BE49-F238E27FC236}">
                          <a16:creationId xmlns:a16="http://schemas.microsoft.com/office/drawing/2014/main" id="{2D992012-00F7-DA56-C718-B6DC5C6918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231390" y="2278139"/>
                      <a:ext cx="41683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2" name="Straight Connector 501">
                      <a:extLst>
                        <a:ext uri="{FF2B5EF4-FFF2-40B4-BE49-F238E27FC236}">
                          <a16:creationId xmlns:a16="http://schemas.microsoft.com/office/drawing/2014/main" id="{94B42753-AA3A-15A1-B368-7BCCC535D8E2}"/>
                        </a:ext>
                      </a:extLst>
                    </p:cNvPr>
                    <p:cNvCxnSpPr>
                      <a:cxnSpLocks/>
                      <a:endCxn id="491" idx="0"/>
                    </p:cNvCxnSpPr>
                    <p:nvPr/>
                  </p:nvCxnSpPr>
                  <p:spPr>
                    <a:xfrm flipV="1">
                      <a:off x="11352920" y="2119086"/>
                      <a:ext cx="241369" cy="23213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3" name="Straight Connector 502">
                      <a:extLst>
                        <a:ext uri="{FF2B5EF4-FFF2-40B4-BE49-F238E27FC236}">
                          <a16:creationId xmlns:a16="http://schemas.microsoft.com/office/drawing/2014/main" id="{D15FB617-0523-3EF6-4F76-C61434595C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252953" y="2120343"/>
                      <a:ext cx="241369" cy="23213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4" name="Straight Connector 503">
                      <a:extLst>
                        <a:ext uri="{FF2B5EF4-FFF2-40B4-BE49-F238E27FC236}">
                          <a16:creationId xmlns:a16="http://schemas.microsoft.com/office/drawing/2014/main" id="{CBBC31BD-64F0-2980-BD15-21A59C9F44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466374" y="2119086"/>
                      <a:ext cx="241369" cy="23213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5" name="Straight Connector 504">
                      <a:extLst>
                        <a:ext uri="{FF2B5EF4-FFF2-40B4-BE49-F238E27FC236}">
                          <a16:creationId xmlns:a16="http://schemas.microsoft.com/office/drawing/2014/main" id="{6B21FF34-30B5-D225-4EB0-4B71022BDC8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706408" y="2220686"/>
                      <a:ext cx="0" cy="65586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6" name="Straight Connector 505">
                      <a:extLst>
                        <a:ext uri="{FF2B5EF4-FFF2-40B4-BE49-F238E27FC236}">
                          <a16:creationId xmlns:a16="http://schemas.microsoft.com/office/drawing/2014/main" id="{1C7D5574-F9F0-A942-DA60-BA33764719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632530" y="2296725"/>
                      <a:ext cx="0" cy="65586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7" name="Straight Connector 506">
                      <a:extLst>
                        <a:ext uri="{FF2B5EF4-FFF2-40B4-BE49-F238E27FC236}">
                          <a16:creationId xmlns:a16="http://schemas.microsoft.com/office/drawing/2014/main" id="{143DC6B3-2D4E-9723-0163-749FF0175A2F}"/>
                        </a:ext>
                      </a:extLst>
                    </p:cNvPr>
                    <p:cNvCxnSpPr>
                      <a:cxnSpLocks/>
                      <a:stCxn id="491" idx="5"/>
                      <a:endCxn id="491" idx="4"/>
                    </p:cNvCxnSpPr>
                    <p:nvPr/>
                  </p:nvCxnSpPr>
                  <p:spPr>
                    <a:xfrm flipH="1">
                      <a:off x="11561336" y="2457854"/>
                      <a:ext cx="241369" cy="24136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8" name="Straight Connector 507">
                      <a:extLst>
                        <a:ext uri="{FF2B5EF4-FFF2-40B4-BE49-F238E27FC236}">
                          <a16:creationId xmlns:a16="http://schemas.microsoft.com/office/drawing/2014/main" id="{F48F7F6E-E860-7446-102C-13C244B5BC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59547" y="2585949"/>
                      <a:ext cx="241369" cy="24136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9" name="Straight Connector 508">
                      <a:extLst>
                        <a:ext uri="{FF2B5EF4-FFF2-40B4-BE49-F238E27FC236}">
                          <a16:creationId xmlns:a16="http://schemas.microsoft.com/office/drawing/2014/main" id="{211F2452-67A9-CB32-0CCC-C39B899C48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61335" y="2306331"/>
                      <a:ext cx="241369" cy="24136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cxnSp>
            <p:nvCxnSpPr>
              <p:cNvPr id="559" name="Straight Connector 558">
                <a:extLst>
                  <a:ext uri="{FF2B5EF4-FFF2-40B4-BE49-F238E27FC236}">
                    <a16:creationId xmlns:a16="http://schemas.microsoft.com/office/drawing/2014/main" id="{F1723F29-3B7F-C3F9-C5FA-99640A109F79}"/>
                  </a:ext>
                </a:extLst>
              </p:cNvPr>
              <p:cNvCxnSpPr/>
              <p:nvPr/>
            </p:nvCxnSpPr>
            <p:spPr>
              <a:xfrm>
                <a:off x="9899961" y="2537453"/>
                <a:ext cx="0" cy="3387387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Straight Arrow Connector 561">
                <a:extLst>
                  <a:ext uri="{FF2B5EF4-FFF2-40B4-BE49-F238E27FC236}">
                    <a16:creationId xmlns:a16="http://schemas.microsoft.com/office/drawing/2014/main" id="{A75FD00F-D38F-8986-1F3D-3895882284CF}"/>
                  </a:ext>
                </a:extLst>
              </p:cNvPr>
              <p:cNvCxnSpPr/>
              <p:nvPr/>
            </p:nvCxnSpPr>
            <p:spPr>
              <a:xfrm>
                <a:off x="9899961" y="2537453"/>
                <a:ext cx="210074" cy="0"/>
              </a:xfrm>
              <a:prstGeom prst="straightConnector1">
                <a:avLst/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Straight Arrow Connector 563">
                <a:extLst>
                  <a:ext uri="{FF2B5EF4-FFF2-40B4-BE49-F238E27FC236}">
                    <a16:creationId xmlns:a16="http://schemas.microsoft.com/office/drawing/2014/main" id="{530198B5-12A7-7ACC-F5A7-7AC47A613229}"/>
                  </a:ext>
                </a:extLst>
              </p:cNvPr>
              <p:cNvCxnSpPr/>
              <p:nvPr/>
            </p:nvCxnSpPr>
            <p:spPr>
              <a:xfrm>
                <a:off x="9899961" y="5924840"/>
                <a:ext cx="210074" cy="0"/>
              </a:xfrm>
              <a:prstGeom prst="straightConnector1">
                <a:avLst/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Arrow Connector 565">
                <a:extLst>
                  <a:ext uri="{FF2B5EF4-FFF2-40B4-BE49-F238E27FC236}">
                    <a16:creationId xmlns:a16="http://schemas.microsoft.com/office/drawing/2014/main" id="{820C2AEF-F78F-533A-861E-2D74FF8693E5}"/>
                  </a:ext>
                </a:extLst>
              </p:cNvPr>
              <p:cNvCxnSpPr/>
              <p:nvPr/>
            </p:nvCxnSpPr>
            <p:spPr>
              <a:xfrm>
                <a:off x="9899961" y="4020648"/>
                <a:ext cx="210074" cy="0"/>
              </a:xfrm>
              <a:prstGeom prst="straightConnector1">
                <a:avLst/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Arrow Connector 567">
                <a:extLst>
                  <a:ext uri="{FF2B5EF4-FFF2-40B4-BE49-F238E27FC236}">
                    <a16:creationId xmlns:a16="http://schemas.microsoft.com/office/drawing/2014/main" id="{93FA6029-5F9C-053A-B50E-D7FE3EAB2151}"/>
                  </a:ext>
                </a:extLst>
              </p:cNvPr>
              <p:cNvCxnSpPr>
                <a:stCxn id="396" idx="3"/>
                <a:endCxn id="393" idx="2"/>
              </p:cNvCxnSpPr>
              <p:nvPr/>
            </p:nvCxnSpPr>
            <p:spPr>
              <a:xfrm>
                <a:off x="10750337" y="2690759"/>
                <a:ext cx="394167" cy="84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Arrow Connector 568">
                <a:extLst>
                  <a:ext uri="{FF2B5EF4-FFF2-40B4-BE49-F238E27FC236}">
                    <a16:creationId xmlns:a16="http://schemas.microsoft.com/office/drawing/2014/main" id="{012744C2-C879-A3C7-E6D7-613337FB8F2E}"/>
                  </a:ext>
                </a:extLst>
              </p:cNvPr>
              <p:cNvCxnSpPr/>
              <p:nvPr/>
            </p:nvCxnSpPr>
            <p:spPr>
              <a:xfrm>
                <a:off x="10738268" y="4205162"/>
                <a:ext cx="394167" cy="84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Arrow Connector 569">
                <a:extLst>
                  <a:ext uri="{FF2B5EF4-FFF2-40B4-BE49-F238E27FC236}">
                    <a16:creationId xmlns:a16="http://schemas.microsoft.com/office/drawing/2014/main" id="{ACA1142A-739B-5365-68A5-CF5C8FF0BBA0}"/>
                  </a:ext>
                </a:extLst>
              </p:cNvPr>
              <p:cNvCxnSpPr/>
              <p:nvPr/>
            </p:nvCxnSpPr>
            <p:spPr>
              <a:xfrm>
                <a:off x="10762992" y="5740987"/>
                <a:ext cx="394167" cy="84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1" name="TextBox 570">
                <a:extLst>
                  <a:ext uri="{FF2B5EF4-FFF2-40B4-BE49-F238E27FC236}">
                    <a16:creationId xmlns:a16="http://schemas.microsoft.com/office/drawing/2014/main" id="{D2566A91-4F61-9348-F005-5D70C3FF4C9A}"/>
                  </a:ext>
                </a:extLst>
              </p:cNvPr>
              <p:cNvSpPr txBox="1"/>
              <p:nvPr/>
            </p:nvSpPr>
            <p:spPr>
              <a:xfrm>
                <a:off x="10840582" y="3266330"/>
                <a:ext cx="128753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H/2XW/2XC/4 (64ch)</a:t>
                </a:r>
              </a:p>
            </p:txBody>
          </p:sp>
          <p:sp>
            <p:nvSpPr>
              <p:cNvPr id="573" name="TextBox 572">
                <a:extLst>
                  <a:ext uri="{FF2B5EF4-FFF2-40B4-BE49-F238E27FC236}">
                    <a16:creationId xmlns:a16="http://schemas.microsoft.com/office/drawing/2014/main" id="{489721E1-A048-886E-2920-57F067A8158B}"/>
                  </a:ext>
                </a:extLst>
              </p:cNvPr>
              <p:cNvSpPr txBox="1"/>
              <p:nvPr/>
            </p:nvSpPr>
            <p:spPr>
              <a:xfrm>
                <a:off x="10784885" y="4837684"/>
                <a:ext cx="135325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H/4XW/4XC/2 (128ch)</a:t>
                </a:r>
              </a:p>
            </p:txBody>
          </p:sp>
          <p:cxnSp>
            <p:nvCxnSpPr>
              <p:cNvPr id="575" name="Straight Arrow Connector 574">
                <a:extLst>
                  <a:ext uri="{FF2B5EF4-FFF2-40B4-BE49-F238E27FC236}">
                    <a16:creationId xmlns:a16="http://schemas.microsoft.com/office/drawing/2014/main" id="{95E54A55-4234-BF70-90A9-A8DE45B16E08}"/>
                  </a:ext>
                </a:extLst>
              </p:cNvPr>
              <p:cNvCxnSpPr>
                <a:stCxn id="393" idx="3"/>
              </p:cNvCxnSpPr>
              <p:nvPr/>
            </p:nvCxnSpPr>
            <p:spPr>
              <a:xfrm flipH="1">
                <a:off x="11347554" y="3037990"/>
                <a:ext cx="5366" cy="2283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Straight Arrow Connector 575">
                <a:extLst>
                  <a:ext uri="{FF2B5EF4-FFF2-40B4-BE49-F238E27FC236}">
                    <a16:creationId xmlns:a16="http://schemas.microsoft.com/office/drawing/2014/main" id="{5AA6F7FD-855C-952E-6A7F-18E41C591963}"/>
                  </a:ext>
                </a:extLst>
              </p:cNvPr>
              <p:cNvCxnSpPr/>
              <p:nvPr/>
            </p:nvCxnSpPr>
            <p:spPr>
              <a:xfrm flipH="1">
                <a:off x="11347554" y="4582374"/>
                <a:ext cx="5366" cy="2283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" name="Straight Arrow Connector 576">
                <a:extLst>
                  <a:ext uri="{FF2B5EF4-FFF2-40B4-BE49-F238E27FC236}">
                    <a16:creationId xmlns:a16="http://schemas.microsoft.com/office/drawing/2014/main" id="{5320DFB5-9FC3-44A7-C7CB-21C3BECA912D}"/>
                  </a:ext>
                </a:extLst>
              </p:cNvPr>
              <p:cNvCxnSpPr/>
              <p:nvPr/>
            </p:nvCxnSpPr>
            <p:spPr>
              <a:xfrm flipH="1">
                <a:off x="11349436" y="6180698"/>
                <a:ext cx="5366" cy="2283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9" name="TextBox 578">
                <a:extLst>
                  <a:ext uri="{FF2B5EF4-FFF2-40B4-BE49-F238E27FC236}">
                    <a16:creationId xmlns:a16="http://schemas.microsoft.com/office/drawing/2014/main" id="{EB2E801F-F7FF-1833-7980-C219339161E9}"/>
                  </a:ext>
                </a:extLst>
              </p:cNvPr>
              <p:cNvSpPr txBox="1"/>
              <p:nvPr/>
            </p:nvSpPr>
            <p:spPr>
              <a:xfrm>
                <a:off x="10742581" y="6371250"/>
                <a:ext cx="123783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H/8XW/8XC (256ch)</a:t>
                </a:r>
              </a:p>
            </p:txBody>
          </p:sp>
          <p:sp>
            <p:nvSpPr>
              <p:cNvPr id="581" name="TextBox 580">
                <a:extLst>
                  <a:ext uri="{FF2B5EF4-FFF2-40B4-BE49-F238E27FC236}">
                    <a16:creationId xmlns:a16="http://schemas.microsoft.com/office/drawing/2014/main" id="{46D8FC5F-75E3-AA1D-8926-C9A2C2BFE013}"/>
                  </a:ext>
                </a:extLst>
              </p:cNvPr>
              <p:cNvSpPr txBox="1"/>
              <p:nvPr/>
            </p:nvSpPr>
            <p:spPr>
              <a:xfrm>
                <a:off x="10069281" y="2474641"/>
                <a:ext cx="76655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1X1 Conv +</a:t>
                </a:r>
              </a:p>
              <a:p>
                <a:r>
                  <a:rPr lang="en-US" sz="1000" dirty="0"/>
                  <a:t>BN +</a:t>
                </a:r>
                <a:r>
                  <a:rPr lang="en-US" sz="1000" dirty="0" err="1"/>
                  <a:t>ReLU</a:t>
                </a:r>
                <a:r>
                  <a:rPr lang="en-US" sz="1000" dirty="0"/>
                  <a:t> </a:t>
                </a:r>
              </a:p>
              <a:p>
                <a:r>
                  <a:rPr lang="en-US" sz="1000" dirty="0"/>
                  <a:t>(W</a:t>
                </a:r>
                <a:r>
                  <a:rPr lang="en-US" sz="1000" baseline="-25000" dirty="0"/>
                  <a:t>s0</a:t>
                </a:r>
                <a:r>
                  <a:rPr lang="en-US" sz="1000" dirty="0"/>
                  <a:t>)</a:t>
                </a:r>
                <a:endParaRPr lang="en-US" sz="1000" baseline="-25000" dirty="0"/>
              </a:p>
            </p:txBody>
          </p:sp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2B08F253-007A-E362-D20B-46B5B2719B7F}"/>
                  </a:ext>
                </a:extLst>
              </p:cNvPr>
              <p:cNvSpPr txBox="1"/>
              <p:nvPr/>
            </p:nvSpPr>
            <p:spPr>
              <a:xfrm>
                <a:off x="10069281" y="3922498"/>
                <a:ext cx="76655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1X1 Conv +</a:t>
                </a:r>
              </a:p>
              <a:p>
                <a:r>
                  <a:rPr lang="en-US" sz="1000" dirty="0"/>
                  <a:t>BN +</a:t>
                </a:r>
                <a:r>
                  <a:rPr lang="en-US" sz="1000" dirty="0" err="1"/>
                  <a:t>ReLU</a:t>
                </a:r>
                <a:r>
                  <a:rPr lang="en-US" sz="1000" dirty="0"/>
                  <a:t> </a:t>
                </a:r>
              </a:p>
              <a:p>
                <a:r>
                  <a:rPr lang="en-US" sz="1000" dirty="0"/>
                  <a:t>(W</a:t>
                </a:r>
                <a:r>
                  <a:rPr lang="en-US" sz="1000" baseline="-25000" dirty="0"/>
                  <a:t>s1</a:t>
                </a:r>
                <a:r>
                  <a:rPr lang="en-US" sz="1000" dirty="0"/>
                  <a:t>)</a:t>
                </a:r>
                <a:endParaRPr lang="en-US" sz="1000" baseline="-25000" dirty="0"/>
              </a:p>
            </p:txBody>
          </p:sp>
          <p:sp>
            <p:nvSpPr>
              <p:cNvPr id="585" name="TextBox 584">
                <a:extLst>
                  <a:ext uri="{FF2B5EF4-FFF2-40B4-BE49-F238E27FC236}">
                    <a16:creationId xmlns:a16="http://schemas.microsoft.com/office/drawing/2014/main" id="{F75D222D-C618-9AAB-4FF8-D6AD4D7DBBE2}"/>
                  </a:ext>
                </a:extLst>
              </p:cNvPr>
              <p:cNvSpPr txBox="1"/>
              <p:nvPr/>
            </p:nvSpPr>
            <p:spPr>
              <a:xfrm>
                <a:off x="10094993" y="5479936"/>
                <a:ext cx="76655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1X1 Conv +</a:t>
                </a:r>
              </a:p>
              <a:p>
                <a:r>
                  <a:rPr lang="en-US" sz="1000" dirty="0"/>
                  <a:t>BN +</a:t>
                </a:r>
                <a:r>
                  <a:rPr lang="en-US" sz="1000" dirty="0" err="1"/>
                  <a:t>ReLU</a:t>
                </a:r>
                <a:r>
                  <a:rPr lang="en-US" sz="1000" dirty="0"/>
                  <a:t> </a:t>
                </a:r>
              </a:p>
              <a:p>
                <a:r>
                  <a:rPr lang="en-US" sz="1000" dirty="0"/>
                  <a:t>(W</a:t>
                </a:r>
                <a:r>
                  <a:rPr lang="en-US" sz="1000" baseline="-25000" dirty="0"/>
                  <a:t>s2</a:t>
                </a:r>
                <a:r>
                  <a:rPr lang="en-US" sz="1000" dirty="0"/>
                  <a:t>)</a:t>
                </a:r>
                <a:endParaRPr lang="en-US" sz="1000" baseline="-25000" dirty="0"/>
              </a:p>
            </p:txBody>
          </p:sp>
          <p:sp>
            <p:nvSpPr>
              <p:cNvPr id="586" name="TextBox 585">
                <a:extLst>
                  <a:ext uri="{FF2B5EF4-FFF2-40B4-BE49-F238E27FC236}">
                    <a16:creationId xmlns:a16="http://schemas.microsoft.com/office/drawing/2014/main" id="{5695B886-61E1-B5E1-F4A3-CA31F5CBEAEE}"/>
                  </a:ext>
                </a:extLst>
              </p:cNvPr>
              <p:cNvSpPr txBox="1"/>
              <p:nvPr/>
            </p:nvSpPr>
            <p:spPr>
              <a:xfrm>
                <a:off x="9997395" y="1930160"/>
                <a:ext cx="11471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From S</a:t>
                </a:r>
                <a:r>
                  <a:rPr lang="en-US" sz="1100" baseline="-25000" dirty="0"/>
                  <a:t>0</a:t>
                </a:r>
              </a:p>
              <a:p>
                <a:r>
                  <a:rPr lang="en-US" baseline="-25000" dirty="0"/>
                  <a:t>(Conv1 Output)</a:t>
                </a:r>
              </a:p>
            </p:txBody>
          </p:sp>
          <p:sp>
            <p:nvSpPr>
              <p:cNvPr id="588" name="TextBox 587">
                <a:extLst>
                  <a:ext uri="{FF2B5EF4-FFF2-40B4-BE49-F238E27FC236}">
                    <a16:creationId xmlns:a16="http://schemas.microsoft.com/office/drawing/2014/main" id="{BC9BA5E2-F06A-2741-6A7A-0DE18E3D472B}"/>
                  </a:ext>
                </a:extLst>
              </p:cNvPr>
              <p:cNvSpPr txBox="1"/>
              <p:nvPr/>
            </p:nvSpPr>
            <p:spPr>
              <a:xfrm>
                <a:off x="10003034" y="3444078"/>
                <a:ext cx="1168974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From S</a:t>
                </a:r>
                <a:r>
                  <a:rPr lang="en-US" sz="1100" baseline="-25000" dirty="0"/>
                  <a:t>1</a:t>
                </a:r>
              </a:p>
              <a:p>
                <a:r>
                  <a:rPr lang="en-US" baseline="-25000" dirty="0"/>
                  <a:t>(Layer1 Output)</a:t>
                </a:r>
              </a:p>
            </p:txBody>
          </p:sp>
          <p:sp>
            <p:nvSpPr>
              <p:cNvPr id="590" name="TextBox 589">
                <a:extLst>
                  <a:ext uri="{FF2B5EF4-FFF2-40B4-BE49-F238E27FC236}">
                    <a16:creationId xmlns:a16="http://schemas.microsoft.com/office/drawing/2014/main" id="{DFB2191D-D042-7AA5-CFB0-0670F6068CB7}"/>
                  </a:ext>
                </a:extLst>
              </p:cNvPr>
              <p:cNvSpPr txBox="1"/>
              <p:nvPr/>
            </p:nvSpPr>
            <p:spPr>
              <a:xfrm>
                <a:off x="9988185" y="4915314"/>
                <a:ext cx="1168974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From S</a:t>
                </a:r>
                <a:r>
                  <a:rPr lang="en-US" sz="1100" baseline="-25000" dirty="0"/>
                  <a:t>2</a:t>
                </a:r>
              </a:p>
              <a:p>
                <a:r>
                  <a:rPr lang="en-US" baseline="-25000" dirty="0"/>
                  <a:t>(Layer2 Output)</a:t>
                </a:r>
              </a:p>
            </p:txBody>
          </p:sp>
        </p:grp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A8A00F37-A505-8B86-1C89-E81E830E91B8}"/>
                </a:ext>
              </a:extLst>
            </p:cNvPr>
            <p:cNvSpPr txBox="1"/>
            <p:nvPr/>
          </p:nvSpPr>
          <p:spPr>
            <a:xfrm>
              <a:off x="8795367" y="5182123"/>
              <a:ext cx="606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AvgPool</a:t>
              </a:r>
              <a:endParaRPr lang="en-US" sz="1000" dirty="0"/>
            </a:p>
            <a:p>
              <a:r>
                <a:rPr lang="en-US" sz="1000" dirty="0"/>
                <a:t>k=2,s=2</a:t>
              </a:r>
            </a:p>
          </p:txBody>
        </p:sp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id="{226143C6-7B57-EC68-7357-5777C73F0CC9}"/>
                </a:ext>
              </a:extLst>
            </p:cNvPr>
            <p:cNvSpPr txBox="1"/>
            <p:nvPr/>
          </p:nvSpPr>
          <p:spPr>
            <a:xfrm>
              <a:off x="7752850" y="5886076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H/8XW/8XC</a:t>
              </a:r>
            </a:p>
            <a:p>
              <a:pPr algn="ctr"/>
              <a:r>
                <a:rPr lang="en-US" sz="1000" dirty="0"/>
                <a:t>(C=256)</a:t>
              </a:r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03DE4DEA-B0BF-A33B-2221-142CB854C5CD}"/>
                </a:ext>
              </a:extLst>
            </p:cNvPr>
            <p:cNvSpPr txBox="1"/>
            <p:nvPr/>
          </p:nvSpPr>
          <p:spPr>
            <a:xfrm>
              <a:off x="6092896" y="5980643"/>
              <a:ext cx="9284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H/8XW/8XC/2</a:t>
              </a:r>
            </a:p>
          </p:txBody>
        </p:sp>
        <p:sp>
          <p:nvSpPr>
            <p:cNvPr id="598" name="TextBox 597">
              <a:extLst>
                <a:ext uri="{FF2B5EF4-FFF2-40B4-BE49-F238E27FC236}">
                  <a16:creationId xmlns:a16="http://schemas.microsoft.com/office/drawing/2014/main" id="{4613A8C1-2E8D-BCC1-32BE-D7F886AA1207}"/>
                </a:ext>
              </a:extLst>
            </p:cNvPr>
            <p:cNvSpPr txBox="1"/>
            <p:nvPr/>
          </p:nvSpPr>
          <p:spPr>
            <a:xfrm>
              <a:off x="7174085" y="5216970"/>
              <a:ext cx="4459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1X1 </a:t>
              </a:r>
            </a:p>
            <a:p>
              <a:r>
                <a:rPr lang="en-US" sz="1000" dirty="0"/>
                <a:t>Conv</a:t>
              </a:r>
            </a:p>
          </p:txBody>
        </p:sp>
        <p:sp>
          <p:nvSpPr>
            <p:cNvPr id="600" name="TextBox 599">
              <a:extLst>
                <a:ext uri="{FF2B5EF4-FFF2-40B4-BE49-F238E27FC236}">
                  <a16:creationId xmlns:a16="http://schemas.microsoft.com/office/drawing/2014/main" id="{F91358AC-E608-7E4C-BC66-DA1DAD040A95}"/>
                </a:ext>
              </a:extLst>
            </p:cNvPr>
            <p:cNvSpPr txBox="1"/>
            <p:nvPr/>
          </p:nvSpPr>
          <p:spPr>
            <a:xfrm>
              <a:off x="8713732" y="6307136"/>
              <a:ext cx="6511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16X16XC</a:t>
              </a:r>
            </a:p>
            <a:p>
              <a:pPr algn="ctr"/>
              <a:r>
                <a:rPr lang="en-US" sz="1000" dirty="0"/>
                <a:t>(C=256)</a:t>
              </a:r>
            </a:p>
          </p:txBody>
        </p:sp>
        <p:grpSp>
          <p:nvGrpSpPr>
            <p:cNvPr id="627" name="Group 626">
              <a:extLst>
                <a:ext uri="{FF2B5EF4-FFF2-40B4-BE49-F238E27FC236}">
                  <a16:creationId xmlns:a16="http://schemas.microsoft.com/office/drawing/2014/main" id="{D21D20D5-1386-296B-197A-591A1967F039}"/>
                </a:ext>
              </a:extLst>
            </p:cNvPr>
            <p:cNvGrpSpPr/>
            <p:nvPr/>
          </p:nvGrpSpPr>
          <p:grpSpPr>
            <a:xfrm>
              <a:off x="9410521" y="949353"/>
              <a:ext cx="423514" cy="1832037"/>
              <a:chOff x="9410521" y="949353"/>
              <a:chExt cx="423514" cy="1832037"/>
            </a:xfrm>
          </p:grpSpPr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E4003DAF-85DE-D2D7-24E6-DAFE042BDCA9}"/>
                  </a:ext>
                </a:extLst>
              </p:cNvPr>
              <p:cNvSpPr/>
              <p:nvPr/>
            </p:nvSpPr>
            <p:spPr>
              <a:xfrm>
                <a:off x="9521529" y="1283869"/>
                <a:ext cx="236220" cy="149752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8" name="TextBox 517">
                <a:extLst>
                  <a:ext uri="{FF2B5EF4-FFF2-40B4-BE49-F238E27FC236}">
                    <a16:creationId xmlns:a16="http://schemas.microsoft.com/office/drawing/2014/main" id="{DAB6F9EA-D546-AC0A-EB7C-7B5011D79B6C}"/>
                  </a:ext>
                </a:extLst>
              </p:cNvPr>
              <p:cNvSpPr txBox="1"/>
              <p:nvPr/>
            </p:nvSpPr>
            <p:spPr>
              <a:xfrm>
                <a:off x="9410521" y="949353"/>
                <a:ext cx="4235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/>
                  <a:t>X</a:t>
                </a:r>
                <a:r>
                  <a:rPr lang="en-US" sz="1200" baseline="-25000" dirty="0" err="1"/>
                  <a:t>app</a:t>
                </a:r>
                <a:endParaRPr lang="en-US" sz="1200" baseline="-25000" dirty="0"/>
              </a:p>
            </p:txBody>
          </p:sp>
          <p:cxnSp>
            <p:nvCxnSpPr>
              <p:cNvPr id="604" name="Straight Connector 603">
                <a:extLst>
                  <a:ext uri="{FF2B5EF4-FFF2-40B4-BE49-F238E27FC236}">
                    <a16:creationId xmlns:a16="http://schemas.microsoft.com/office/drawing/2014/main" id="{728B2CC7-D9DA-F4A6-F57B-D7579E4528CE}"/>
                  </a:ext>
                </a:extLst>
              </p:cNvPr>
              <p:cNvCxnSpPr>
                <a:stCxn id="389" idx="1"/>
                <a:endCxn id="389" idx="3"/>
              </p:cNvCxnSpPr>
              <p:nvPr/>
            </p:nvCxnSpPr>
            <p:spPr>
              <a:xfrm>
                <a:off x="9521529" y="2032630"/>
                <a:ext cx="2362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" name="Straight Connector 604">
                <a:extLst>
                  <a:ext uri="{FF2B5EF4-FFF2-40B4-BE49-F238E27FC236}">
                    <a16:creationId xmlns:a16="http://schemas.microsoft.com/office/drawing/2014/main" id="{E7C185D4-99C0-F906-2369-5B348D873DEF}"/>
                  </a:ext>
                </a:extLst>
              </p:cNvPr>
              <p:cNvCxnSpPr/>
              <p:nvPr/>
            </p:nvCxnSpPr>
            <p:spPr>
              <a:xfrm>
                <a:off x="9516425" y="2315103"/>
                <a:ext cx="2362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" name="Straight Connector 605">
                <a:extLst>
                  <a:ext uri="{FF2B5EF4-FFF2-40B4-BE49-F238E27FC236}">
                    <a16:creationId xmlns:a16="http://schemas.microsoft.com/office/drawing/2014/main" id="{83FC5936-7BC0-0BC5-9DDB-36BCCB062D41}"/>
                  </a:ext>
                </a:extLst>
              </p:cNvPr>
              <p:cNvCxnSpPr/>
              <p:nvPr/>
            </p:nvCxnSpPr>
            <p:spPr>
              <a:xfrm>
                <a:off x="9516425" y="1515214"/>
                <a:ext cx="2362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7" name="Straight Connector 606">
                <a:extLst>
                  <a:ext uri="{FF2B5EF4-FFF2-40B4-BE49-F238E27FC236}">
                    <a16:creationId xmlns:a16="http://schemas.microsoft.com/office/drawing/2014/main" id="{C3BBF184-1E71-851F-2BB3-3E57DDC94E60}"/>
                  </a:ext>
                </a:extLst>
              </p:cNvPr>
              <p:cNvCxnSpPr/>
              <p:nvPr/>
            </p:nvCxnSpPr>
            <p:spPr>
              <a:xfrm>
                <a:off x="9516425" y="1751323"/>
                <a:ext cx="2362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2" name="Oval 611">
                <a:extLst>
                  <a:ext uri="{FF2B5EF4-FFF2-40B4-BE49-F238E27FC236}">
                    <a16:creationId xmlns:a16="http://schemas.microsoft.com/office/drawing/2014/main" id="{62E2C9D7-C328-70A8-3090-AB85AAE87046}"/>
                  </a:ext>
                </a:extLst>
              </p:cNvPr>
              <p:cNvSpPr/>
              <p:nvPr/>
            </p:nvSpPr>
            <p:spPr>
              <a:xfrm>
                <a:off x="9593121" y="1388517"/>
                <a:ext cx="91440" cy="914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4" name="Oval 613">
                <a:extLst>
                  <a:ext uri="{FF2B5EF4-FFF2-40B4-BE49-F238E27FC236}">
                    <a16:creationId xmlns:a16="http://schemas.microsoft.com/office/drawing/2014/main" id="{BDC6E36F-EC1C-B15D-553A-54D77B4C50D1}"/>
                  </a:ext>
                </a:extLst>
              </p:cNvPr>
              <p:cNvSpPr/>
              <p:nvPr/>
            </p:nvSpPr>
            <p:spPr>
              <a:xfrm>
                <a:off x="9593121" y="1874436"/>
                <a:ext cx="91440" cy="914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6" name="Oval 615">
                <a:extLst>
                  <a:ext uri="{FF2B5EF4-FFF2-40B4-BE49-F238E27FC236}">
                    <a16:creationId xmlns:a16="http://schemas.microsoft.com/office/drawing/2014/main" id="{386F958C-48FA-29FE-7D29-5EE1A4033D69}"/>
                  </a:ext>
                </a:extLst>
              </p:cNvPr>
              <p:cNvSpPr/>
              <p:nvPr/>
            </p:nvSpPr>
            <p:spPr>
              <a:xfrm>
                <a:off x="9593121" y="2456004"/>
                <a:ext cx="91440" cy="914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DA4C6383-2F79-E279-26B6-D68CE7A06ED9}"/>
                </a:ext>
              </a:extLst>
            </p:cNvPr>
            <p:cNvGrpSpPr/>
            <p:nvPr/>
          </p:nvGrpSpPr>
          <p:grpSpPr>
            <a:xfrm>
              <a:off x="9417598" y="4454463"/>
              <a:ext cx="421910" cy="1882053"/>
              <a:chOff x="9417598" y="4454463"/>
              <a:chExt cx="421910" cy="1882053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B6F827C-1283-7A15-9E89-DED7C0EEC688}"/>
                  </a:ext>
                </a:extLst>
              </p:cNvPr>
              <p:cNvSpPr/>
              <p:nvPr/>
            </p:nvSpPr>
            <p:spPr>
              <a:xfrm>
                <a:off x="9525406" y="4838995"/>
                <a:ext cx="236220" cy="149752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625" name="Group 624">
                <a:extLst>
                  <a:ext uri="{FF2B5EF4-FFF2-40B4-BE49-F238E27FC236}">
                    <a16:creationId xmlns:a16="http://schemas.microsoft.com/office/drawing/2014/main" id="{66EC7F12-D461-4F1E-544C-C297830DD203}"/>
                  </a:ext>
                </a:extLst>
              </p:cNvPr>
              <p:cNvGrpSpPr/>
              <p:nvPr/>
            </p:nvGrpSpPr>
            <p:grpSpPr>
              <a:xfrm>
                <a:off x="9417598" y="4454463"/>
                <a:ext cx="421910" cy="1772401"/>
                <a:chOff x="9417598" y="4454463"/>
                <a:chExt cx="421910" cy="1772401"/>
              </a:xfrm>
            </p:grpSpPr>
            <p:sp>
              <p:nvSpPr>
                <p:cNvPr id="602" name="TextBox 601">
                  <a:extLst>
                    <a:ext uri="{FF2B5EF4-FFF2-40B4-BE49-F238E27FC236}">
                      <a16:creationId xmlns:a16="http://schemas.microsoft.com/office/drawing/2014/main" id="{889DC4B5-4D94-9216-F6A0-ED4D2716900C}"/>
                    </a:ext>
                  </a:extLst>
                </p:cNvPr>
                <p:cNvSpPr txBox="1"/>
                <p:nvPr/>
              </p:nvSpPr>
              <p:spPr>
                <a:xfrm>
                  <a:off x="9417598" y="4454463"/>
                  <a:ext cx="421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err="1"/>
                    <a:t>X</a:t>
                  </a:r>
                  <a:r>
                    <a:rPr lang="en-US" sz="1200" baseline="-25000" dirty="0" err="1"/>
                    <a:t>srm</a:t>
                  </a:r>
                  <a:endParaRPr lang="en-US" sz="1200" baseline="-25000" dirty="0"/>
                </a:p>
              </p:txBody>
            </p:sp>
            <p:grpSp>
              <p:nvGrpSpPr>
                <p:cNvPr id="624" name="Group 623">
                  <a:extLst>
                    <a:ext uri="{FF2B5EF4-FFF2-40B4-BE49-F238E27FC236}">
                      <a16:creationId xmlns:a16="http://schemas.microsoft.com/office/drawing/2014/main" id="{91BF2F11-0665-9144-E21C-C45AF1745B40}"/>
                    </a:ext>
                  </a:extLst>
                </p:cNvPr>
                <p:cNvGrpSpPr/>
                <p:nvPr/>
              </p:nvGrpSpPr>
              <p:grpSpPr>
                <a:xfrm>
                  <a:off x="9520731" y="5000629"/>
                  <a:ext cx="236220" cy="1226235"/>
                  <a:chOff x="9520731" y="5000629"/>
                  <a:chExt cx="236220" cy="1226235"/>
                </a:xfrm>
              </p:grpSpPr>
              <p:cxnSp>
                <p:nvCxnSpPr>
                  <p:cNvPr id="608" name="Straight Connector 607">
                    <a:extLst>
                      <a:ext uri="{FF2B5EF4-FFF2-40B4-BE49-F238E27FC236}">
                        <a16:creationId xmlns:a16="http://schemas.microsoft.com/office/drawing/2014/main" id="{A9E9C6B9-882A-49D8-644B-4768FB4AC196}"/>
                      </a:ext>
                    </a:extLst>
                  </p:cNvPr>
                  <p:cNvCxnSpPr/>
                  <p:nvPr/>
                </p:nvCxnSpPr>
                <p:spPr>
                  <a:xfrm>
                    <a:off x="9520731" y="5582233"/>
                    <a:ext cx="23622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9" name="Straight Connector 608">
                    <a:extLst>
                      <a:ext uri="{FF2B5EF4-FFF2-40B4-BE49-F238E27FC236}">
                        <a16:creationId xmlns:a16="http://schemas.microsoft.com/office/drawing/2014/main" id="{C624D6FE-FDC8-DB4D-00CE-9D448D30C8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520731" y="5978134"/>
                    <a:ext cx="23622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0" name="Straight Connector 609">
                    <a:extLst>
                      <a:ext uri="{FF2B5EF4-FFF2-40B4-BE49-F238E27FC236}">
                        <a16:creationId xmlns:a16="http://schemas.microsoft.com/office/drawing/2014/main" id="{F12AB479-F674-7BEC-80C8-B4A4D41A12A2}"/>
                      </a:ext>
                    </a:extLst>
                  </p:cNvPr>
                  <p:cNvCxnSpPr/>
                  <p:nvPr/>
                </p:nvCxnSpPr>
                <p:spPr>
                  <a:xfrm>
                    <a:off x="9520731" y="5182123"/>
                    <a:ext cx="23622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8" name="Oval 617">
                    <a:extLst>
                      <a:ext uri="{FF2B5EF4-FFF2-40B4-BE49-F238E27FC236}">
                        <a16:creationId xmlns:a16="http://schemas.microsoft.com/office/drawing/2014/main" id="{42BD02A5-A9C2-C9E2-64DB-936FD358CF6E}"/>
                      </a:ext>
                    </a:extLst>
                  </p:cNvPr>
                  <p:cNvSpPr/>
                  <p:nvPr/>
                </p:nvSpPr>
                <p:spPr>
                  <a:xfrm>
                    <a:off x="9582833" y="5000629"/>
                    <a:ext cx="91440" cy="91440"/>
                  </a:xfrm>
                  <a:prstGeom prst="ellipse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0" name="Oval 619">
                    <a:extLst>
                      <a:ext uri="{FF2B5EF4-FFF2-40B4-BE49-F238E27FC236}">
                        <a16:creationId xmlns:a16="http://schemas.microsoft.com/office/drawing/2014/main" id="{B14D02EE-65F5-F630-5493-01583DB2CA54}"/>
                      </a:ext>
                    </a:extLst>
                  </p:cNvPr>
                  <p:cNvSpPr/>
                  <p:nvPr/>
                </p:nvSpPr>
                <p:spPr>
                  <a:xfrm>
                    <a:off x="9593121" y="5443890"/>
                    <a:ext cx="91440" cy="91440"/>
                  </a:xfrm>
                  <a:prstGeom prst="ellipse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2" name="Oval 621">
                    <a:extLst>
                      <a:ext uri="{FF2B5EF4-FFF2-40B4-BE49-F238E27FC236}">
                        <a16:creationId xmlns:a16="http://schemas.microsoft.com/office/drawing/2014/main" id="{D5B4D70D-A146-3B5A-B689-7864AB5A9C62}"/>
                      </a:ext>
                    </a:extLst>
                  </p:cNvPr>
                  <p:cNvSpPr/>
                  <p:nvPr/>
                </p:nvSpPr>
                <p:spPr>
                  <a:xfrm>
                    <a:off x="9593121" y="6135424"/>
                    <a:ext cx="91440" cy="91440"/>
                  </a:xfrm>
                  <a:prstGeom prst="ellipse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F11E6BD-D97C-678B-9A50-B2D101DEDE83}"/>
                </a:ext>
              </a:extLst>
            </p:cNvPr>
            <p:cNvSpPr/>
            <p:nvPr/>
          </p:nvSpPr>
          <p:spPr>
            <a:xfrm>
              <a:off x="0" y="783767"/>
              <a:ext cx="12192000" cy="60742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48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C0D1-0C3F-C0FF-0BBF-A1E1B58DF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-200933"/>
            <a:ext cx="10515600" cy="1325563"/>
          </a:xfrm>
        </p:spPr>
        <p:txBody>
          <a:bodyPr/>
          <a:lstStyle/>
          <a:p>
            <a:r>
              <a:rPr lang="en-US" dirty="0"/>
              <a:t>SRM-Guided Multi-head Cross-Attention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40C71F-9826-78E4-A379-4292B8359686}"/>
              </a:ext>
            </a:extLst>
          </p:cNvPr>
          <p:cNvSpPr/>
          <p:nvPr/>
        </p:nvSpPr>
        <p:spPr>
          <a:xfrm>
            <a:off x="261257" y="159657"/>
            <a:ext cx="9173029" cy="566057"/>
          </a:xfrm>
          <a:prstGeom prst="roundRect">
            <a:avLst/>
          </a:prstGeom>
          <a:solidFill>
            <a:schemeClr val="accent6">
              <a:lumMod val="5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A274E9-0D75-0E7B-73D5-5F4F44CF3442}"/>
              </a:ext>
            </a:extLst>
          </p:cNvPr>
          <p:cNvGrpSpPr/>
          <p:nvPr/>
        </p:nvGrpSpPr>
        <p:grpSpPr>
          <a:xfrm>
            <a:off x="-7807" y="712401"/>
            <a:ext cx="12244373" cy="6145599"/>
            <a:chOff x="-7807" y="712401"/>
            <a:chExt cx="12244373" cy="6145599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59B3CF6-0747-A6A3-5062-9127E0CA87C3}"/>
                </a:ext>
              </a:extLst>
            </p:cNvPr>
            <p:cNvSpPr/>
            <p:nvPr/>
          </p:nvSpPr>
          <p:spPr>
            <a:xfrm>
              <a:off x="50604" y="4101737"/>
              <a:ext cx="1156036" cy="248591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424DD-6974-5707-4700-9EDA90FA6A26}"/>
                </a:ext>
              </a:extLst>
            </p:cNvPr>
            <p:cNvGrpSpPr/>
            <p:nvPr/>
          </p:nvGrpSpPr>
          <p:grpSpPr>
            <a:xfrm>
              <a:off x="583759" y="1415058"/>
              <a:ext cx="358012" cy="1864994"/>
              <a:chOff x="9417598" y="4454463"/>
              <a:chExt cx="421910" cy="1882053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9E81A1-1D48-644B-07C3-09CE94CC37BD}"/>
                  </a:ext>
                </a:extLst>
              </p:cNvPr>
              <p:cNvSpPr/>
              <p:nvPr/>
            </p:nvSpPr>
            <p:spPr>
              <a:xfrm>
                <a:off x="9525406" y="4838995"/>
                <a:ext cx="236220" cy="149752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AA228FA-0FCC-4A77-E33F-ED1087738996}"/>
                  </a:ext>
                </a:extLst>
              </p:cNvPr>
              <p:cNvGrpSpPr/>
              <p:nvPr/>
            </p:nvGrpSpPr>
            <p:grpSpPr>
              <a:xfrm>
                <a:off x="9417598" y="4454463"/>
                <a:ext cx="421910" cy="1772401"/>
                <a:chOff x="9417598" y="4454463"/>
                <a:chExt cx="421910" cy="1772401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A3C6F98-12BE-2C0C-B509-746D55CFB0F2}"/>
                    </a:ext>
                  </a:extLst>
                </p:cNvPr>
                <p:cNvSpPr txBox="1"/>
                <p:nvPr/>
              </p:nvSpPr>
              <p:spPr>
                <a:xfrm>
                  <a:off x="9417598" y="4454463"/>
                  <a:ext cx="421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err="1"/>
                    <a:t>X</a:t>
                  </a:r>
                  <a:r>
                    <a:rPr lang="en-US" sz="1200" baseline="-25000" dirty="0" err="1"/>
                    <a:t>srm</a:t>
                  </a:r>
                  <a:endParaRPr lang="en-US" sz="1200" baseline="-25000" dirty="0"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25CBB44D-C636-2B19-5124-CD238534D909}"/>
                    </a:ext>
                  </a:extLst>
                </p:cNvPr>
                <p:cNvGrpSpPr/>
                <p:nvPr/>
              </p:nvGrpSpPr>
              <p:grpSpPr>
                <a:xfrm>
                  <a:off x="9520731" y="5000629"/>
                  <a:ext cx="236220" cy="1226235"/>
                  <a:chOff x="9520731" y="5000629"/>
                  <a:chExt cx="236220" cy="1226235"/>
                </a:xfrm>
              </p:grpSpPr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A43B3278-F0C2-D630-6CE7-9D029C9418F3}"/>
                      </a:ext>
                    </a:extLst>
                  </p:cNvPr>
                  <p:cNvCxnSpPr/>
                  <p:nvPr/>
                </p:nvCxnSpPr>
                <p:spPr>
                  <a:xfrm>
                    <a:off x="9520731" y="5582233"/>
                    <a:ext cx="23622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69511E27-7D09-67AF-FCA2-3C564AC2B5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520731" y="5978134"/>
                    <a:ext cx="23622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F6451580-4711-07DA-D5C1-1954983D7B2D}"/>
                      </a:ext>
                    </a:extLst>
                  </p:cNvPr>
                  <p:cNvCxnSpPr/>
                  <p:nvPr/>
                </p:nvCxnSpPr>
                <p:spPr>
                  <a:xfrm>
                    <a:off x="9520731" y="5182123"/>
                    <a:ext cx="23622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51815BD0-BCB3-4381-F52E-FFD47D1ACEB1}"/>
                      </a:ext>
                    </a:extLst>
                  </p:cNvPr>
                  <p:cNvSpPr/>
                  <p:nvPr/>
                </p:nvSpPr>
                <p:spPr>
                  <a:xfrm>
                    <a:off x="9582833" y="5000629"/>
                    <a:ext cx="91440" cy="91440"/>
                  </a:xfrm>
                  <a:prstGeom prst="ellipse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46ECEE9B-CE40-DBF7-5B35-B7B6ADD21EF4}"/>
                      </a:ext>
                    </a:extLst>
                  </p:cNvPr>
                  <p:cNvSpPr/>
                  <p:nvPr/>
                </p:nvSpPr>
                <p:spPr>
                  <a:xfrm>
                    <a:off x="9593121" y="5443890"/>
                    <a:ext cx="91440" cy="91440"/>
                  </a:xfrm>
                  <a:prstGeom prst="ellipse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B5436CC8-37E4-1E3E-D451-BB99A19C43C9}"/>
                      </a:ext>
                    </a:extLst>
                  </p:cNvPr>
                  <p:cNvSpPr/>
                  <p:nvPr/>
                </p:nvSpPr>
                <p:spPr>
                  <a:xfrm>
                    <a:off x="9593121" y="6135424"/>
                    <a:ext cx="91440" cy="91440"/>
                  </a:xfrm>
                  <a:prstGeom prst="ellipse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754AE4D-290F-E663-2BCC-3712C9CB3FD7}"/>
                </a:ext>
              </a:extLst>
            </p:cNvPr>
            <p:cNvSpPr/>
            <p:nvPr/>
          </p:nvSpPr>
          <p:spPr>
            <a:xfrm>
              <a:off x="48408" y="1014683"/>
              <a:ext cx="1108450" cy="24633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5123E97-DDB5-0900-4024-BBA6B2F6F8B8}"/>
                </a:ext>
              </a:extLst>
            </p:cNvPr>
            <p:cNvGrpSpPr/>
            <p:nvPr/>
          </p:nvGrpSpPr>
          <p:grpSpPr>
            <a:xfrm>
              <a:off x="630604" y="4397189"/>
              <a:ext cx="359373" cy="2003124"/>
              <a:chOff x="9410521" y="949353"/>
              <a:chExt cx="423514" cy="183203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429E1D5-635E-278B-ECD1-A9FECE55C396}"/>
                  </a:ext>
                </a:extLst>
              </p:cNvPr>
              <p:cNvSpPr/>
              <p:nvPr/>
            </p:nvSpPr>
            <p:spPr>
              <a:xfrm>
                <a:off x="9521529" y="1283869"/>
                <a:ext cx="236220" cy="149752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2A62A7-1298-06A2-52E6-447AA2947DA4}"/>
                  </a:ext>
                </a:extLst>
              </p:cNvPr>
              <p:cNvSpPr txBox="1"/>
              <p:nvPr/>
            </p:nvSpPr>
            <p:spPr>
              <a:xfrm>
                <a:off x="9410521" y="949353"/>
                <a:ext cx="4235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/>
                  <a:t>X</a:t>
                </a:r>
                <a:r>
                  <a:rPr lang="en-US" sz="1200" baseline="-25000" dirty="0" err="1"/>
                  <a:t>app</a:t>
                </a:r>
                <a:endParaRPr lang="en-US" sz="1200" baseline="-25000" dirty="0"/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9174424-7AED-909F-9751-C0D1F7D00521}"/>
                  </a:ext>
                </a:extLst>
              </p:cNvPr>
              <p:cNvCxnSpPr>
                <a:stCxn id="26" idx="1"/>
                <a:endCxn id="26" idx="3"/>
              </p:cNvCxnSpPr>
              <p:nvPr/>
            </p:nvCxnSpPr>
            <p:spPr>
              <a:xfrm>
                <a:off x="9521529" y="2032630"/>
                <a:ext cx="2362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C33F1F8-2FF2-5BC0-62F1-CFABDBF877FC}"/>
                  </a:ext>
                </a:extLst>
              </p:cNvPr>
              <p:cNvCxnSpPr/>
              <p:nvPr/>
            </p:nvCxnSpPr>
            <p:spPr>
              <a:xfrm>
                <a:off x="9516425" y="2315103"/>
                <a:ext cx="2362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7308147-7732-51D9-6AB2-03CCD81A8A01}"/>
                  </a:ext>
                </a:extLst>
              </p:cNvPr>
              <p:cNvCxnSpPr/>
              <p:nvPr/>
            </p:nvCxnSpPr>
            <p:spPr>
              <a:xfrm>
                <a:off x="9516425" y="1515214"/>
                <a:ext cx="2362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F44EA87-CE0D-8871-93C3-AD9B6A09EE51}"/>
                  </a:ext>
                </a:extLst>
              </p:cNvPr>
              <p:cNvCxnSpPr/>
              <p:nvPr/>
            </p:nvCxnSpPr>
            <p:spPr>
              <a:xfrm>
                <a:off x="9516425" y="1751323"/>
                <a:ext cx="23622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B591243-CBCC-D291-E758-8C8F5A17BE30}"/>
                  </a:ext>
                </a:extLst>
              </p:cNvPr>
              <p:cNvSpPr/>
              <p:nvPr/>
            </p:nvSpPr>
            <p:spPr>
              <a:xfrm>
                <a:off x="9593121" y="1388517"/>
                <a:ext cx="91440" cy="914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770F10A-53B5-0FCD-C18A-2F26F9D4C3F5}"/>
                  </a:ext>
                </a:extLst>
              </p:cNvPr>
              <p:cNvSpPr/>
              <p:nvPr/>
            </p:nvSpPr>
            <p:spPr>
              <a:xfrm>
                <a:off x="9593121" y="1874436"/>
                <a:ext cx="91440" cy="914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BD93BD8-78E7-F0F9-0480-0CC4D23BC420}"/>
                  </a:ext>
                </a:extLst>
              </p:cNvPr>
              <p:cNvSpPr/>
              <p:nvPr/>
            </p:nvSpPr>
            <p:spPr>
              <a:xfrm>
                <a:off x="9593121" y="2456004"/>
                <a:ext cx="91440" cy="914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6565AE2-CEB9-BF00-727F-C5B5E8AC1117}"/>
                </a:ext>
              </a:extLst>
            </p:cNvPr>
            <p:cNvSpPr txBox="1"/>
            <p:nvPr/>
          </p:nvSpPr>
          <p:spPr>
            <a:xfrm>
              <a:off x="77802" y="1130088"/>
              <a:ext cx="885020" cy="274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SRM Features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8EA1F23-FC90-F691-DA80-070377E983CB}"/>
                </a:ext>
              </a:extLst>
            </p:cNvPr>
            <p:cNvSpPr txBox="1"/>
            <p:nvPr/>
          </p:nvSpPr>
          <p:spPr>
            <a:xfrm>
              <a:off x="-7807" y="4188702"/>
              <a:ext cx="931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Appearance</a:t>
              </a:r>
            </a:p>
            <a:p>
              <a:r>
                <a:rPr lang="en-US" sz="1200" dirty="0"/>
                <a:t> Features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6B30260D-54C4-BB19-9259-7AECA4289FA7}"/>
                </a:ext>
              </a:extLst>
            </p:cNvPr>
            <p:cNvSpPr/>
            <p:nvPr/>
          </p:nvSpPr>
          <p:spPr>
            <a:xfrm>
              <a:off x="1361612" y="1444398"/>
              <a:ext cx="660452" cy="54056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443D5238-3C19-DAC9-96D5-5F9BF45B37C3}"/>
                </a:ext>
              </a:extLst>
            </p:cNvPr>
            <p:cNvSpPr/>
            <p:nvPr/>
          </p:nvSpPr>
          <p:spPr>
            <a:xfrm>
              <a:off x="1361612" y="5188369"/>
              <a:ext cx="660452" cy="54056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9F09F4BC-D2D0-83E6-F1E7-D19454568B40}"/>
                </a:ext>
              </a:extLst>
            </p:cNvPr>
            <p:cNvSpPr/>
            <p:nvPr/>
          </p:nvSpPr>
          <p:spPr>
            <a:xfrm>
              <a:off x="2308413" y="1059110"/>
              <a:ext cx="246322" cy="1313548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3C4B40A8-4BDC-A3DC-2A18-F1FC6435127C}"/>
                </a:ext>
              </a:extLst>
            </p:cNvPr>
            <p:cNvSpPr/>
            <p:nvPr/>
          </p:nvSpPr>
          <p:spPr>
            <a:xfrm>
              <a:off x="2308413" y="2623277"/>
              <a:ext cx="246322" cy="1313548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008923A-F366-1D5D-62B1-273D8BF49962}"/>
                </a:ext>
              </a:extLst>
            </p:cNvPr>
            <p:cNvSpPr/>
            <p:nvPr/>
          </p:nvSpPr>
          <p:spPr>
            <a:xfrm>
              <a:off x="2308413" y="4873266"/>
              <a:ext cx="246322" cy="1313548"/>
            </a:xfrm>
            <a:prstGeom prst="round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A81DF160-70E1-283B-110A-495AE88AEC2D}"/>
                </a:ext>
              </a:extLst>
            </p:cNvPr>
            <p:cNvSpPr/>
            <p:nvPr/>
          </p:nvSpPr>
          <p:spPr>
            <a:xfrm>
              <a:off x="2841085" y="913008"/>
              <a:ext cx="2179952" cy="527380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E5976808-1B04-30C5-C3EA-BBDEB89D486A}"/>
                </a:ext>
              </a:extLst>
            </p:cNvPr>
            <p:cNvSpPr/>
            <p:nvPr/>
          </p:nvSpPr>
          <p:spPr>
            <a:xfrm>
              <a:off x="2996058" y="1671436"/>
              <a:ext cx="1870007" cy="434841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D8D4BB4-F94E-360A-455E-A7EB367B8F81}"/>
                </a:ext>
              </a:extLst>
            </p:cNvPr>
            <p:cNvGrpSpPr/>
            <p:nvPr/>
          </p:nvGrpSpPr>
          <p:grpSpPr>
            <a:xfrm>
              <a:off x="3566875" y="1817763"/>
              <a:ext cx="1140534" cy="1109436"/>
              <a:chOff x="6052457" y="2041469"/>
              <a:chExt cx="1602283" cy="111958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68042061-8B2B-52FE-31C2-0A7A9F2132A4}"/>
                  </a:ext>
                </a:extLst>
              </p:cNvPr>
              <p:cNvSpPr/>
              <p:nvPr/>
            </p:nvSpPr>
            <p:spPr>
              <a:xfrm>
                <a:off x="6052457" y="2327423"/>
                <a:ext cx="1596571" cy="271037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14530B49-0547-7D02-E3B6-00F382550226}"/>
                  </a:ext>
                </a:extLst>
              </p:cNvPr>
              <p:cNvSpPr/>
              <p:nvPr/>
            </p:nvSpPr>
            <p:spPr>
              <a:xfrm>
                <a:off x="6058169" y="2041469"/>
                <a:ext cx="1596571" cy="271037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0F5A3625-B66E-904C-1CBA-128B23A2E44C}"/>
                  </a:ext>
                </a:extLst>
              </p:cNvPr>
              <p:cNvSpPr/>
              <p:nvPr/>
            </p:nvSpPr>
            <p:spPr>
              <a:xfrm>
                <a:off x="6052457" y="2890016"/>
                <a:ext cx="1596571" cy="271037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E638C0C3-C58A-2B89-A850-5D5188E1802F}"/>
                  </a:ext>
                </a:extLst>
              </p:cNvPr>
              <p:cNvSpPr/>
              <p:nvPr/>
            </p:nvSpPr>
            <p:spPr>
              <a:xfrm>
                <a:off x="6052457" y="2608589"/>
                <a:ext cx="1596571" cy="271037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F20AF85-BBBD-9529-4EBF-6841DED7AB08}"/>
                </a:ext>
              </a:extLst>
            </p:cNvPr>
            <p:cNvGrpSpPr/>
            <p:nvPr/>
          </p:nvGrpSpPr>
          <p:grpSpPr>
            <a:xfrm>
              <a:off x="3566875" y="3271177"/>
              <a:ext cx="1140534" cy="1109436"/>
              <a:chOff x="6052457" y="2041469"/>
              <a:chExt cx="1602283" cy="111958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10483AE3-68FB-C2DD-FB8B-4C18A2BA371C}"/>
                  </a:ext>
                </a:extLst>
              </p:cNvPr>
              <p:cNvSpPr/>
              <p:nvPr/>
            </p:nvSpPr>
            <p:spPr>
              <a:xfrm>
                <a:off x="6052457" y="2327423"/>
                <a:ext cx="1596571" cy="271037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B39B84DE-44A6-1D74-1713-B4508F50833B}"/>
                  </a:ext>
                </a:extLst>
              </p:cNvPr>
              <p:cNvSpPr/>
              <p:nvPr/>
            </p:nvSpPr>
            <p:spPr>
              <a:xfrm>
                <a:off x="6058169" y="2041469"/>
                <a:ext cx="1596571" cy="271037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93CF0BAB-5B75-322E-BAD5-90DAFB0813E7}"/>
                  </a:ext>
                </a:extLst>
              </p:cNvPr>
              <p:cNvSpPr/>
              <p:nvPr/>
            </p:nvSpPr>
            <p:spPr>
              <a:xfrm>
                <a:off x="6052457" y="2890016"/>
                <a:ext cx="1596571" cy="271037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96DA4899-F4A0-41D9-9FC0-01A7B4A9F7D0}"/>
                  </a:ext>
                </a:extLst>
              </p:cNvPr>
              <p:cNvSpPr/>
              <p:nvPr/>
            </p:nvSpPr>
            <p:spPr>
              <a:xfrm>
                <a:off x="6052457" y="2608589"/>
                <a:ext cx="1596571" cy="271037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80AB358-0ED8-2D97-C086-4AE525C9B8D1}"/>
                </a:ext>
              </a:extLst>
            </p:cNvPr>
            <p:cNvGrpSpPr/>
            <p:nvPr/>
          </p:nvGrpSpPr>
          <p:grpSpPr>
            <a:xfrm>
              <a:off x="3566875" y="4713856"/>
              <a:ext cx="1140534" cy="1109436"/>
              <a:chOff x="6052457" y="2041469"/>
              <a:chExt cx="1602283" cy="1119584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9C926AF2-3BDB-FAF0-2F43-3D8455792AC0}"/>
                  </a:ext>
                </a:extLst>
              </p:cNvPr>
              <p:cNvSpPr/>
              <p:nvPr/>
            </p:nvSpPr>
            <p:spPr>
              <a:xfrm>
                <a:off x="6052457" y="2327423"/>
                <a:ext cx="1596571" cy="271037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E2137591-DA2A-4DEA-CB6B-22656015C342}"/>
                  </a:ext>
                </a:extLst>
              </p:cNvPr>
              <p:cNvSpPr/>
              <p:nvPr/>
            </p:nvSpPr>
            <p:spPr>
              <a:xfrm>
                <a:off x="6058169" y="2041469"/>
                <a:ext cx="1596571" cy="271037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7AEF8C4E-C8E9-2108-AF41-361A0FA5598F}"/>
                  </a:ext>
                </a:extLst>
              </p:cNvPr>
              <p:cNvSpPr/>
              <p:nvPr/>
            </p:nvSpPr>
            <p:spPr>
              <a:xfrm>
                <a:off x="6052457" y="2890016"/>
                <a:ext cx="1596571" cy="271037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B0AF269D-35A6-615F-60BF-9F8DC53A72F8}"/>
                  </a:ext>
                </a:extLst>
              </p:cNvPr>
              <p:cNvSpPr/>
              <p:nvPr/>
            </p:nvSpPr>
            <p:spPr>
              <a:xfrm>
                <a:off x="6052457" y="2608589"/>
                <a:ext cx="1596571" cy="271037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40C8153-109D-FF04-9608-E1C1E39C9792}"/>
                </a:ext>
              </a:extLst>
            </p:cNvPr>
            <p:cNvSpPr txBox="1"/>
            <p:nvPr/>
          </p:nvSpPr>
          <p:spPr>
            <a:xfrm>
              <a:off x="2996058" y="2196751"/>
              <a:ext cx="431465" cy="365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 =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E734C4F-236D-327E-7132-95C018D59557}"/>
                </a:ext>
              </a:extLst>
            </p:cNvPr>
            <p:cNvSpPr txBox="1"/>
            <p:nvPr/>
          </p:nvSpPr>
          <p:spPr>
            <a:xfrm>
              <a:off x="3049741" y="4997218"/>
              <a:ext cx="366173" cy="365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V=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8E9FDF9-07CD-2622-8880-1E1BC8ADDD6F}"/>
                </a:ext>
              </a:extLst>
            </p:cNvPr>
            <p:cNvSpPr txBox="1"/>
            <p:nvPr/>
          </p:nvSpPr>
          <p:spPr>
            <a:xfrm>
              <a:off x="3049741" y="3479659"/>
              <a:ext cx="356653" cy="365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K=</a:t>
              </a:r>
            </a:p>
          </p:txBody>
        </p:sp>
        <p:sp>
          <p:nvSpPr>
            <p:cNvPr id="92" name="Left Brace 91">
              <a:extLst>
                <a:ext uri="{FF2B5EF4-FFF2-40B4-BE49-F238E27FC236}">
                  <a16:creationId xmlns:a16="http://schemas.microsoft.com/office/drawing/2014/main" id="{701D1615-FFC5-94A6-ABB5-40A0AA69F336}"/>
                </a:ext>
              </a:extLst>
            </p:cNvPr>
            <p:cNvSpPr/>
            <p:nvPr/>
          </p:nvSpPr>
          <p:spPr>
            <a:xfrm>
              <a:off x="3427523" y="1817763"/>
              <a:ext cx="61864" cy="1107155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Left Brace 93">
              <a:extLst>
                <a:ext uri="{FF2B5EF4-FFF2-40B4-BE49-F238E27FC236}">
                  <a16:creationId xmlns:a16="http://schemas.microsoft.com/office/drawing/2014/main" id="{DBFAD7E4-FE56-80B9-2140-5CE4A966D241}"/>
                </a:ext>
              </a:extLst>
            </p:cNvPr>
            <p:cNvSpPr/>
            <p:nvPr/>
          </p:nvSpPr>
          <p:spPr>
            <a:xfrm>
              <a:off x="3422016" y="3279109"/>
              <a:ext cx="61864" cy="1107155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Left Brace 95">
              <a:extLst>
                <a:ext uri="{FF2B5EF4-FFF2-40B4-BE49-F238E27FC236}">
                  <a16:creationId xmlns:a16="http://schemas.microsoft.com/office/drawing/2014/main" id="{A079707B-F911-5AE6-99E4-EBDF2407F4F4}"/>
                </a:ext>
              </a:extLst>
            </p:cNvPr>
            <p:cNvSpPr/>
            <p:nvPr/>
          </p:nvSpPr>
          <p:spPr>
            <a:xfrm>
              <a:off x="3433378" y="4700056"/>
              <a:ext cx="61864" cy="1107155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78198323-8174-BC68-7562-7EAA572AF262}"/>
                </a:ext>
              </a:extLst>
            </p:cNvPr>
            <p:cNvSpPr/>
            <p:nvPr/>
          </p:nvSpPr>
          <p:spPr>
            <a:xfrm>
              <a:off x="5355435" y="1671435"/>
              <a:ext cx="2650547" cy="3333517"/>
            </a:xfrm>
            <a:prstGeom prst="roundRect">
              <a:avLst/>
            </a:prstGeom>
            <a:solidFill>
              <a:srgbClr val="7030A0">
                <a:alpha val="1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lowchart: Manual Operation 106">
              <a:extLst>
                <a:ext uri="{FF2B5EF4-FFF2-40B4-BE49-F238E27FC236}">
                  <a16:creationId xmlns:a16="http://schemas.microsoft.com/office/drawing/2014/main" id="{9B23CDDB-6F5A-A447-490B-FF6DEE804472}"/>
                </a:ext>
              </a:extLst>
            </p:cNvPr>
            <p:cNvSpPr/>
            <p:nvPr/>
          </p:nvSpPr>
          <p:spPr>
            <a:xfrm rot="16200000">
              <a:off x="8190785" y="2873299"/>
              <a:ext cx="3243467" cy="756465"/>
            </a:xfrm>
            <a:prstGeom prst="flowChartManualOperation">
              <a:avLst/>
            </a:prstGeom>
            <a:solidFill>
              <a:schemeClr val="accent4">
                <a:lumMod val="20000"/>
                <a:lumOff val="80000"/>
                <a:alpha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6789DACD-CE93-982E-63F9-40D41CED8A77}"/>
                </a:ext>
              </a:extLst>
            </p:cNvPr>
            <p:cNvSpPr/>
            <p:nvPr/>
          </p:nvSpPr>
          <p:spPr>
            <a:xfrm>
              <a:off x="10415672" y="2474530"/>
              <a:ext cx="246322" cy="1313548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F023D517-D138-CFBD-524F-6F677A583D65}"/>
                </a:ext>
              </a:extLst>
            </p:cNvPr>
            <p:cNvSpPr/>
            <p:nvPr/>
          </p:nvSpPr>
          <p:spPr>
            <a:xfrm>
              <a:off x="10910972" y="2861021"/>
              <a:ext cx="660452" cy="540566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2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69B95674-82CC-DD77-2A1D-356FBC544C92}"/>
                </a:ext>
              </a:extLst>
            </p:cNvPr>
            <p:cNvSpPr/>
            <p:nvPr/>
          </p:nvSpPr>
          <p:spPr>
            <a:xfrm>
              <a:off x="11805009" y="2487945"/>
              <a:ext cx="246322" cy="1313548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0E3F45C4-E7EB-746D-CB12-D921240ED7AC}"/>
                </a:ext>
              </a:extLst>
            </p:cNvPr>
            <p:cNvSpPr/>
            <p:nvPr/>
          </p:nvSpPr>
          <p:spPr>
            <a:xfrm>
              <a:off x="10190750" y="4448802"/>
              <a:ext cx="1215701" cy="9144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14602834-1D6B-6219-6E47-384E2DF1DE62}"/>
                </a:ext>
              </a:extLst>
            </p:cNvPr>
            <p:cNvGrpSpPr/>
            <p:nvPr/>
          </p:nvGrpSpPr>
          <p:grpSpPr>
            <a:xfrm>
              <a:off x="10651434" y="4906002"/>
              <a:ext cx="294331" cy="296333"/>
              <a:chOff x="9434285" y="5890481"/>
              <a:chExt cx="547229" cy="545511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DD822FFE-F4B3-27D0-6EBD-F66D7CC905F0}"/>
                  </a:ext>
                </a:extLst>
              </p:cNvPr>
              <p:cNvSpPr/>
              <p:nvPr/>
            </p:nvSpPr>
            <p:spPr>
              <a:xfrm>
                <a:off x="9434285" y="5890481"/>
                <a:ext cx="547229" cy="54551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Plus Sign 116">
                <a:extLst>
                  <a:ext uri="{FF2B5EF4-FFF2-40B4-BE49-F238E27FC236}">
                    <a16:creationId xmlns:a16="http://schemas.microsoft.com/office/drawing/2014/main" id="{4DE11B91-6BD6-8769-8238-FEA1AA934997}"/>
                  </a:ext>
                </a:extLst>
              </p:cNvPr>
              <p:cNvSpPr/>
              <p:nvPr/>
            </p:nvSpPr>
            <p:spPr>
              <a:xfrm>
                <a:off x="9434285" y="5913828"/>
                <a:ext cx="541747" cy="498816"/>
              </a:xfrm>
              <a:prstGeom prst="mathPlus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E4A406E-36EB-56AD-DF07-1A7ADB03FBF1}"/>
                </a:ext>
              </a:extLst>
            </p:cNvPr>
            <p:cNvSpPr/>
            <p:nvPr/>
          </p:nvSpPr>
          <p:spPr>
            <a:xfrm>
              <a:off x="10163075" y="5694387"/>
              <a:ext cx="1215701" cy="9144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B5E27725-4078-9E0E-EE84-EB5E87006EE1}"/>
                </a:ext>
              </a:extLst>
            </p:cNvPr>
            <p:cNvSpPr/>
            <p:nvPr/>
          </p:nvSpPr>
          <p:spPr>
            <a:xfrm>
              <a:off x="5561351" y="2196751"/>
              <a:ext cx="2258292" cy="2441093"/>
            </a:xfrm>
            <a:prstGeom prst="roundRect">
              <a:avLst/>
            </a:prstGeom>
            <a:solidFill>
              <a:srgbClr val="7030A0">
                <a:alpha val="15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18E048D2-48EC-FA32-33BB-EF5D5AE5DB36}"/>
                </a:ext>
              </a:extLst>
            </p:cNvPr>
            <p:cNvSpPr/>
            <p:nvPr/>
          </p:nvSpPr>
          <p:spPr>
            <a:xfrm>
              <a:off x="5627285" y="3688829"/>
              <a:ext cx="608380" cy="62416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79EACC39-F555-DF22-7E48-60D31CB4C2CC}"/>
                </a:ext>
              </a:extLst>
            </p:cNvPr>
            <p:cNvGrpSpPr/>
            <p:nvPr/>
          </p:nvGrpSpPr>
          <p:grpSpPr>
            <a:xfrm>
              <a:off x="6546680" y="3855871"/>
              <a:ext cx="294331" cy="296333"/>
              <a:chOff x="8180098" y="5433462"/>
              <a:chExt cx="294331" cy="296333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73C3B3AC-6364-45D1-A60D-F6EEECDC8305}"/>
                  </a:ext>
                </a:extLst>
              </p:cNvPr>
              <p:cNvSpPr/>
              <p:nvPr/>
            </p:nvSpPr>
            <p:spPr>
              <a:xfrm>
                <a:off x="8180098" y="5433462"/>
                <a:ext cx="294331" cy="29633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Multiplication Sign 129">
                <a:extLst>
                  <a:ext uri="{FF2B5EF4-FFF2-40B4-BE49-F238E27FC236}">
                    <a16:creationId xmlns:a16="http://schemas.microsoft.com/office/drawing/2014/main" id="{8E214C7B-E210-D8DA-5EE8-FACC9F570AB2}"/>
                  </a:ext>
                </a:extLst>
              </p:cNvPr>
              <p:cNvSpPr/>
              <p:nvPr/>
            </p:nvSpPr>
            <p:spPr>
              <a:xfrm>
                <a:off x="8213106" y="5433752"/>
                <a:ext cx="246322" cy="295751"/>
              </a:xfrm>
              <a:prstGeom prst="mathMultiply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22E8716-8AF8-237D-F192-CD1AA1A3717D}"/>
                </a:ext>
              </a:extLst>
            </p:cNvPr>
            <p:cNvSpPr txBox="1"/>
            <p:nvPr/>
          </p:nvSpPr>
          <p:spPr>
            <a:xfrm>
              <a:off x="1450619" y="1404549"/>
              <a:ext cx="51700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W</a:t>
              </a:r>
              <a:r>
                <a:rPr lang="en-US" baseline="-25000" dirty="0" err="1"/>
                <a:t>q</a:t>
              </a:r>
              <a:endParaRPr lang="en-US" baseline="-25000" dirty="0"/>
            </a:p>
            <a:p>
              <a:r>
                <a:rPr lang="en-US" baseline="-25000" dirty="0"/>
                <a:t>(CXC)</a:t>
              </a:r>
            </a:p>
          </p:txBody>
        </p: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24454D7E-11D0-3167-0F49-006E07130F62}"/>
                </a:ext>
              </a:extLst>
            </p:cNvPr>
            <p:cNvGrpSpPr/>
            <p:nvPr/>
          </p:nvGrpSpPr>
          <p:grpSpPr>
            <a:xfrm>
              <a:off x="1361612" y="2861227"/>
              <a:ext cx="660452" cy="566983"/>
              <a:chOff x="1361612" y="2459711"/>
              <a:chExt cx="660452" cy="566983"/>
            </a:xfrm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96FF0DFE-99CB-AF49-35B0-5097D9AC63BB}"/>
                  </a:ext>
                </a:extLst>
              </p:cNvPr>
              <p:cNvSpPr/>
              <p:nvPr/>
            </p:nvSpPr>
            <p:spPr>
              <a:xfrm>
                <a:off x="1361612" y="2486128"/>
                <a:ext cx="660452" cy="540566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8DFE3E8-EFAF-FD87-6D9A-F523FDA802DB}"/>
                  </a:ext>
                </a:extLst>
              </p:cNvPr>
              <p:cNvSpPr txBox="1"/>
              <p:nvPr/>
            </p:nvSpPr>
            <p:spPr>
              <a:xfrm>
                <a:off x="1422845" y="2459711"/>
                <a:ext cx="51700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W</a:t>
                </a:r>
                <a:r>
                  <a:rPr lang="en-US" baseline="-25000" dirty="0" err="1"/>
                  <a:t>k</a:t>
                </a:r>
                <a:endParaRPr lang="en-US" baseline="-25000" dirty="0"/>
              </a:p>
              <a:p>
                <a:r>
                  <a:rPr lang="en-US" baseline="-25000" dirty="0"/>
                  <a:t>(CXC)</a:t>
                </a:r>
              </a:p>
            </p:txBody>
          </p:sp>
        </p:grp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B10D27D-0189-BC6C-374B-A2B59FA297DF}"/>
                </a:ext>
              </a:extLst>
            </p:cNvPr>
            <p:cNvSpPr txBox="1"/>
            <p:nvPr/>
          </p:nvSpPr>
          <p:spPr>
            <a:xfrm>
              <a:off x="1440611" y="5159811"/>
              <a:ext cx="51700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US" baseline="-25000" dirty="0"/>
                <a:t>v</a:t>
              </a:r>
            </a:p>
            <a:p>
              <a:r>
                <a:rPr lang="en-US" baseline="-25000" dirty="0"/>
                <a:t>(CXC)</a:t>
              </a: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E00C7D4F-C4FC-AEFE-0608-A9700CF53D67}"/>
                </a:ext>
              </a:extLst>
            </p:cNvPr>
            <p:cNvGrpSpPr/>
            <p:nvPr/>
          </p:nvGrpSpPr>
          <p:grpSpPr>
            <a:xfrm>
              <a:off x="2363250" y="1190957"/>
              <a:ext cx="143437" cy="396069"/>
              <a:chOff x="2363250" y="1190957"/>
              <a:chExt cx="143437" cy="396069"/>
            </a:xfrm>
          </p:grpSpPr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7AAAC59F-9A59-047B-4D2B-16849EF22D99}"/>
                  </a:ext>
                </a:extLst>
              </p:cNvPr>
              <p:cNvSpPr/>
              <p:nvPr/>
            </p:nvSpPr>
            <p:spPr>
              <a:xfrm>
                <a:off x="2363250" y="1190957"/>
                <a:ext cx="136649" cy="15274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BFC61E32-450A-69A9-127B-E9A2AB1FFACD}"/>
                  </a:ext>
                </a:extLst>
              </p:cNvPr>
              <p:cNvSpPr/>
              <p:nvPr/>
            </p:nvSpPr>
            <p:spPr>
              <a:xfrm>
                <a:off x="2370038" y="1434277"/>
                <a:ext cx="136649" cy="15274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37BB52A4-7C3E-3A7A-EAF1-AAAD3B2E6F52}"/>
                </a:ext>
              </a:extLst>
            </p:cNvPr>
            <p:cNvGrpSpPr/>
            <p:nvPr/>
          </p:nvGrpSpPr>
          <p:grpSpPr>
            <a:xfrm>
              <a:off x="2363250" y="1719730"/>
              <a:ext cx="140224" cy="457769"/>
              <a:chOff x="2363250" y="1719730"/>
              <a:chExt cx="140224" cy="457769"/>
            </a:xfrm>
          </p:grpSpPr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9838494E-6F1C-197D-7A25-8AC5B2DC7757}"/>
                  </a:ext>
                </a:extLst>
              </p:cNvPr>
              <p:cNvSpPr/>
              <p:nvPr/>
            </p:nvSpPr>
            <p:spPr>
              <a:xfrm>
                <a:off x="2366825" y="1719730"/>
                <a:ext cx="136649" cy="15274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8802EA3D-7C58-A244-4D26-566AAABB391F}"/>
                  </a:ext>
                </a:extLst>
              </p:cNvPr>
              <p:cNvSpPr/>
              <p:nvPr/>
            </p:nvSpPr>
            <p:spPr>
              <a:xfrm>
                <a:off x="2363250" y="2024750"/>
                <a:ext cx="136649" cy="15274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08886D8-B13D-3178-8671-FC41A483A2BB}"/>
                </a:ext>
              </a:extLst>
            </p:cNvPr>
            <p:cNvGrpSpPr/>
            <p:nvPr/>
          </p:nvGrpSpPr>
          <p:grpSpPr>
            <a:xfrm>
              <a:off x="2366463" y="3349526"/>
              <a:ext cx="140224" cy="457769"/>
              <a:chOff x="2363250" y="1719730"/>
              <a:chExt cx="140224" cy="457769"/>
            </a:xfrm>
          </p:grpSpPr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1B795C5-A57F-9724-5EC5-0CA10B8BC0C4}"/>
                  </a:ext>
                </a:extLst>
              </p:cNvPr>
              <p:cNvSpPr/>
              <p:nvPr/>
            </p:nvSpPr>
            <p:spPr>
              <a:xfrm>
                <a:off x="2366825" y="1719730"/>
                <a:ext cx="136649" cy="15274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F62D2E36-E697-C275-1158-26816266B0F7}"/>
                  </a:ext>
                </a:extLst>
              </p:cNvPr>
              <p:cNvSpPr/>
              <p:nvPr/>
            </p:nvSpPr>
            <p:spPr>
              <a:xfrm>
                <a:off x="2363250" y="2024750"/>
                <a:ext cx="136649" cy="15274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4F6815E6-15BC-0630-1E2F-7CEBEB072327}"/>
                </a:ext>
              </a:extLst>
            </p:cNvPr>
            <p:cNvGrpSpPr/>
            <p:nvPr/>
          </p:nvGrpSpPr>
          <p:grpSpPr>
            <a:xfrm>
              <a:off x="2368331" y="2736710"/>
              <a:ext cx="140224" cy="457769"/>
              <a:chOff x="2363250" y="1719730"/>
              <a:chExt cx="140224" cy="457769"/>
            </a:xfrm>
          </p:grpSpPr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0595B6DF-0320-148B-C351-508366308AA3}"/>
                  </a:ext>
                </a:extLst>
              </p:cNvPr>
              <p:cNvSpPr/>
              <p:nvPr/>
            </p:nvSpPr>
            <p:spPr>
              <a:xfrm>
                <a:off x="2366825" y="1719730"/>
                <a:ext cx="136649" cy="15274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EC50C44-BEBA-78E8-D256-F91CC7423BA6}"/>
                  </a:ext>
                </a:extLst>
              </p:cNvPr>
              <p:cNvSpPr/>
              <p:nvPr/>
            </p:nvSpPr>
            <p:spPr>
              <a:xfrm>
                <a:off x="2363250" y="2024750"/>
                <a:ext cx="136649" cy="15274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37CB003D-66D3-6119-55A3-5D7D6BEA8058}"/>
                </a:ext>
              </a:extLst>
            </p:cNvPr>
            <p:cNvGrpSpPr/>
            <p:nvPr/>
          </p:nvGrpSpPr>
          <p:grpSpPr>
            <a:xfrm>
              <a:off x="2370038" y="5643782"/>
              <a:ext cx="140224" cy="457769"/>
              <a:chOff x="2363250" y="1719730"/>
              <a:chExt cx="140224" cy="457769"/>
            </a:xfrm>
          </p:grpSpPr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31988352-0124-B9CE-809E-DC84A6068A04}"/>
                  </a:ext>
                </a:extLst>
              </p:cNvPr>
              <p:cNvSpPr/>
              <p:nvPr/>
            </p:nvSpPr>
            <p:spPr>
              <a:xfrm>
                <a:off x="2366825" y="1719730"/>
                <a:ext cx="136649" cy="152749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0D8373EB-17A2-3061-E813-B29C7084F177}"/>
                  </a:ext>
                </a:extLst>
              </p:cNvPr>
              <p:cNvSpPr/>
              <p:nvPr/>
            </p:nvSpPr>
            <p:spPr>
              <a:xfrm>
                <a:off x="2363250" y="2024750"/>
                <a:ext cx="136649" cy="152749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BA74950F-EA7C-DC53-8D9B-32D00BE1ED6E}"/>
                </a:ext>
              </a:extLst>
            </p:cNvPr>
            <p:cNvGrpSpPr/>
            <p:nvPr/>
          </p:nvGrpSpPr>
          <p:grpSpPr>
            <a:xfrm>
              <a:off x="2368580" y="5045167"/>
              <a:ext cx="140224" cy="457769"/>
              <a:chOff x="2363250" y="1719730"/>
              <a:chExt cx="140224" cy="457769"/>
            </a:xfrm>
          </p:grpSpPr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21E5DEA4-1A04-2B68-7240-9DD759B7EDBE}"/>
                  </a:ext>
                </a:extLst>
              </p:cNvPr>
              <p:cNvSpPr/>
              <p:nvPr/>
            </p:nvSpPr>
            <p:spPr>
              <a:xfrm>
                <a:off x="2366825" y="1719730"/>
                <a:ext cx="136649" cy="152749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A5B27B52-0FCF-6BD8-627C-E178E2F01B20}"/>
                  </a:ext>
                </a:extLst>
              </p:cNvPr>
              <p:cNvSpPr/>
              <p:nvPr/>
            </p:nvSpPr>
            <p:spPr>
              <a:xfrm>
                <a:off x="2363250" y="2024750"/>
                <a:ext cx="136649" cy="152749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2BF3001-2633-455F-0ABB-FBAE74E074EB}"/>
                </a:ext>
              </a:extLst>
            </p:cNvPr>
            <p:cNvSpPr txBox="1"/>
            <p:nvPr/>
          </p:nvSpPr>
          <p:spPr>
            <a:xfrm>
              <a:off x="1871707" y="712401"/>
              <a:ext cx="5326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Q</a:t>
              </a:r>
            </a:p>
            <a:p>
              <a:r>
                <a:rPr lang="en-US" sz="1200" i="1" dirty="0"/>
                <a:t>(NXC)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C8997FB0-1214-E8E4-A4DE-A48FE9EB906C}"/>
                </a:ext>
              </a:extLst>
            </p:cNvPr>
            <p:cNvSpPr txBox="1"/>
            <p:nvPr/>
          </p:nvSpPr>
          <p:spPr>
            <a:xfrm>
              <a:off x="1967484" y="2216998"/>
              <a:ext cx="5326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K</a:t>
              </a:r>
            </a:p>
            <a:p>
              <a:r>
                <a:rPr lang="en-US" sz="1200" i="1" dirty="0"/>
                <a:t>(NXC)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3136EEF4-18CE-2F10-535A-108BA7C30953}"/>
                </a:ext>
              </a:extLst>
            </p:cNvPr>
            <p:cNvSpPr txBox="1"/>
            <p:nvPr/>
          </p:nvSpPr>
          <p:spPr>
            <a:xfrm>
              <a:off x="1967484" y="4431393"/>
              <a:ext cx="5326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V</a:t>
              </a:r>
            </a:p>
            <a:p>
              <a:r>
                <a:rPr lang="en-US" sz="1200" i="1" dirty="0"/>
                <a:t>(NXC)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30F2143C-771D-DCC5-C2A5-BA1FBDE21DE2}"/>
                </a:ext>
              </a:extLst>
            </p:cNvPr>
            <p:cNvSpPr txBox="1"/>
            <p:nvPr/>
          </p:nvSpPr>
          <p:spPr>
            <a:xfrm>
              <a:off x="3706290" y="1826120"/>
              <a:ext cx="8034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Q</a:t>
              </a:r>
              <a:r>
                <a:rPr lang="en-US" sz="1200" i="1" baseline="-25000" dirty="0"/>
                <a:t>1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17E83FB6-4622-92E5-C74C-F08B3E0F8B50}"/>
                </a:ext>
              </a:extLst>
            </p:cNvPr>
            <p:cNvSpPr txBox="1"/>
            <p:nvPr/>
          </p:nvSpPr>
          <p:spPr>
            <a:xfrm>
              <a:off x="3706289" y="2119303"/>
              <a:ext cx="8034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Q</a:t>
              </a:r>
              <a:r>
                <a:rPr lang="en-US" sz="1200" i="1" baseline="-25000" dirty="0"/>
                <a:t>2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35E48758-1C76-F145-E325-2D442102CB8C}"/>
                </a:ext>
              </a:extLst>
            </p:cNvPr>
            <p:cNvSpPr txBox="1"/>
            <p:nvPr/>
          </p:nvSpPr>
          <p:spPr>
            <a:xfrm>
              <a:off x="3696184" y="2391873"/>
              <a:ext cx="8034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Q</a:t>
              </a:r>
              <a:r>
                <a:rPr lang="en-US" sz="1200" i="1" baseline="-25000" dirty="0"/>
                <a:t>3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D6117AA8-7B22-FDA0-57AF-5C30B4B77A0C}"/>
                </a:ext>
              </a:extLst>
            </p:cNvPr>
            <p:cNvSpPr txBox="1"/>
            <p:nvPr/>
          </p:nvSpPr>
          <p:spPr>
            <a:xfrm>
              <a:off x="3696184" y="2661620"/>
              <a:ext cx="8034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Q</a:t>
              </a:r>
              <a:r>
                <a:rPr lang="en-US" sz="1200" i="1" baseline="-25000" dirty="0"/>
                <a:t>4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06159748-431E-5D3F-AA7C-CC269EA35D95}"/>
                </a:ext>
              </a:extLst>
            </p:cNvPr>
            <p:cNvSpPr txBox="1"/>
            <p:nvPr/>
          </p:nvSpPr>
          <p:spPr>
            <a:xfrm>
              <a:off x="3729210" y="3285059"/>
              <a:ext cx="8034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K</a:t>
              </a:r>
              <a:r>
                <a:rPr lang="en-US" sz="1200" i="1" baseline="-25000" dirty="0"/>
                <a:t>1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63A0F1B0-5C38-4A10-20EC-05CF11A8723A}"/>
                </a:ext>
              </a:extLst>
            </p:cNvPr>
            <p:cNvSpPr txBox="1"/>
            <p:nvPr/>
          </p:nvSpPr>
          <p:spPr>
            <a:xfrm>
              <a:off x="3735844" y="3550377"/>
              <a:ext cx="7809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K</a:t>
              </a:r>
              <a:r>
                <a:rPr lang="en-US" sz="1200" i="1" baseline="-25000" dirty="0"/>
                <a:t>2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DE2FDE10-EC2C-45DA-6489-8668E4965FEE}"/>
                </a:ext>
              </a:extLst>
            </p:cNvPr>
            <p:cNvSpPr txBox="1"/>
            <p:nvPr/>
          </p:nvSpPr>
          <p:spPr>
            <a:xfrm>
              <a:off x="3724852" y="3827376"/>
              <a:ext cx="7809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K</a:t>
              </a:r>
              <a:r>
                <a:rPr lang="en-US" sz="1200" i="1" baseline="-25000" dirty="0"/>
                <a:t>3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C1D15A8-117C-B251-F1EF-A257528A5628}"/>
                </a:ext>
              </a:extLst>
            </p:cNvPr>
            <p:cNvSpPr txBox="1"/>
            <p:nvPr/>
          </p:nvSpPr>
          <p:spPr>
            <a:xfrm>
              <a:off x="3736024" y="4136743"/>
              <a:ext cx="7809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K</a:t>
              </a:r>
              <a:r>
                <a:rPr lang="en-US" sz="1200" i="1" baseline="-25000" dirty="0"/>
                <a:t>4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927D97D-B0EE-8142-922F-AF593A086017}"/>
                </a:ext>
              </a:extLst>
            </p:cNvPr>
            <p:cNvSpPr txBox="1"/>
            <p:nvPr/>
          </p:nvSpPr>
          <p:spPr>
            <a:xfrm>
              <a:off x="3724622" y="4727954"/>
              <a:ext cx="8034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V</a:t>
              </a:r>
              <a:r>
                <a:rPr lang="en-US" sz="1200" i="1" baseline="-25000" dirty="0"/>
                <a:t>1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F6F62A8-BD53-94BE-4AB3-FA18580C0657}"/>
                </a:ext>
              </a:extLst>
            </p:cNvPr>
            <p:cNvSpPr txBox="1"/>
            <p:nvPr/>
          </p:nvSpPr>
          <p:spPr>
            <a:xfrm>
              <a:off x="3717489" y="5021311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V</a:t>
              </a:r>
              <a:r>
                <a:rPr lang="en-US" sz="1200" i="1" baseline="-25000" dirty="0"/>
                <a:t>2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8BE51AB-AC9B-9944-F2DC-20B3324F2FD4}"/>
                </a:ext>
              </a:extLst>
            </p:cNvPr>
            <p:cNvSpPr txBox="1"/>
            <p:nvPr/>
          </p:nvSpPr>
          <p:spPr>
            <a:xfrm>
              <a:off x="3724802" y="5274760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V</a:t>
              </a:r>
              <a:r>
                <a:rPr lang="en-US" sz="1200" i="1" baseline="-25000" dirty="0"/>
                <a:t>3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0520F72-4189-9F48-DF3E-ABC0B524C016}"/>
                </a:ext>
              </a:extLst>
            </p:cNvPr>
            <p:cNvSpPr txBox="1"/>
            <p:nvPr/>
          </p:nvSpPr>
          <p:spPr>
            <a:xfrm>
              <a:off x="3724622" y="5563628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V</a:t>
              </a:r>
              <a:r>
                <a:rPr lang="en-US" sz="1200" i="1" baseline="-25000" dirty="0"/>
                <a:t>4</a:t>
              </a:r>
              <a:r>
                <a:rPr lang="en-US" sz="1200" i="1" dirty="0"/>
                <a:t> (NX64)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18F8D868-843F-F309-1CB8-AF456312D7D4}"/>
                </a:ext>
              </a:extLst>
            </p:cNvPr>
            <p:cNvSpPr txBox="1"/>
            <p:nvPr/>
          </p:nvSpPr>
          <p:spPr>
            <a:xfrm>
              <a:off x="3114297" y="1016073"/>
              <a:ext cx="17828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Split into h=4 heads</a:t>
              </a:r>
            </a:p>
            <a:p>
              <a:pPr algn="ctr"/>
              <a:r>
                <a:rPr lang="en-US" sz="1400" dirty="0"/>
                <a:t>(d=C/h = 64 per head)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FFE0EAD4-57AD-59DA-5DD7-531ACDFEF229}"/>
                </a:ext>
              </a:extLst>
            </p:cNvPr>
            <p:cNvSpPr txBox="1"/>
            <p:nvPr/>
          </p:nvSpPr>
          <p:spPr>
            <a:xfrm>
              <a:off x="5593680" y="1696937"/>
              <a:ext cx="23576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Scaled Dot-Product Attention </a:t>
              </a:r>
            </a:p>
            <a:p>
              <a:pPr algn="ctr"/>
              <a:r>
                <a:rPr lang="en-US" sz="1400" dirty="0"/>
                <a:t>(per head)</a:t>
              </a:r>
            </a:p>
          </p:txBody>
        </p:sp>
        <p:sp>
          <p:nvSpPr>
            <p:cNvPr id="193" name="Rectangle: Rounded Corners 192">
              <a:extLst>
                <a:ext uri="{FF2B5EF4-FFF2-40B4-BE49-F238E27FC236}">
                  <a16:creationId xmlns:a16="http://schemas.microsoft.com/office/drawing/2014/main" id="{454597BC-13F0-A41B-9A90-CC26B4EF3088}"/>
                </a:ext>
              </a:extLst>
            </p:cNvPr>
            <p:cNvSpPr/>
            <p:nvPr/>
          </p:nvSpPr>
          <p:spPr>
            <a:xfrm flipV="1">
              <a:off x="6096000" y="2309570"/>
              <a:ext cx="1215700" cy="21771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614C55F-05E1-C9B4-41B8-33C263B3E01D}"/>
                </a:ext>
              </a:extLst>
            </p:cNvPr>
            <p:cNvSpPr txBox="1"/>
            <p:nvPr/>
          </p:nvSpPr>
          <p:spPr>
            <a:xfrm>
              <a:off x="6589934" y="2272760"/>
              <a:ext cx="7296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(i=1,…,4)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35F31708-381D-2153-14F1-BDC3179DC70B}"/>
                </a:ext>
              </a:extLst>
            </p:cNvPr>
            <p:cNvSpPr txBox="1"/>
            <p:nvPr/>
          </p:nvSpPr>
          <p:spPr>
            <a:xfrm>
              <a:off x="6135788" y="2245658"/>
              <a:ext cx="5196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 err="1"/>
                <a:t>head</a:t>
              </a:r>
              <a:r>
                <a:rPr lang="en-US" sz="1200" i="1" baseline="-25000" dirty="0" err="1"/>
                <a:t>i</a:t>
              </a:r>
              <a:endParaRPr lang="en-US" sz="1200" i="1" baseline="-25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6173C6AB-8F31-BA46-CC57-246C303D79DF}"/>
                    </a:ext>
                  </a:extLst>
                </p:cNvPr>
                <p:cNvSpPr txBox="1"/>
                <p:nvPr/>
              </p:nvSpPr>
              <p:spPr>
                <a:xfrm>
                  <a:off x="5867404" y="2661620"/>
                  <a:ext cx="1738489" cy="516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0" dirty="0" err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200" i="0" dirty="0" err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i="0" dirty="0" err="1">
                                <a:latin typeface="Cambria Math" panose="02040503050406030204" pitchFamily="18" charset="0"/>
                              </a:rPr>
                              <m:t>Softmax</m:t>
                            </m:r>
                          </m:fName>
                          <m:e>
                            <m:r>
                              <a:rPr lang="en-US" sz="1200" i="0" dirty="0" err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func>
                        <m:d>
                          <m:dPr>
                            <m:ctrlP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2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 i="0" dirty="0" err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bSup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200" i="0" dirty="0" err="1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6173C6AB-8F31-BA46-CC57-246C303D7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4" y="2661620"/>
                  <a:ext cx="1738489" cy="51674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E714BC38-45F8-114E-5EF3-5D5C3DA93E21}"/>
                </a:ext>
              </a:extLst>
            </p:cNvPr>
            <p:cNvSpPr txBox="1"/>
            <p:nvPr/>
          </p:nvSpPr>
          <p:spPr>
            <a:xfrm>
              <a:off x="5659942" y="3775885"/>
              <a:ext cx="58060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/>
                <a:t>V</a:t>
              </a:r>
              <a:r>
                <a:rPr lang="en-US" sz="1100" baseline="-25000" dirty="0"/>
                <a:t>i</a:t>
              </a:r>
            </a:p>
            <a:p>
              <a:pPr algn="ctr"/>
              <a:r>
                <a:rPr lang="en-US" sz="1100" dirty="0"/>
                <a:t>(NX64)</a:t>
              </a:r>
            </a:p>
          </p:txBody>
        </p: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F61BCF23-695B-D7B3-105E-40073E153BC2}"/>
                </a:ext>
              </a:extLst>
            </p:cNvPr>
            <p:cNvGrpSpPr/>
            <p:nvPr/>
          </p:nvGrpSpPr>
          <p:grpSpPr>
            <a:xfrm>
              <a:off x="7102357" y="3681571"/>
              <a:ext cx="679009" cy="624164"/>
              <a:chOff x="7102357" y="3681571"/>
              <a:chExt cx="679009" cy="624164"/>
            </a:xfrm>
          </p:grpSpPr>
          <p:sp>
            <p:nvSpPr>
              <p:cNvPr id="126" name="Rectangle: Rounded Corners 125">
                <a:extLst>
                  <a:ext uri="{FF2B5EF4-FFF2-40B4-BE49-F238E27FC236}">
                    <a16:creationId xmlns:a16="http://schemas.microsoft.com/office/drawing/2014/main" id="{169E377F-C6CA-0B50-2D6F-26C008257B9F}"/>
                  </a:ext>
                </a:extLst>
              </p:cNvPr>
              <p:cNvSpPr/>
              <p:nvPr/>
            </p:nvSpPr>
            <p:spPr>
              <a:xfrm>
                <a:off x="7102357" y="3681571"/>
                <a:ext cx="679009" cy="624164"/>
              </a:xfrm>
              <a:prstGeom prst="roundRect">
                <a:avLst/>
              </a:prstGeom>
              <a:solidFill>
                <a:srgbClr val="7030A0">
                  <a:alpha val="1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22267282-96E8-FAB5-319E-A944C170BE8F}"/>
                  </a:ext>
                </a:extLst>
              </p:cNvPr>
              <p:cNvSpPr txBox="1"/>
              <p:nvPr/>
            </p:nvSpPr>
            <p:spPr>
              <a:xfrm>
                <a:off x="7186926" y="3739685"/>
                <a:ext cx="5196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 err="1"/>
                  <a:t>head</a:t>
                </a:r>
                <a:r>
                  <a:rPr lang="en-US" sz="1200" i="1" baseline="-25000" dirty="0" err="1"/>
                  <a:t>i</a:t>
                </a:r>
                <a:endParaRPr lang="en-US" sz="1200" i="1" baseline="-25000" dirty="0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CD7775B0-9226-4C75-27CF-388D0FFFB779}"/>
                  </a:ext>
                </a:extLst>
              </p:cNvPr>
              <p:cNvSpPr txBox="1"/>
              <p:nvPr/>
            </p:nvSpPr>
            <p:spPr>
              <a:xfrm>
                <a:off x="7154209" y="3965875"/>
                <a:ext cx="5806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(NX64)</a:t>
                </a:r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796BBB01-88D8-3F8F-7FBF-CD2C11BAB981}"/>
                </a:ext>
              </a:extLst>
            </p:cNvPr>
            <p:cNvGrpSpPr/>
            <p:nvPr/>
          </p:nvGrpSpPr>
          <p:grpSpPr>
            <a:xfrm>
              <a:off x="8316085" y="1629798"/>
              <a:ext cx="686029" cy="3131086"/>
              <a:chOff x="8244227" y="1629798"/>
              <a:chExt cx="686029" cy="3131086"/>
            </a:xfrm>
          </p:grpSpPr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C419BB2D-5DF2-6099-97C9-832FBAFD1115}"/>
                  </a:ext>
                </a:extLst>
              </p:cNvPr>
              <p:cNvGrpSpPr/>
              <p:nvPr/>
            </p:nvGrpSpPr>
            <p:grpSpPr>
              <a:xfrm>
                <a:off x="8244227" y="1629798"/>
                <a:ext cx="679009" cy="624164"/>
                <a:chOff x="7102357" y="3681571"/>
                <a:chExt cx="679009" cy="624164"/>
              </a:xfrm>
            </p:grpSpPr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847EDA0F-7CF0-982B-7FE7-08BEF51C04F1}"/>
                    </a:ext>
                  </a:extLst>
                </p:cNvPr>
                <p:cNvSpPr/>
                <p:nvPr/>
              </p:nvSpPr>
              <p:spPr>
                <a:xfrm>
                  <a:off x="7102357" y="3681571"/>
                  <a:ext cx="679009" cy="624164"/>
                </a:xfrm>
                <a:prstGeom prst="roundRect">
                  <a:avLst/>
                </a:prstGeom>
                <a:solidFill>
                  <a:srgbClr val="7030A0">
                    <a:alpha val="10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5754EA78-0E32-86E5-A344-1F9BE2F19DEE}"/>
                    </a:ext>
                  </a:extLst>
                </p:cNvPr>
                <p:cNvSpPr txBox="1"/>
                <p:nvPr/>
              </p:nvSpPr>
              <p:spPr>
                <a:xfrm>
                  <a:off x="7186926" y="3739685"/>
                  <a:ext cx="54534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/>
                    <a:t>head</a:t>
                  </a:r>
                  <a:r>
                    <a:rPr lang="en-US" sz="1200" i="1" baseline="-25000" dirty="0"/>
                    <a:t>1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DD396141-C014-CED5-69F1-9893A8CF5E28}"/>
                    </a:ext>
                  </a:extLst>
                </p:cNvPr>
                <p:cNvSpPr txBox="1"/>
                <p:nvPr/>
              </p:nvSpPr>
              <p:spPr>
                <a:xfrm>
                  <a:off x="7154209" y="3965875"/>
                  <a:ext cx="580608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/>
                    <a:t>(NX64)</a:t>
                  </a:r>
                </a:p>
              </p:txBody>
            </p:sp>
          </p:grp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CDB51D03-2ED6-25CF-5DE0-11E4EDC52E40}"/>
                  </a:ext>
                </a:extLst>
              </p:cNvPr>
              <p:cNvGrpSpPr/>
              <p:nvPr/>
            </p:nvGrpSpPr>
            <p:grpSpPr>
              <a:xfrm>
                <a:off x="8247858" y="2464637"/>
                <a:ext cx="679009" cy="624164"/>
                <a:chOff x="7102357" y="3681571"/>
                <a:chExt cx="679009" cy="624164"/>
              </a:xfrm>
            </p:grpSpPr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7D185E7F-9164-3B26-D0EE-4962EBC65E4D}"/>
                    </a:ext>
                  </a:extLst>
                </p:cNvPr>
                <p:cNvSpPr/>
                <p:nvPr/>
              </p:nvSpPr>
              <p:spPr>
                <a:xfrm>
                  <a:off x="7102357" y="3681571"/>
                  <a:ext cx="679009" cy="624164"/>
                </a:xfrm>
                <a:prstGeom prst="roundRect">
                  <a:avLst/>
                </a:prstGeom>
                <a:solidFill>
                  <a:srgbClr val="7030A0">
                    <a:alpha val="10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7B80F65C-6113-0850-8A19-60AEDCF182D9}"/>
                    </a:ext>
                  </a:extLst>
                </p:cNvPr>
                <p:cNvSpPr txBox="1"/>
                <p:nvPr/>
              </p:nvSpPr>
              <p:spPr>
                <a:xfrm>
                  <a:off x="7186926" y="3739685"/>
                  <a:ext cx="54534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/>
                    <a:t>head</a:t>
                  </a:r>
                  <a:r>
                    <a:rPr lang="en-US" sz="1200" i="1" baseline="-25000" dirty="0"/>
                    <a:t>2</a:t>
                  </a:r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D4EA0901-D246-BC8C-FE5D-617E6698A52C}"/>
                    </a:ext>
                  </a:extLst>
                </p:cNvPr>
                <p:cNvSpPr txBox="1"/>
                <p:nvPr/>
              </p:nvSpPr>
              <p:spPr>
                <a:xfrm>
                  <a:off x="7154209" y="3965875"/>
                  <a:ext cx="580608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/>
                    <a:t>(NX64)</a:t>
                  </a:r>
                </a:p>
              </p:txBody>
            </p:sp>
          </p:grp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8570A524-F513-9334-1220-41D8175E5A48}"/>
                  </a:ext>
                </a:extLst>
              </p:cNvPr>
              <p:cNvGrpSpPr/>
              <p:nvPr/>
            </p:nvGrpSpPr>
            <p:grpSpPr>
              <a:xfrm>
                <a:off x="8251067" y="3312661"/>
                <a:ext cx="679009" cy="624164"/>
                <a:chOff x="7102357" y="3681571"/>
                <a:chExt cx="679009" cy="624164"/>
              </a:xfrm>
            </p:grpSpPr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BBD149F7-EC56-E171-262B-DDD55C1BE6CA}"/>
                    </a:ext>
                  </a:extLst>
                </p:cNvPr>
                <p:cNvSpPr/>
                <p:nvPr/>
              </p:nvSpPr>
              <p:spPr>
                <a:xfrm>
                  <a:off x="7102357" y="3681571"/>
                  <a:ext cx="679009" cy="624164"/>
                </a:xfrm>
                <a:prstGeom prst="roundRect">
                  <a:avLst/>
                </a:prstGeom>
                <a:solidFill>
                  <a:srgbClr val="7030A0">
                    <a:alpha val="10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361C76D5-E4CC-5CA3-04D5-C63D99353DEF}"/>
                    </a:ext>
                  </a:extLst>
                </p:cNvPr>
                <p:cNvSpPr txBox="1"/>
                <p:nvPr/>
              </p:nvSpPr>
              <p:spPr>
                <a:xfrm>
                  <a:off x="7186926" y="3739685"/>
                  <a:ext cx="54534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/>
                    <a:t>head</a:t>
                  </a:r>
                  <a:r>
                    <a:rPr lang="en-US" sz="1200" i="1" baseline="-25000" dirty="0"/>
                    <a:t>3</a:t>
                  </a:r>
                </a:p>
              </p:txBody>
            </p:sp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4B616E25-6BFC-BB40-ADB6-843B64AA7811}"/>
                    </a:ext>
                  </a:extLst>
                </p:cNvPr>
                <p:cNvSpPr txBox="1"/>
                <p:nvPr/>
              </p:nvSpPr>
              <p:spPr>
                <a:xfrm>
                  <a:off x="7154209" y="3965875"/>
                  <a:ext cx="580608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/>
                    <a:t>(NX64)</a:t>
                  </a:r>
                </a:p>
              </p:txBody>
            </p:sp>
          </p:grp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FA87212E-C891-FCF3-08CB-1766CF3E320C}"/>
                  </a:ext>
                </a:extLst>
              </p:cNvPr>
              <p:cNvGrpSpPr/>
              <p:nvPr/>
            </p:nvGrpSpPr>
            <p:grpSpPr>
              <a:xfrm>
                <a:off x="8251247" y="4136720"/>
                <a:ext cx="679009" cy="624164"/>
                <a:chOff x="7102357" y="3681571"/>
                <a:chExt cx="679009" cy="624164"/>
              </a:xfrm>
            </p:grpSpPr>
            <p:sp>
              <p:nvSpPr>
                <p:cNvPr id="216" name="Rectangle: Rounded Corners 215">
                  <a:extLst>
                    <a:ext uri="{FF2B5EF4-FFF2-40B4-BE49-F238E27FC236}">
                      <a16:creationId xmlns:a16="http://schemas.microsoft.com/office/drawing/2014/main" id="{D0DED540-AF76-6DA2-A0E3-AEBAA98FDFE6}"/>
                    </a:ext>
                  </a:extLst>
                </p:cNvPr>
                <p:cNvSpPr/>
                <p:nvPr/>
              </p:nvSpPr>
              <p:spPr>
                <a:xfrm>
                  <a:off x="7102357" y="3681571"/>
                  <a:ext cx="679009" cy="624164"/>
                </a:xfrm>
                <a:prstGeom prst="roundRect">
                  <a:avLst/>
                </a:prstGeom>
                <a:solidFill>
                  <a:srgbClr val="7030A0">
                    <a:alpha val="10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B4118BCC-CFB4-7A20-22B5-C4404BC40F75}"/>
                    </a:ext>
                  </a:extLst>
                </p:cNvPr>
                <p:cNvSpPr txBox="1"/>
                <p:nvPr/>
              </p:nvSpPr>
              <p:spPr>
                <a:xfrm>
                  <a:off x="7186926" y="3739685"/>
                  <a:ext cx="54534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/>
                    <a:t>head</a:t>
                  </a:r>
                  <a:r>
                    <a:rPr lang="en-US" sz="1200" i="1" baseline="-25000" dirty="0"/>
                    <a:t>4</a:t>
                  </a:r>
                </a:p>
              </p:txBody>
            </p:sp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4BBAE478-2A54-B1A4-65D8-ED68F0885CCD}"/>
                    </a:ext>
                  </a:extLst>
                </p:cNvPr>
                <p:cNvSpPr txBox="1"/>
                <p:nvPr/>
              </p:nvSpPr>
              <p:spPr>
                <a:xfrm>
                  <a:off x="7154209" y="3965875"/>
                  <a:ext cx="580608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/>
                    <a:t>(NX64)</a:t>
                  </a:r>
                </a:p>
              </p:txBody>
            </p:sp>
          </p:grpSp>
        </p:grp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E67AAA09-327E-9DB3-B971-2763CF6E54FF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08" y="3279109"/>
              <a:ext cx="0" cy="5665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5CB005B3-AD19-C91D-9F23-64B75AE7268F}"/>
                </a:ext>
              </a:extLst>
            </p:cNvPr>
            <p:cNvCxnSpPr>
              <a:stCxn id="198" idx="3"/>
              <a:endCxn id="128" idx="2"/>
            </p:cNvCxnSpPr>
            <p:nvPr/>
          </p:nvCxnSpPr>
          <p:spPr>
            <a:xfrm>
              <a:off x="6240550" y="3991329"/>
              <a:ext cx="306130" cy="127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E71DE44B-870E-D174-36C0-6AC2C7F529E9}"/>
                </a:ext>
              </a:extLst>
            </p:cNvPr>
            <p:cNvCxnSpPr>
              <a:stCxn id="128" idx="6"/>
              <a:endCxn id="126" idx="1"/>
            </p:cNvCxnSpPr>
            <p:nvPr/>
          </p:nvCxnSpPr>
          <p:spPr>
            <a:xfrm flipV="1">
              <a:off x="6841011" y="3993653"/>
              <a:ext cx="261346" cy="103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A5D7701F-63B8-F56B-0B3A-784C2C0FCBA0}"/>
                </a:ext>
              </a:extLst>
            </p:cNvPr>
            <p:cNvSpPr txBox="1"/>
            <p:nvPr/>
          </p:nvSpPr>
          <p:spPr>
            <a:xfrm>
              <a:off x="6003338" y="4699399"/>
              <a:ext cx="14666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 4 parallel heads</a:t>
              </a:r>
            </a:p>
          </p:txBody>
        </p: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DE3359A-34CC-3AC4-0C17-071B29E36798}"/>
                </a:ext>
              </a:extLst>
            </p:cNvPr>
            <p:cNvCxnSpPr>
              <a:cxnSpLocks/>
            </p:cNvCxnSpPr>
            <p:nvPr/>
          </p:nvCxnSpPr>
          <p:spPr>
            <a:xfrm>
              <a:off x="1060137" y="1714681"/>
              <a:ext cx="0" cy="13299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3031FFAA-2B7E-1BB8-F881-85227283404B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>
              <a:off x="1060137" y="1714681"/>
              <a:ext cx="3014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6B5782BE-A870-1287-FBF5-F030754B4729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47" y="3039417"/>
              <a:ext cx="2850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63D79206-84BE-6F38-18B9-C74CCF293E0E}"/>
                </a:ext>
              </a:extLst>
            </p:cNvPr>
            <p:cNvCxnSpPr>
              <a:cxnSpLocks/>
            </p:cNvCxnSpPr>
            <p:nvPr/>
          </p:nvCxnSpPr>
          <p:spPr>
            <a:xfrm>
              <a:off x="842961" y="2318965"/>
              <a:ext cx="23972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CBA679E7-DEFF-752D-B275-9F030EC851D1}"/>
                </a:ext>
              </a:extLst>
            </p:cNvPr>
            <p:cNvCxnSpPr>
              <a:cxnSpLocks/>
              <a:endCxn id="60" idx="1"/>
            </p:cNvCxnSpPr>
            <p:nvPr/>
          </p:nvCxnSpPr>
          <p:spPr>
            <a:xfrm>
              <a:off x="962822" y="5458652"/>
              <a:ext cx="3987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753A6738-F127-7D26-3E5A-B67D9923E552}"/>
                </a:ext>
              </a:extLst>
            </p:cNvPr>
            <p:cNvCxnSpPr>
              <a:stCxn id="61" idx="3"/>
            </p:cNvCxnSpPr>
            <p:nvPr/>
          </p:nvCxnSpPr>
          <p:spPr>
            <a:xfrm flipV="1">
              <a:off x="2554735" y="1714681"/>
              <a:ext cx="286350" cy="1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68C91247-F3AB-89E3-4EA2-C496D47F7AC9}"/>
                </a:ext>
              </a:extLst>
            </p:cNvPr>
            <p:cNvCxnSpPr/>
            <p:nvPr/>
          </p:nvCxnSpPr>
          <p:spPr>
            <a:xfrm flipV="1">
              <a:off x="2563630" y="3178365"/>
              <a:ext cx="286350" cy="1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7FF34EA4-55E7-BA8D-7762-FA41811EF44B}"/>
                </a:ext>
              </a:extLst>
            </p:cNvPr>
            <p:cNvCxnSpPr/>
            <p:nvPr/>
          </p:nvCxnSpPr>
          <p:spPr>
            <a:xfrm flipV="1">
              <a:off x="2575044" y="5436810"/>
              <a:ext cx="286350" cy="1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2E2C9B64-4026-4815-3C86-41F60051F9C3}"/>
                </a:ext>
              </a:extLst>
            </p:cNvPr>
            <p:cNvCxnSpPr>
              <a:cxnSpLocks/>
            </p:cNvCxnSpPr>
            <p:nvPr/>
          </p:nvCxnSpPr>
          <p:spPr>
            <a:xfrm>
              <a:off x="5028868" y="3145922"/>
              <a:ext cx="3187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073A3C8F-9EE7-BA34-67A5-38E1D98BB477}"/>
                </a:ext>
              </a:extLst>
            </p:cNvPr>
            <p:cNvCxnSpPr/>
            <p:nvPr/>
          </p:nvCxnSpPr>
          <p:spPr>
            <a:xfrm>
              <a:off x="8122097" y="1911883"/>
              <a:ext cx="0" cy="26792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7AF6B8E5-182B-C9F7-4DE1-EB0A3814AD7B}"/>
                </a:ext>
              </a:extLst>
            </p:cNvPr>
            <p:cNvCxnSpPr>
              <a:cxnSpLocks/>
            </p:cNvCxnSpPr>
            <p:nvPr/>
          </p:nvCxnSpPr>
          <p:spPr>
            <a:xfrm>
              <a:off x="8122097" y="1917322"/>
              <a:ext cx="1917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261">
              <a:extLst>
                <a:ext uri="{FF2B5EF4-FFF2-40B4-BE49-F238E27FC236}">
                  <a16:creationId xmlns:a16="http://schemas.microsoft.com/office/drawing/2014/main" id="{E01130A1-F953-6D0B-C81C-9F3046852BBA}"/>
                </a:ext>
              </a:extLst>
            </p:cNvPr>
            <p:cNvCxnSpPr>
              <a:cxnSpLocks/>
            </p:cNvCxnSpPr>
            <p:nvPr/>
          </p:nvCxnSpPr>
          <p:spPr>
            <a:xfrm>
              <a:off x="8137965" y="3562058"/>
              <a:ext cx="1917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F03A5DF3-3CFD-8098-D7AC-739685D93675}"/>
                </a:ext>
              </a:extLst>
            </p:cNvPr>
            <p:cNvCxnSpPr>
              <a:cxnSpLocks/>
            </p:cNvCxnSpPr>
            <p:nvPr/>
          </p:nvCxnSpPr>
          <p:spPr>
            <a:xfrm>
              <a:off x="8137965" y="2800119"/>
              <a:ext cx="1917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E52322FD-553B-451A-FB8A-2F762FAC02E0}"/>
                </a:ext>
              </a:extLst>
            </p:cNvPr>
            <p:cNvCxnSpPr>
              <a:cxnSpLocks/>
            </p:cNvCxnSpPr>
            <p:nvPr/>
          </p:nvCxnSpPr>
          <p:spPr>
            <a:xfrm>
              <a:off x="8137965" y="4591180"/>
              <a:ext cx="1917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>
              <a:extLst>
                <a:ext uri="{FF2B5EF4-FFF2-40B4-BE49-F238E27FC236}">
                  <a16:creationId xmlns:a16="http://schemas.microsoft.com/office/drawing/2014/main" id="{4E0520F7-3551-4FB0-3A2F-0A8F3A9D7F6E}"/>
                </a:ext>
              </a:extLst>
            </p:cNvPr>
            <p:cNvCxnSpPr>
              <a:cxnSpLocks/>
            </p:cNvCxnSpPr>
            <p:nvPr/>
          </p:nvCxnSpPr>
          <p:spPr>
            <a:xfrm>
              <a:off x="9007468" y="1848011"/>
              <a:ext cx="4268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9E7DAD8D-0145-5B28-8B97-2CA3D84FDED4}"/>
                </a:ext>
              </a:extLst>
            </p:cNvPr>
            <p:cNvCxnSpPr>
              <a:cxnSpLocks/>
            </p:cNvCxnSpPr>
            <p:nvPr/>
          </p:nvCxnSpPr>
          <p:spPr>
            <a:xfrm>
              <a:off x="9007468" y="2800119"/>
              <a:ext cx="4268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BA6EF185-4FA9-3947-652B-875C1BFFEF69}"/>
                </a:ext>
              </a:extLst>
            </p:cNvPr>
            <p:cNvCxnSpPr>
              <a:cxnSpLocks/>
            </p:cNvCxnSpPr>
            <p:nvPr/>
          </p:nvCxnSpPr>
          <p:spPr>
            <a:xfrm>
              <a:off x="9007468" y="3574012"/>
              <a:ext cx="4268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F2237F64-8F6C-B485-579D-44DB3FBD6376}"/>
                </a:ext>
              </a:extLst>
            </p:cNvPr>
            <p:cNvCxnSpPr>
              <a:cxnSpLocks/>
            </p:cNvCxnSpPr>
            <p:nvPr/>
          </p:nvCxnSpPr>
          <p:spPr>
            <a:xfrm>
              <a:off x="9007468" y="4448802"/>
              <a:ext cx="4268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E5CB875E-E29B-7E10-B368-D28B43E13BE7}"/>
                </a:ext>
              </a:extLst>
            </p:cNvPr>
            <p:cNvSpPr txBox="1"/>
            <p:nvPr/>
          </p:nvSpPr>
          <p:spPr>
            <a:xfrm>
              <a:off x="9359509" y="2900472"/>
              <a:ext cx="9060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i="1" dirty="0"/>
                <a:t>Concat</a:t>
              </a:r>
            </a:p>
            <a:p>
              <a:pPr algn="ctr"/>
              <a:r>
                <a:rPr lang="en-US" sz="1200" i="1" dirty="0"/>
                <a:t>(4X64=256)</a:t>
              </a:r>
            </a:p>
          </p:txBody>
        </p: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6640B0C1-8929-82E8-1F5A-C0CCD9D541DE}"/>
                </a:ext>
              </a:extLst>
            </p:cNvPr>
            <p:cNvCxnSpPr>
              <a:stCxn id="274" idx="3"/>
              <a:endCxn id="109" idx="1"/>
            </p:cNvCxnSpPr>
            <p:nvPr/>
          </p:nvCxnSpPr>
          <p:spPr>
            <a:xfrm flipV="1">
              <a:off x="10265526" y="3131304"/>
              <a:ext cx="15014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5B71B508-0D25-6DFC-07A8-6979B37BF959}"/>
                </a:ext>
              </a:extLst>
            </p:cNvPr>
            <p:cNvSpPr/>
            <p:nvPr/>
          </p:nvSpPr>
          <p:spPr>
            <a:xfrm>
              <a:off x="10480920" y="2886668"/>
              <a:ext cx="136649" cy="15274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EC32118-3053-0EA4-6254-E38C92A045AF}"/>
                </a:ext>
              </a:extLst>
            </p:cNvPr>
            <p:cNvSpPr/>
            <p:nvPr/>
          </p:nvSpPr>
          <p:spPr>
            <a:xfrm>
              <a:off x="10470508" y="2592497"/>
              <a:ext cx="136649" cy="15274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85B04190-0CF7-8EF2-AA97-F035138975A5}"/>
                </a:ext>
              </a:extLst>
            </p:cNvPr>
            <p:cNvSpPr/>
            <p:nvPr/>
          </p:nvSpPr>
          <p:spPr>
            <a:xfrm>
              <a:off x="10470508" y="3160159"/>
              <a:ext cx="136649" cy="15274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2CF9B6B6-8D54-F6C3-3663-C6DAD1AECEFA}"/>
                </a:ext>
              </a:extLst>
            </p:cNvPr>
            <p:cNvSpPr/>
            <p:nvPr/>
          </p:nvSpPr>
          <p:spPr>
            <a:xfrm>
              <a:off x="10470508" y="3460199"/>
              <a:ext cx="136649" cy="15274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4FD164E0-FB12-F4C8-E43E-D8A8184B3470}"/>
                </a:ext>
              </a:extLst>
            </p:cNvPr>
            <p:cNvSpPr txBox="1"/>
            <p:nvPr/>
          </p:nvSpPr>
          <p:spPr>
            <a:xfrm>
              <a:off x="10331253" y="3788078"/>
              <a:ext cx="5326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(NXC)</a:t>
              </a:r>
            </a:p>
          </p:txBody>
        </p: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F393379B-874F-CE85-44D4-267DD8E4A9EB}"/>
                </a:ext>
              </a:extLst>
            </p:cNvPr>
            <p:cNvCxnSpPr>
              <a:cxnSpLocks/>
            </p:cNvCxnSpPr>
            <p:nvPr/>
          </p:nvCxnSpPr>
          <p:spPr>
            <a:xfrm>
              <a:off x="10675658" y="3129911"/>
              <a:ext cx="245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Arrow Connector 292">
              <a:extLst>
                <a:ext uri="{FF2B5EF4-FFF2-40B4-BE49-F238E27FC236}">
                  <a16:creationId xmlns:a16="http://schemas.microsoft.com/office/drawing/2014/main" id="{BD0594B6-316C-14FD-5470-FD15669B72F3}"/>
                </a:ext>
              </a:extLst>
            </p:cNvPr>
            <p:cNvCxnSpPr>
              <a:cxnSpLocks/>
            </p:cNvCxnSpPr>
            <p:nvPr/>
          </p:nvCxnSpPr>
          <p:spPr>
            <a:xfrm>
              <a:off x="11571424" y="3144719"/>
              <a:ext cx="245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C850FA34-52E4-C2F4-D195-EFE29555CF6A}"/>
                </a:ext>
              </a:extLst>
            </p:cNvPr>
            <p:cNvSpPr/>
            <p:nvPr/>
          </p:nvSpPr>
          <p:spPr>
            <a:xfrm>
              <a:off x="11852181" y="2907205"/>
              <a:ext cx="136649" cy="15274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1B396367-030E-0B2B-22AE-7619ECC6178D}"/>
                </a:ext>
              </a:extLst>
            </p:cNvPr>
            <p:cNvSpPr/>
            <p:nvPr/>
          </p:nvSpPr>
          <p:spPr>
            <a:xfrm>
              <a:off x="11861195" y="2592346"/>
              <a:ext cx="136649" cy="15274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A2AE974D-89CC-040F-FCD3-E5B79E98332F}"/>
                </a:ext>
              </a:extLst>
            </p:cNvPr>
            <p:cNvSpPr/>
            <p:nvPr/>
          </p:nvSpPr>
          <p:spPr>
            <a:xfrm>
              <a:off x="11864796" y="3474002"/>
              <a:ext cx="136649" cy="15274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57463D8D-9879-C208-B8D9-43CFFD25FF28}"/>
                </a:ext>
              </a:extLst>
            </p:cNvPr>
            <p:cNvSpPr/>
            <p:nvPr/>
          </p:nvSpPr>
          <p:spPr>
            <a:xfrm>
              <a:off x="11854384" y="3179831"/>
              <a:ext cx="136649" cy="15274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8D8DC4BA-A4E3-DB89-3747-735243AAA757}"/>
                </a:ext>
              </a:extLst>
            </p:cNvPr>
            <p:cNvSpPr txBox="1"/>
            <p:nvPr/>
          </p:nvSpPr>
          <p:spPr>
            <a:xfrm>
              <a:off x="10976796" y="2900374"/>
              <a:ext cx="5134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i="1" dirty="0"/>
                <a:t>W0</a:t>
              </a:r>
            </a:p>
            <a:p>
              <a:pPr algn="ctr"/>
              <a:r>
                <a:rPr lang="en-US" sz="1200" i="1" dirty="0"/>
                <a:t>(CXC)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4FFFB2D6-BAE4-3AD0-D17C-5C5B4B20D7BC}"/>
                </a:ext>
              </a:extLst>
            </p:cNvPr>
            <p:cNvSpPr txBox="1"/>
            <p:nvPr/>
          </p:nvSpPr>
          <p:spPr>
            <a:xfrm>
              <a:off x="11702627" y="2058251"/>
              <a:ext cx="4510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Attn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572AFB25-8C1C-9ABC-717E-AAB4F342AB30}"/>
                </a:ext>
              </a:extLst>
            </p:cNvPr>
            <p:cNvSpPr txBox="1"/>
            <p:nvPr/>
          </p:nvSpPr>
          <p:spPr>
            <a:xfrm>
              <a:off x="11703920" y="2198412"/>
              <a:ext cx="5326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(NXC)</a:t>
              </a:r>
            </a:p>
          </p:txBody>
        </p: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D3199D23-F235-A914-07DC-3FCA8F69D831}"/>
                </a:ext>
              </a:extLst>
            </p:cNvPr>
            <p:cNvCxnSpPr>
              <a:cxnSpLocks/>
              <a:stCxn id="114" idx="2"/>
            </p:cNvCxnSpPr>
            <p:nvPr/>
          </p:nvCxnSpPr>
          <p:spPr>
            <a:xfrm>
              <a:off x="11928170" y="3801493"/>
              <a:ext cx="0" cy="12198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Arrow Connector 308">
              <a:extLst>
                <a:ext uri="{FF2B5EF4-FFF2-40B4-BE49-F238E27FC236}">
                  <a16:creationId xmlns:a16="http://schemas.microsoft.com/office/drawing/2014/main" id="{8F71AC91-A7F9-DEA2-A27F-E9A11CADE583}"/>
                </a:ext>
              </a:extLst>
            </p:cNvPr>
            <p:cNvCxnSpPr>
              <a:cxnSpLocks/>
              <a:endCxn id="116" idx="6"/>
            </p:cNvCxnSpPr>
            <p:nvPr/>
          </p:nvCxnSpPr>
          <p:spPr>
            <a:xfrm flipH="1">
              <a:off x="10945765" y="5054169"/>
              <a:ext cx="982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09DE4CBD-9B03-78A5-E6FE-E346C45B9D5A}"/>
                </a:ext>
              </a:extLst>
            </p:cNvPr>
            <p:cNvCxnSpPr/>
            <p:nvPr/>
          </p:nvCxnSpPr>
          <p:spPr>
            <a:xfrm>
              <a:off x="923923" y="6331957"/>
              <a:ext cx="80835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E0A4F1E4-340F-58A0-5E5B-22D3E51563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7468" y="5021311"/>
              <a:ext cx="0" cy="13214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Arrow Connector 336">
              <a:extLst>
                <a:ext uri="{FF2B5EF4-FFF2-40B4-BE49-F238E27FC236}">
                  <a16:creationId xmlns:a16="http://schemas.microsoft.com/office/drawing/2014/main" id="{59D3295A-EE63-5D16-61F7-23B602203A81}"/>
                </a:ext>
              </a:extLst>
            </p:cNvPr>
            <p:cNvCxnSpPr>
              <a:cxnSpLocks/>
            </p:cNvCxnSpPr>
            <p:nvPr/>
          </p:nvCxnSpPr>
          <p:spPr>
            <a:xfrm>
              <a:off x="9007468" y="5021311"/>
              <a:ext cx="16545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AF8FEC6B-9FDE-9FF1-A88A-098D3AEA32C3}"/>
                </a:ext>
              </a:extLst>
            </p:cNvPr>
            <p:cNvSpPr txBox="1"/>
            <p:nvPr/>
          </p:nvSpPr>
          <p:spPr>
            <a:xfrm>
              <a:off x="10163075" y="4467244"/>
              <a:ext cx="13164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Residual Fusion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12E9231F-0079-04EB-50F4-603B15F1EBD5}"/>
                </a:ext>
              </a:extLst>
            </p:cNvPr>
            <p:cNvSpPr txBox="1"/>
            <p:nvPr/>
          </p:nvSpPr>
          <p:spPr>
            <a:xfrm>
              <a:off x="10173100" y="4672261"/>
              <a:ext cx="12333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 err="1"/>
                <a:t>F</a:t>
              </a:r>
              <a:r>
                <a:rPr lang="en-US" sz="1200" i="1" baseline="-25000" dirty="0" err="1"/>
                <a:t>fuse</a:t>
              </a:r>
              <a:r>
                <a:rPr lang="en-US" sz="1200" i="1" dirty="0"/>
                <a:t> = Attn + </a:t>
              </a:r>
              <a:r>
                <a:rPr lang="en-US" sz="1200" i="1" dirty="0" err="1"/>
                <a:t>X</a:t>
              </a:r>
              <a:r>
                <a:rPr lang="en-US" sz="1200" i="1" baseline="-25000" dirty="0" err="1"/>
                <a:t>app</a:t>
              </a:r>
              <a:endParaRPr lang="en-US" sz="1200" i="1" baseline="-2500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7735E783-D2AC-CC81-1D6D-280A4FF167BF}"/>
                </a:ext>
              </a:extLst>
            </p:cNvPr>
            <p:cNvSpPr txBox="1"/>
            <p:nvPr/>
          </p:nvSpPr>
          <p:spPr>
            <a:xfrm>
              <a:off x="10504602" y="5145327"/>
              <a:ext cx="5326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(NXC)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B638B8E9-84AA-520B-E6F6-BE546BC003FD}"/>
                </a:ext>
              </a:extLst>
            </p:cNvPr>
            <p:cNvSpPr txBox="1"/>
            <p:nvPr/>
          </p:nvSpPr>
          <p:spPr>
            <a:xfrm>
              <a:off x="10190750" y="5713391"/>
              <a:ext cx="12242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L2 normalization</a:t>
              </a:r>
            </a:p>
            <a:p>
              <a:pPr algn="ctr"/>
              <a:r>
                <a:rPr lang="en-US" sz="1200" dirty="0"/>
                <a:t>(per node)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0" name="TextBox 349">
                  <a:extLst>
                    <a:ext uri="{FF2B5EF4-FFF2-40B4-BE49-F238E27FC236}">
                      <a16:creationId xmlns:a16="http://schemas.microsoft.com/office/drawing/2014/main" id="{9A214441-95FE-3467-77A0-18C527D1F7F2}"/>
                    </a:ext>
                  </a:extLst>
                </p:cNvPr>
                <p:cNvSpPr txBox="1"/>
                <p:nvPr/>
              </p:nvSpPr>
              <p:spPr>
                <a:xfrm>
                  <a:off x="10131879" y="6075438"/>
                  <a:ext cx="1333442" cy="4692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norm</m:t>
                            </m:r>
                          </m:sub>
                        </m:sSub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200" i="0" dirty="0">
                                    <a:latin typeface="Cambria Math" panose="02040503050406030204" pitchFamily="18" charset="0"/>
                                  </a:rPr>
                                  <m:t>fuse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 dirty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i="0" dirty="0">
                                            <a:latin typeface="Cambria Math" panose="02040503050406030204" pitchFamily="18" charset="0"/>
                                          </a:rPr>
                                          <m:t>fuse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sz="1200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50" name="TextBox 349">
                  <a:extLst>
                    <a:ext uri="{FF2B5EF4-FFF2-40B4-BE49-F238E27FC236}">
                      <a16:creationId xmlns:a16="http://schemas.microsoft.com/office/drawing/2014/main" id="{9A214441-95FE-3467-77A0-18C527D1F7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1879" y="6075438"/>
                  <a:ext cx="1333442" cy="46929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2" name="Straight Arrow Connector 351">
              <a:extLst>
                <a:ext uri="{FF2B5EF4-FFF2-40B4-BE49-F238E27FC236}">
                  <a16:creationId xmlns:a16="http://schemas.microsoft.com/office/drawing/2014/main" id="{9E451E78-70F9-50A5-C407-8A6CBC0F353D}"/>
                </a:ext>
              </a:extLst>
            </p:cNvPr>
            <p:cNvCxnSpPr>
              <a:stCxn id="348" idx="2"/>
              <a:endCxn id="349" idx="0"/>
            </p:cNvCxnSpPr>
            <p:nvPr/>
          </p:nvCxnSpPr>
          <p:spPr>
            <a:xfrm>
              <a:off x="10770925" y="5422326"/>
              <a:ext cx="1" cy="2720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Arrow Connector 353">
              <a:extLst>
                <a:ext uri="{FF2B5EF4-FFF2-40B4-BE49-F238E27FC236}">
                  <a16:creationId xmlns:a16="http://schemas.microsoft.com/office/drawing/2014/main" id="{FFDE67D7-4D83-57A7-9A80-C2EDA7940D91}"/>
                </a:ext>
              </a:extLst>
            </p:cNvPr>
            <p:cNvCxnSpPr/>
            <p:nvPr/>
          </p:nvCxnSpPr>
          <p:spPr>
            <a:xfrm>
              <a:off x="11406451" y="6151587"/>
              <a:ext cx="398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88CB4AD8-8116-B24F-BE92-1AB65C0446F5}"/>
                </a:ext>
              </a:extLst>
            </p:cNvPr>
            <p:cNvGrpSpPr/>
            <p:nvPr/>
          </p:nvGrpSpPr>
          <p:grpSpPr>
            <a:xfrm>
              <a:off x="11805009" y="5295239"/>
              <a:ext cx="246322" cy="1313548"/>
              <a:chOff x="11805009" y="5295239"/>
              <a:chExt cx="246322" cy="1313548"/>
            </a:xfrm>
          </p:grpSpPr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4EBB7784-F9CA-7597-D61E-95BBE4B9E7E7}"/>
                  </a:ext>
                </a:extLst>
              </p:cNvPr>
              <p:cNvSpPr/>
              <p:nvPr/>
            </p:nvSpPr>
            <p:spPr>
              <a:xfrm>
                <a:off x="11805009" y="5295239"/>
                <a:ext cx="246322" cy="1313548"/>
              </a:xfrm>
              <a:prstGeom prst="round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" name="Oval 355">
                <a:extLst>
                  <a:ext uri="{FF2B5EF4-FFF2-40B4-BE49-F238E27FC236}">
                    <a16:creationId xmlns:a16="http://schemas.microsoft.com/office/drawing/2014/main" id="{C231666E-FC5C-972F-657C-5FE9A528D0A8}"/>
                  </a:ext>
                </a:extLst>
              </p:cNvPr>
              <p:cNvSpPr/>
              <p:nvPr/>
            </p:nvSpPr>
            <p:spPr>
              <a:xfrm>
                <a:off x="11859845" y="5433489"/>
                <a:ext cx="136649" cy="152749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3B1A06F1-E0C3-7354-6896-D04B617940FC}"/>
                  </a:ext>
                </a:extLst>
              </p:cNvPr>
              <p:cNvSpPr/>
              <p:nvPr/>
            </p:nvSpPr>
            <p:spPr>
              <a:xfrm>
                <a:off x="11861099" y="5730836"/>
                <a:ext cx="136649" cy="152749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Oval 367">
                <a:extLst>
                  <a:ext uri="{FF2B5EF4-FFF2-40B4-BE49-F238E27FC236}">
                    <a16:creationId xmlns:a16="http://schemas.microsoft.com/office/drawing/2014/main" id="{D2B1B82E-CC33-47F1-FE90-512E2A58AAE1}"/>
                  </a:ext>
                </a:extLst>
              </p:cNvPr>
              <p:cNvSpPr/>
              <p:nvPr/>
            </p:nvSpPr>
            <p:spPr>
              <a:xfrm>
                <a:off x="11859845" y="6034065"/>
                <a:ext cx="136649" cy="152749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C16555E9-F9C2-416A-A9BF-16CF478FE4A1}"/>
                  </a:ext>
                </a:extLst>
              </p:cNvPr>
              <p:cNvSpPr/>
              <p:nvPr/>
            </p:nvSpPr>
            <p:spPr>
              <a:xfrm>
                <a:off x="11859845" y="6322515"/>
                <a:ext cx="136649" cy="152749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EBDE1A0E-E560-7283-52E8-65997D798623}"/>
                    </a:ext>
                  </a:extLst>
                </p:cNvPr>
                <p:cNvSpPr txBox="1"/>
                <p:nvPr/>
              </p:nvSpPr>
              <p:spPr>
                <a:xfrm>
                  <a:off x="11417207" y="6488668"/>
                  <a:ext cx="7855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norm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EBDE1A0E-E560-7283-52E8-65997D7986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7207" y="6488668"/>
                  <a:ext cx="78553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9240F5C7-7588-D0C2-FF1C-B74AA225D2F2}"/>
                </a:ext>
              </a:extLst>
            </p:cNvPr>
            <p:cNvCxnSpPr>
              <a:endCxn id="61" idx="1"/>
            </p:cNvCxnSpPr>
            <p:nvPr/>
          </p:nvCxnSpPr>
          <p:spPr>
            <a:xfrm>
              <a:off x="2022064" y="1714681"/>
              <a:ext cx="286349" cy="1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051C7CC8-47E7-9FDE-B94F-6CCD9B362514}"/>
                </a:ext>
              </a:extLst>
            </p:cNvPr>
            <p:cNvCxnSpPr/>
            <p:nvPr/>
          </p:nvCxnSpPr>
          <p:spPr>
            <a:xfrm>
              <a:off x="2028325" y="3144359"/>
              <a:ext cx="286349" cy="1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Arrow Connector 375">
              <a:extLst>
                <a:ext uri="{FF2B5EF4-FFF2-40B4-BE49-F238E27FC236}">
                  <a16:creationId xmlns:a16="http://schemas.microsoft.com/office/drawing/2014/main" id="{43D9A1F3-6916-C9E9-5708-DD3637ACA4F1}"/>
                </a:ext>
              </a:extLst>
            </p:cNvPr>
            <p:cNvCxnSpPr/>
            <p:nvPr/>
          </p:nvCxnSpPr>
          <p:spPr>
            <a:xfrm>
              <a:off x="2029377" y="5425789"/>
              <a:ext cx="286349" cy="1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0A7E61F-6FA1-F1A3-8424-7CA1D1504A96}"/>
                </a:ext>
              </a:extLst>
            </p:cNvPr>
            <p:cNvSpPr/>
            <p:nvPr/>
          </p:nvSpPr>
          <p:spPr>
            <a:xfrm>
              <a:off x="0" y="725714"/>
              <a:ext cx="12192000" cy="61322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393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EF94-F092-C84C-331E-91A9522E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73704"/>
            <a:ext cx="10515600" cy="607333"/>
          </a:xfrm>
        </p:spPr>
        <p:txBody>
          <a:bodyPr>
            <a:normAutofit fontScale="90000"/>
          </a:bodyPr>
          <a:lstStyle/>
          <a:p>
            <a:r>
              <a:rPr lang="en-US" dirty="0"/>
              <a:t>Learnable Hyper Graph Construction + HGNN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415F70-151F-E2F8-2F73-BC99DF1DC9F2}"/>
              </a:ext>
            </a:extLst>
          </p:cNvPr>
          <p:cNvSpPr/>
          <p:nvPr/>
        </p:nvSpPr>
        <p:spPr>
          <a:xfrm>
            <a:off x="141514" y="56923"/>
            <a:ext cx="10366829" cy="624114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E573BCD3-64B0-B0A6-ECD0-FFD7971E5182}"/>
              </a:ext>
            </a:extLst>
          </p:cNvPr>
          <p:cNvGrpSpPr/>
          <p:nvPr/>
        </p:nvGrpSpPr>
        <p:grpSpPr>
          <a:xfrm>
            <a:off x="0" y="838200"/>
            <a:ext cx="12192000" cy="6019800"/>
            <a:chOff x="0" y="838200"/>
            <a:chExt cx="12192000" cy="60198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6E3AC2E-ECCB-740B-9289-C318304D1C8C}"/>
                </a:ext>
              </a:extLst>
            </p:cNvPr>
            <p:cNvGrpSpPr/>
            <p:nvPr/>
          </p:nvGrpSpPr>
          <p:grpSpPr>
            <a:xfrm>
              <a:off x="675851" y="2208006"/>
              <a:ext cx="450384" cy="375090"/>
              <a:chOff x="8799061" y="4921715"/>
              <a:chExt cx="469257" cy="38766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270BA4F-D58D-777B-5657-88D3298E2FD6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</p:grpSpPr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2C8F352D-7D39-2BC9-5D44-BF9423BE5FC4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E638B4D2-36B9-7AEC-3CFE-B053EC0FD2AE}"/>
                    </a:ext>
                  </a:extLst>
                </p:cNvPr>
                <p:cNvCxnSpPr>
                  <a:stCxn id="31" idx="2"/>
                  <a:endCxn id="31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90D57815-A41D-399E-49F0-A6DF9A2BF7E4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26595377-464D-3E7A-AC35-7183F201945D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A63A5F64-81B9-CDC0-1B96-CEF4CCB034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BC45B2D1-7B6B-908F-8783-B8E04ED0E4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133E91DE-BF32-8D1F-278A-317270303B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FF0885A-DBB0-DFDB-C031-6292E1060B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A192958-985B-D58B-6D60-82838F8CB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8614DA33-1B0F-C037-3B1C-96B225882F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953C4CE-12CC-AFB5-60F1-F4568EB079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4B18403F-FEEA-62C6-5845-AB515738BC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D2ADD6B-707A-A0C2-F669-911C59CAED3E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8CBA3C64-936D-0A06-67E2-D16DBD3D9537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B5F2D5F-F8BC-61DF-A333-493D574DD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AC8653E-B2ED-7D1F-D069-2A032AE552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483EE0E-283F-CE78-67B6-B55A1DE968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D51FA16-6308-D567-F51A-E3328BDF18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2D2045C-2786-DD18-31F2-906F6870E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1663CAD-CD20-1761-EEB7-50CC8F025C4F}"/>
                </a:ext>
              </a:extLst>
            </p:cNvPr>
            <p:cNvSpPr/>
            <p:nvPr/>
          </p:nvSpPr>
          <p:spPr>
            <a:xfrm>
              <a:off x="381000" y="1376527"/>
              <a:ext cx="1090064" cy="430608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7F698E1-C4FF-4F29-740A-54B17A63ADEE}"/>
                    </a:ext>
                  </a:extLst>
                </p:cNvPr>
                <p:cNvSpPr txBox="1"/>
                <p:nvPr/>
              </p:nvSpPr>
              <p:spPr>
                <a:xfrm>
                  <a:off x="816172" y="1770630"/>
                  <a:ext cx="753942" cy="3573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norm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7F698E1-C4FF-4F29-740A-54B17A63A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172" y="1770630"/>
                  <a:ext cx="753942" cy="3573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2FE132E-6F94-9B46-02B7-CE65DE630658}"/>
                </a:ext>
              </a:extLst>
            </p:cNvPr>
            <p:cNvSpPr txBox="1"/>
            <p:nvPr/>
          </p:nvSpPr>
          <p:spPr>
            <a:xfrm>
              <a:off x="899114" y="2559990"/>
              <a:ext cx="511223" cy="2680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(NXC)</a:t>
              </a:r>
            </a:p>
          </p:txBody>
        </p:sp>
        <p:grpSp>
          <p:nvGrpSpPr>
            <p:cNvPr id="475" name="Group 474">
              <a:extLst>
                <a:ext uri="{FF2B5EF4-FFF2-40B4-BE49-F238E27FC236}">
                  <a16:creationId xmlns:a16="http://schemas.microsoft.com/office/drawing/2014/main" id="{688B50CB-FD43-28FB-B2BB-9023C419A616}"/>
                </a:ext>
              </a:extLst>
            </p:cNvPr>
            <p:cNvGrpSpPr/>
            <p:nvPr/>
          </p:nvGrpSpPr>
          <p:grpSpPr>
            <a:xfrm>
              <a:off x="712834" y="4452018"/>
              <a:ext cx="897693" cy="991280"/>
              <a:chOff x="642429" y="3780959"/>
              <a:chExt cx="897693" cy="991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CD276A07-8776-F789-9945-8D5D000B2704}"/>
                  </a:ext>
                </a:extLst>
              </p:cNvPr>
              <p:cNvGrpSpPr/>
              <p:nvPr/>
            </p:nvGrpSpPr>
            <p:grpSpPr>
              <a:xfrm>
                <a:off x="642429" y="4166837"/>
                <a:ext cx="450384" cy="375090"/>
                <a:chOff x="8799061" y="4921715"/>
                <a:chExt cx="469257" cy="387660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9EFA922-C7C7-99C5-23ED-CF343875F6BE}"/>
                    </a:ext>
                  </a:extLst>
                </p:cNvPr>
                <p:cNvGrpSpPr/>
                <p:nvPr/>
              </p:nvGrpSpPr>
              <p:grpSpPr>
                <a:xfrm>
                  <a:off x="8799061" y="4921715"/>
                  <a:ext cx="469257" cy="387660"/>
                  <a:chOff x="8791024" y="4914826"/>
                  <a:chExt cx="469257" cy="387660"/>
                </a:xfrm>
              </p:grpSpPr>
              <p:sp>
                <p:nvSpPr>
                  <p:cNvPr id="10" name="Cube 9">
                    <a:extLst>
                      <a:ext uri="{FF2B5EF4-FFF2-40B4-BE49-F238E27FC236}">
                        <a16:creationId xmlns:a16="http://schemas.microsoft.com/office/drawing/2014/main" id="{4C0AD348-8D87-241A-D33D-5D160E67F471}"/>
                      </a:ext>
                    </a:extLst>
                  </p:cNvPr>
                  <p:cNvSpPr/>
                  <p:nvPr/>
                </p:nvSpPr>
                <p:spPr>
                  <a:xfrm>
                    <a:off x="8791024" y="4916978"/>
                    <a:ext cx="469257" cy="378158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11" name="Straight Connector 10">
                    <a:extLst>
                      <a:ext uri="{FF2B5EF4-FFF2-40B4-BE49-F238E27FC236}">
                        <a16:creationId xmlns:a16="http://schemas.microsoft.com/office/drawing/2014/main" id="{11250587-7F17-52D6-57F8-6713A55E3A1E}"/>
                      </a:ext>
                    </a:extLst>
                  </p:cNvPr>
                  <p:cNvCxnSpPr>
                    <a:stCxn id="10" idx="2"/>
                    <a:endCxn id="10" idx="4"/>
                  </p:cNvCxnSpPr>
                  <p:nvPr/>
                </p:nvCxnSpPr>
                <p:spPr>
                  <a:xfrm>
                    <a:off x="8791024" y="5153327"/>
                    <a:ext cx="37471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64412770-78DE-8CA8-C1B8-321FCAE40DF8}"/>
                      </a:ext>
                    </a:extLst>
                  </p:cNvPr>
                  <p:cNvCxnSpPr/>
                  <p:nvPr/>
                </p:nvCxnSpPr>
                <p:spPr>
                  <a:xfrm>
                    <a:off x="8791024" y="5215605"/>
                    <a:ext cx="37471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B75358C4-2742-C7B3-6F11-15811C8F2599}"/>
                      </a:ext>
                    </a:extLst>
                  </p:cNvPr>
                  <p:cNvCxnSpPr/>
                  <p:nvPr/>
                </p:nvCxnSpPr>
                <p:spPr>
                  <a:xfrm>
                    <a:off x="8792094" y="5083946"/>
                    <a:ext cx="37471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Connector 13">
                    <a:extLst>
                      <a:ext uri="{FF2B5EF4-FFF2-40B4-BE49-F238E27FC236}">
                        <a16:creationId xmlns:a16="http://schemas.microsoft.com/office/drawing/2014/main" id="{3B93F64A-C15D-5683-4F0E-B5D3E62F9A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60391" y="5004136"/>
                    <a:ext cx="0" cy="2983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8698EB53-E9BB-5AEE-C7D0-E383820671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31829" y="5004136"/>
                    <a:ext cx="0" cy="2983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DE62E5B8-BFB6-C18E-FCC7-6A5BFFC7DE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16841" y="5004136"/>
                    <a:ext cx="0" cy="2983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C7A3C394-D80F-0436-F807-A93DA3098D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84229" y="5004136"/>
                    <a:ext cx="0" cy="2983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67BA3148-71B1-BFE1-C392-F9259AB781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854915" y="4916978"/>
                    <a:ext cx="94539" cy="9454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D1E7F9E8-17BD-9FFD-E97E-E7B53D4343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29103" y="4914826"/>
                    <a:ext cx="94539" cy="9454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9E484201-B70D-270D-9642-7DBFC64BCD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13206" y="4914826"/>
                    <a:ext cx="94539" cy="9454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49A93E56-4552-3295-B296-84CF2FAD74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80593" y="4916978"/>
                    <a:ext cx="94539" cy="9454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6482DD64-73FA-A11F-5549-CD5C86E5442A}"/>
                      </a:ext>
                    </a:extLst>
                  </p:cNvPr>
                  <p:cNvCxnSpPr/>
                  <p:nvPr/>
                </p:nvCxnSpPr>
                <p:spPr>
                  <a:xfrm>
                    <a:off x="8825847" y="4986314"/>
                    <a:ext cx="37471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0E50BDC-7D69-9D99-2B60-D33224F20C4C}"/>
                      </a:ext>
                    </a:extLst>
                  </p:cNvPr>
                  <p:cNvCxnSpPr/>
                  <p:nvPr/>
                </p:nvCxnSpPr>
                <p:spPr>
                  <a:xfrm>
                    <a:off x="8854915" y="4954700"/>
                    <a:ext cx="37471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054AF731-707A-E5FA-C8E7-D18E485E65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97201" y="4986224"/>
                    <a:ext cx="0" cy="28421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750E40BE-A69F-69D6-C519-8FA50C2451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29633" y="4954700"/>
                    <a:ext cx="0" cy="28421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A071A402-8CCC-0B6A-4AE9-D5233498EB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060230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E0AAE190-070C-90D7-71DD-1A5417078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125220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9954FF70-3A34-0601-CA9B-E86BE07560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6812" y="4993723"/>
                  <a:ext cx="94539" cy="945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BC29899C-7C15-BEF4-6DB0-5E78EE459FBC}"/>
                      </a:ext>
                    </a:extLst>
                  </p:cNvPr>
                  <p:cNvSpPr txBox="1"/>
                  <p:nvPr/>
                </p:nvSpPr>
                <p:spPr>
                  <a:xfrm>
                    <a:off x="865691" y="3780959"/>
                    <a:ext cx="674431" cy="35735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rm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BC29899C-7C15-BEF4-6DB0-5E78EE459F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5691" y="3780959"/>
                    <a:ext cx="674431" cy="35735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8FF49C9-8725-E1A7-5471-5F998D1E860F}"/>
                  </a:ext>
                </a:extLst>
              </p:cNvPr>
              <p:cNvSpPr txBox="1"/>
              <p:nvPr/>
            </p:nvSpPr>
            <p:spPr>
              <a:xfrm>
                <a:off x="907527" y="4504222"/>
                <a:ext cx="511223" cy="268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/>
                  <a:t>(NXC)</a:t>
                </a:r>
              </a:p>
            </p:txBody>
          </p:sp>
        </p:grp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808919CF-A03A-1016-96D0-B8685B9DEA09}"/>
                </a:ext>
              </a:extLst>
            </p:cNvPr>
            <p:cNvCxnSpPr>
              <a:cxnSpLocks/>
            </p:cNvCxnSpPr>
            <p:nvPr/>
          </p:nvCxnSpPr>
          <p:spPr>
            <a:xfrm>
              <a:off x="1223512" y="2325767"/>
              <a:ext cx="4471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721021A5-D07E-551C-71F8-197002B0146C}"/>
                </a:ext>
              </a:extLst>
            </p:cNvPr>
            <p:cNvSpPr txBox="1"/>
            <p:nvPr/>
          </p:nvSpPr>
          <p:spPr>
            <a:xfrm>
              <a:off x="4850572" y="4137906"/>
              <a:ext cx="2433141" cy="238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/>
                <a:t>W</a:t>
              </a:r>
              <a:r>
                <a:rPr lang="en-US" sz="1000" i="1" baseline="-25000" dirty="0"/>
                <a:t>1 </a:t>
              </a:r>
              <a:r>
                <a:rPr lang="en-US" sz="1000" i="1" dirty="0"/>
                <a:t>. </a:t>
              </a:r>
              <a:r>
                <a:rPr lang="en-US" sz="1000" i="1" dirty="0" err="1"/>
                <a:t>h</a:t>
              </a:r>
              <a:r>
                <a:rPr lang="en-US" sz="1000" i="1" baseline="-25000" dirty="0" err="1"/>
                <a:t>feat</a:t>
              </a:r>
              <a:r>
                <a:rPr lang="en-US" sz="1000" i="1" baseline="-25000" dirty="0"/>
                <a:t> </a:t>
              </a:r>
              <a:r>
                <a:rPr lang="en-US" sz="1000" i="1" dirty="0"/>
                <a:t>+W</a:t>
              </a:r>
              <a:r>
                <a:rPr lang="en-US" sz="1000" i="1" baseline="-25000" dirty="0"/>
                <a:t>2 </a:t>
              </a:r>
              <a:r>
                <a:rPr lang="en-US" sz="1000" i="1" dirty="0"/>
                <a:t>. </a:t>
              </a:r>
              <a:r>
                <a:rPr lang="en-US" sz="1000" i="1" dirty="0" err="1"/>
                <a:t>h</a:t>
              </a:r>
              <a:r>
                <a:rPr lang="en-US" sz="1000" i="1" baseline="-25000" dirty="0" err="1"/>
                <a:t>srm</a:t>
              </a:r>
              <a:endParaRPr lang="en-US" sz="1000" i="1" baseline="-250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CCBAC76-D4FD-D564-E007-992A554DA27F}"/>
                </a:ext>
              </a:extLst>
            </p:cNvPr>
            <p:cNvSpPr/>
            <p:nvPr/>
          </p:nvSpPr>
          <p:spPr>
            <a:xfrm>
              <a:off x="0" y="838200"/>
              <a:ext cx="12192000" cy="6019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E7F7830A-2D62-4CB5-6102-8B9FA2F482E8}"/>
                </a:ext>
              </a:extLst>
            </p:cNvPr>
            <p:cNvGrpSpPr/>
            <p:nvPr/>
          </p:nvGrpSpPr>
          <p:grpSpPr>
            <a:xfrm>
              <a:off x="1537576" y="956335"/>
              <a:ext cx="4757079" cy="5783530"/>
              <a:chOff x="1540122" y="1074470"/>
              <a:chExt cx="4757079" cy="5783530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C09877CF-AE00-9793-1201-5514B31B0BDE}"/>
                  </a:ext>
                </a:extLst>
              </p:cNvPr>
              <p:cNvSpPr/>
              <p:nvPr/>
            </p:nvSpPr>
            <p:spPr>
              <a:xfrm>
                <a:off x="1622746" y="1376528"/>
                <a:ext cx="4584698" cy="150623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68" name="Group 467">
                <a:extLst>
                  <a:ext uri="{FF2B5EF4-FFF2-40B4-BE49-F238E27FC236}">
                    <a16:creationId xmlns:a16="http://schemas.microsoft.com/office/drawing/2014/main" id="{1EAD83A1-9161-D2A9-B6B8-714D6952D78D}"/>
                  </a:ext>
                </a:extLst>
              </p:cNvPr>
              <p:cNvGrpSpPr/>
              <p:nvPr/>
            </p:nvGrpSpPr>
            <p:grpSpPr>
              <a:xfrm>
                <a:off x="1540122" y="1074470"/>
                <a:ext cx="4757079" cy="5783530"/>
                <a:chOff x="1540122" y="1074470"/>
                <a:chExt cx="4757079" cy="5783530"/>
              </a:xfrm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E863D93F-FAED-E5A9-927F-86696B0C48E1}"/>
                    </a:ext>
                  </a:extLst>
                </p:cNvPr>
                <p:cNvGrpSpPr/>
                <p:nvPr/>
              </p:nvGrpSpPr>
              <p:grpSpPr>
                <a:xfrm>
                  <a:off x="1720029" y="1480064"/>
                  <a:ext cx="236415" cy="1270956"/>
                  <a:chOff x="11805009" y="5295239"/>
                  <a:chExt cx="246322" cy="1313548"/>
                </a:xfrm>
              </p:grpSpPr>
              <p:sp>
                <p:nvSpPr>
                  <p:cNvPr id="68" name="Rectangle: Rounded Corners 67">
                    <a:extLst>
                      <a:ext uri="{FF2B5EF4-FFF2-40B4-BE49-F238E27FC236}">
                        <a16:creationId xmlns:a16="http://schemas.microsoft.com/office/drawing/2014/main" id="{B5BFA758-0BA8-A717-49BD-9F4C4F0880A1}"/>
                      </a:ext>
                    </a:extLst>
                  </p:cNvPr>
                  <p:cNvSpPr/>
                  <p:nvPr/>
                </p:nvSpPr>
                <p:spPr>
                  <a:xfrm>
                    <a:off x="11805009" y="5295239"/>
                    <a:ext cx="246322" cy="1313548"/>
                  </a:xfrm>
                  <a:prstGeom prst="roundRect">
                    <a:avLst/>
                  </a:prstGeom>
                  <a:noFill/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AA4E6DF3-039B-BC13-5F91-8A136E3D9B4C}"/>
                      </a:ext>
                    </a:extLst>
                  </p:cNvPr>
                  <p:cNvSpPr/>
                  <p:nvPr/>
                </p:nvSpPr>
                <p:spPr>
                  <a:xfrm>
                    <a:off x="11859845" y="5433489"/>
                    <a:ext cx="136649" cy="152749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E5524E5F-B7A5-D815-E513-5511833187F6}"/>
                      </a:ext>
                    </a:extLst>
                  </p:cNvPr>
                  <p:cNvSpPr/>
                  <p:nvPr/>
                </p:nvSpPr>
                <p:spPr>
                  <a:xfrm>
                    <a:off x="11861099" y="5730836"/>
                    <a:ext cx="136649" cy="152749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13EBACC0-35A5-0786-A755-3B32CBB90EB9}"/>
                      </a:ext>
                    </a:extLst>
                  </p:cNvPr>
                  <p:cNvSpPr/>
                  <p:nvPr/>
                </p:nvSpPr>
                <p:spPr>
                  <a:xfrm>
                    <a:off x="11859845" y="6034065"/>
                    <a:ext cx="136649" cy="152749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" name="Oval 71">
                    <a:extLst>
                      <a:ext uri="{FF2B5EF4-FFF2-40B4-BE49-F238E27FC236}">
                        <a16:creationId xmlns:a16="http://schemas.microsoft.com/office/drawing/2014/main" id="{EFD968F0-6204-E8D2-3110-2A508B08DB3D}"/>
                      </a:ext>
                    </a:extLst>
                  </p:cNvPr>
                  <p:cNvSpPr/>
                  <p:nvPr/>
                </p:nvSpPr>
                <p:spPr>
                  <a:xfrm>
                    <a:off x="11859845" y="6322515"/>
                    <a:ext cx="136649" cy="152749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TextBox 79">
                      <a:extLst>
                        <a:ext uri="{FF2B5EF4-FFF2-40B4-BE49-F238E27FC236}">
                          <a16:creationId xmlns:a16="http://schemas.microsoft.com/office/drawing/2014/main" id="{C1E1DE16-4067-4F39-23F1-4E517FA347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65018" y="1377543"/>
                      <a:ext cx="753942" cy="35735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norm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0" name="TextBox 79">
                      <a:extLst>
                        <a:ext uri="{FF2B5EF4-FFF2-40B4-BE49-F238E27FC236}">
                          <a16:creationId xmlns:a16="http://schemas.microsoft.com/office/drawing/2014/main" id="{C1E1DE16-4067-4F39-23F1-4E517FA347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65018" y="1377543"/>
                      <a:ext cx="753942" cy="35735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362DEBB8-0034-8EA7-D1F6-260778153CFC}"/>
                    </a:ext>
                  </a:extLst>
                </p:cNvPr>
                <p:cNvSpPr/>
                <p:nvPr/>
              </p:nvSpPr>
              <p:spPr>
                <a:xfrm>
                  <a:off x="2108126" y="1832762"/>
                  <a:ext cx="647482" cy="476115"/>
                </a:xfrm>
                <a:prstGeom prst="roundRect">
                  <a:avLst/>
                </a:prstGeom>
                <a:solidFill>
                  <a:srgbClr val="F2EBE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: Rounded Corners 93">
                  <a:extLst>
                    <a:ext uri="{FF2B5EF4-FFF2-40B4-BE49-F238E27FC236}">
                      <a16:creationId xmlns:a16="http://schemas.microsoft.com/office/drawing/2014/main" id="{B08AE79B-8DFD-4DEE-F9E9-5143E303B8FC}"/>
                    </a:ext>
                  </a:extLst>
                </p:cNvPr>
                <p:cNvSpPr/>
                <p:nvPr/>
              </p:nvSpPr>
              <p:spPr>
                <a:xfrm>
                  <a:off x="2899950" y="1849652"/>
                  <a:ext cx="647482" cy="427437"/>
                </a:xfrm>
                <a:prstGeom prst="roundRect">
                  <a:avLst/>
                </a:prstGeom>
                <a:solidFill>
                  <a:srgbClr val="E6D8CE">
                    <a:alpha val="50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2ACE47C6-FDCF-B130-96E1-277DE37F7285}"/>
                    </a:ext>
                  </a:extLst>
                </p:cNvPr>
                <p:cNvSpPr/>
                <p:nvPr/>
              </p:nvSpPr>
              <p:spPr>
                <a:xfrm>
                  <a:off x="3739648" y="1842257"/>
                  <a:ext cx="647482" cy="476115"/>
                </a:xfrm>
                <a:prstGeom prst="roundRect">
                  <a:avLst/>
                </a:prstGeom>
                <a:solidFill>
                  <a:srgbClr val="F2EBE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DEA57D84-E97E-1D9B-478E-B602A657FA35}"/>
                    </a:ext>
                  </a:extLst>
                </p:cNvPr>
                <p:cNvSpPr/>
                <p:nvPr/>
              </p:nvSpPr>
              <p:spPr>
                <a:xfrm>
                  <a:off x="4579345" y="1849652"/>
                  <a:ext cx="1048838" cy="476115"/>
                </a:xfrm>
                <a:prstGeom prst="roundRect">
                  <a:avLst/>
                </a:prstGeom>
                <a:solidFill>
                  <a:srgbClr val="F2EBE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1BBE1AE-76FE-9178-D66D-06B0DEF6ADDB}"/>
                    </a:ext>
                  </a:extLst>
                </p:cNvPr>
                <p:cNvGrpSpPr/>
                <p:nvPr/>
              </p:nvGrpSpPr>
              <p:grpSpPr>
                <a:xfrm>
                  <a:off x="5826248" y="1492508"/>
                  <a:ext cx="236415" cy="1270956"/>
                  <a:chOff x="11805009" y="5295239"/>
                  <a:chExt cx="246322" cy="1313548"/>
                </a:xfrm>
              </p:grpSpPr>
              <p:sp>
                <p:nvSpPr>
                  <p:cNvPr id="100" name="Rectangle: Rounded Corners 99">
                    <a:extLst>
                      <a:ext uri="{FF2B5EF4-FFF2-40B4-BE49-F238E27FC236}">
                        <a16:creationId xmlns:a16="http://schemas.microsoft.com/office/drawing/2014/main" id="{DABD02A4-635C-41B8-BA66-46A659C3A871}"/>
                      </a:ext>
                    </a:extLst>
                  </p:cNvPr>
                  <p:cNvSpPr/>
                  <p:nvPr/>
                </p:nvSpPr>
                <p:spPr>
                  <a:xfrm>
                    <a:off x="11805009" y="5295239"/>
                    <a:ext cx="246322" cy="1313548"/>
                  </a:xfrm>
                  <a:prstGeom prst="roundRect">
                    <a:avLst/>
                  </a:prstGeom>
                  <a:noFill/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A85ECABF-8DE4-FDB9-91D2-7730B5DE9D72}"/>
                      </a:ext>
                    </a:extLst>
                  </p:cNvPr>
                  <p:cNvSpPr/>
                  <p:nvPr/>
                </p:nvSpPr>
                <p:spPr>
                  <a:xfrm>
                    <a:off x="11859845" y="5433489"/>
                    <a:ext cx="136649" cy="152749"/>
                  </a:xfrm>
                  <a:prstGeom prst="ellipse">
                    <a:avLst/>
                  </a:prstGeom>
                  <a:solidFill>
                    <a:srgbClr val="F2EBE6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47CBE1F8-F8E4-7A47-E955-342756A69436}"/>
                      </a:ext>
                    </a:extLst>
                  </p:cNvPr>
                  <p:cNvSpPr/>
                  <p:nvPr/>
                </p:nvSpPr>
                <p:spPr>
                  <a:xfrm>
                    <a:off x="11861099" y="5730836"/>
                    <a:ext cx="136649" cy="152749"/>
                  </a:xfrm>
                  <a:prstGeom prst="ellipse">
                    <a:avLst/>
                  </a:prstGeom>
                  <a:solidFill>
                    <a:srgbClr val="F2EBE6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8F7B40F5-043F-6CE1-93C4-6460A2039E4E}"/>
                      </a:ext>
                    </a:extLst>
                  </p:cNvPr>
                  <p:cNvSpPr/>
                  <p:nvPr/>
                </p:nvSpPr>
                <p:spPr>
                  <a:xfrm>
                    <a:off x="11859845" y="6034065"/>
                    <a:ext cx="136649" cy="152749"/>
                  </a:xfrm>
                  <a:prstGeom prst="ellipse">
                    <a:avLst/>
                  </a:prstGeom>
                  <a:solidFill>
                    <a:srgbClr val="F2EBE6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" name="Oval 103">
                    <a:extLst>
                      <a:ext uri="{FF2B5EF4-FFF2-40B4-BE49-F238E27FC236}">
                        <a16:creationId xmlns:a16="http://schemas.microsoft.com/office/drawing/2014/main" id="{C9C46974-1F81-A94A-C956-E2B34CEF434F}"/>
                      </a:ext>
                    </a:extLst>
                  </p:cNvPr>
                  <p:cNvSpPr/>
                  <p:nvPr/>
                </p:nvSpPr>
                <p:spPr>
                  <a:xfrm>
                    <a:off x="11859845" y="6322515"/>
                    <a:ext cx="136649" cy="152749"/>
                  </a:xfrm>
                  <a:prstGeom prst="ellipse">
                    <a:avLst/>
                  </a:prstGeom>
                  <a:solidFill>
                    <a:srgbClr val="F2EBE6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F5D239E6-938E-9570-168F-9C1D989EBFEC}"/>
                    </a:ext>
                  </a:extLst>
                </p:cNvPr>
                <p:cNvSpPr txBox="1"/>
                <p:nvPr/>
              </p:nvSpPr>
              <p:spPr>
                <a:xfrm>
                  <a:off x="1924052" y="2623816"/>
                  <a:ext cx="511223" cy="2680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/>
                    <a:t>(NXC)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95355A6-DA3B-103A-AD64-62970F9110D4}"/>
                    </a:ext>
                  </a:extLst>
                </p:cNvPr>
                <p:cNvSpPr txBox="1"/>
                <p:nvPr/>
              </p:nvSpPr>
              <p:spPr>
                <a:xfrm>
                  <a:off x="2168390" y="1823693"/>
                  <a:ext cx="476022" cy="3871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 err="1"/>
                    <a:t>W</a:t>
                  </a:r>
                  <a:r>
                    <a:rPr lang="en-US" sz="1200" i="1" baseline="-25000" dirty="0" err="1"/>
                    <a:t>sus</a:t>
                  </a:r>
                  <a:endParaRPr lang="en-US" sz="1200" i="1" baseline="-25000" dirty="0"/>
                </a:p>
                <a:p>
                  <a:r>
                    <a:rPr lang="en-US" sz="1200" i="1" baseline="-25000" dirty="0"/>
                    <a:t>(CXC/4)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7C5906DA-F94F-D39F-A036-0351336E9327}"/>
                    </a:ext>
                  </a:extLst>
                </p:cNvPr>
                <p:cNvSpPr txBox="1"/>
                <p:nvPr/>
              </p:nvSpPr>
              <p:spPr>
                <a:xfrm>
                  <a:off x="2999034" y="1946305"/>
                  <a:ext cx="449313" cy="2680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tanh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6F26554-876D-3C01-E99C-CD007B4AFFAC}"/>
                    </a:ext>
                  </a:extLst>
                </p:cNvPr>
                <p:cNvSpPr txBox="1"/>
                <p:nvPr/>
              </p:nvSpPr>
              <p:spPr>
                <a:xfrm>
                  <a:off x="3854634" y="1868208"/>
                  <a:ext cx="476022" cy="3871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 err="1"/>
                    <a:t>V</a:t>
                  </a:r>
                  <a:r>
                    <a:rPr lang="en-US" sz="1200" i="1" baseline="-25000" dirty="0" err="1"/>
                    <a:t>sus</a:t>
                  </a:r>
                  <a:endParaRPr lang="en-US" sz="1200" i="1" baseline="-25000" dirty="0"/>
                </a:p>
                <a:p>
                  <a:r>
                    <a:rPr lang="en-US" sz="1200" i="1" baseline="-25000" dirty="0"/>
                    <a:t>(CXC/4)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BDAA1969-013D-8D01-AFA1-11A242C7D537}"/>
                    </a:ext>
                  </a:extLst>
                </p:cNvPr>
                <p:cNvSpPr txBox="1"/>
                <p:nvPr/>
              </p:nvSpPr>
              <p:spPr>
                <a:xfrm>
                  <a:off x="4607839" y="1868208"/>
                  <a:ext cx="1045832" cy="4466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i="1" dirty="0"/>
                    <a:t>Softmax</a:t>
                  </a:r>
                </a:p>
                <a:p>
                  <a:pPr algn="ctr"/>
                  <a:r>
                    <a:rPr lang="en-US" sz="1200" i="1" dirty="0"/>
                    <a:t>(over N nodes)</a:t>
                  </a: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70C3DBE2-F4C5-598F-3A4B-AF21C7A725BF}"/>
                    </a:ext>
                  </a:extLst>
                </p:cNvPr>
                <p:cNvSpPr txBox="1"/>
                <p:nvPr/>
              </p:nvSpPr>
              <p:spPr>
                <a:xfrm>
                  <a:off x="5539613" y="2450213"/>
                  <a:ext cx="260319" cy="2680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sz="1200" dirty="0"/>
                    <a:t>α</a:t>
                  </a:r>
                  <a:endParaRPr lang="en-US" dirty="0"/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05DBCB3-82E8-DB7D-5E7F-FA55979A5E9F}"/>
                    </a:ext>
                  </a:extLst>
                </p:cNvPr>
                <p:cNvSpPr txBox="1"/>
                <p:nvPr/>
              </p:nvSpPr>
              <p:spPr>
                <a:xfrm>
                  <a:off x="5371094" y="2608634"/>
                  <a:ext cx="514177" cy="2680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/>
                    <a:t>(NX1)</a:t>
                  </a:r>
                </a:p>
              </p:txBody>
            </p:sp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15BE998D-F79F-1EE1-2E69-2B120F4C74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03813" y="2049333"/>
                  <a:ext cx="18703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8CDC173A-7332-8795-1F66-93F6D4E18A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55608" y="2049333"/>
                  <a:ext cx="18703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77241143-97E5-C143-E0E1-983ACB36DD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2613" y="2071089"/>
                  <a:ext cx="18703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41B4B4EE-887B-BF48-825A-A23362B1D9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7130" y="2080758"/>
                  <a:ext cx="18703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57111936-D164-0872-428F-30616291D6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8183" y="2025159"/>
                  <a:ext cx="18703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4C5A9937-CD7A-1E78-CDA6-295BA94A2192}"/>
                    </a:ext>
                  </a:extLst>
                </p:cNvPr>
                <p:cNvSpPr txBox="1"/>
                <p:nvPr/>
              </p:nvSpPr>
              <p:spPr>
                <a:xfrm>
                  <a:off x="2376249" y="1313246"/>
                  <a:ext cx="3416340" cy="3573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Forensic Suspicion Score (per node)</a:t>
                  </a:r>
                </a:p>
              </p:txBody>
            </p: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6332F0C9-0D76-1BED-3293-1765928B1DB7}"/>
                    </a:ext>
                  </a:extLst>
                </p:cNvPr>
                <p:cNvGrpSpPr/>
                <p:nvPr/>
              </p:nvGrpSpPr>
              <p:grpSpPr>
                <a:xfrm>
                  <a:off x="1638884" y="3007209"/>
                  <a:ext cx="4658317" cy="3789966"/>
                  <a:chOff x="1652161" y="2875267"/>
                  <a:chExt cx="4658317" cy="3789966"/>
                </a:xfrm>
              </p:grpSpPr>
              <p:sp>
                <p:nvSpPr>
                  <p:cNvPr id="182" name="Rectangle: Rounded Corners 181">
                    <a:extLst>
                      <a:ext uri="{FF2B5EF4-FFF2-40B4-BE49-F238E27FC236}">
                        <a16:creationId xmlns:a16="http://schemas.microsoft.com/office/drawing/2014/main" id="{4D1F7CAF-B3E8-8B98-223B-517F3C4A4FD8}"/>
                      </a:ext>
                    </a:extLst>
                  </p:cNvPr>
                  <p:cNvSpPr/>
                  <p:nvPr/>
                </p:nvSpPr>
                <p:spPr>
                  <a:xfrm>
                    <a:off x="3525498" y="3218289"/>
                    <a:ext cx="1553921" cy="171145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Rectangle: Rounded Corners 48">
                    <a:extLst>
                      <a:ext uri="{FF2B5EF4-FFF2-40B4-BE49-F238E27FC236}">
                        <a16:creationId xmlns:a16="http://schemas.microsoft.com/office/drawing/2014/main" id="{E84D304C-1BBC-9687-8785-421068401F36}"/>
                      </a:ext>
                    </a:extLst>
                  </p:cNvPr>
                  <p:cNvSpPr/>
                  <p:nvPr/>
                </p:nvSpPr>
                <p:spPr>
                  <a:xfrm>
                    <a:off x="1652161" y="2946047"/>
                    <a:ext cx="4443839" cy="3719186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900CE373-36AD-4E4F-0829-4B7F26F7F81A}"/>
                      </a:ext>
                    </a:extLst>
                  </p:cNvPr>
                  <p:cNvSpPr txBox="1"/>
                  <p:nvPr/>
                </p:nvSpPr>
                <p:spPr>
                  <a:xfrm>
                    <a:off x="1852514" y="6189396"/>
                    <a:ext cx="511223" cy="2680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i="1" dirty="0"/>
                      <a:t>(NXC)</a:t>
                    </a:r>
                  </a:p>
                </p:txBody>
              </p: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9B8DE4FB-D3D9-1B28-D130-BC8DD7D23F83}"/>
                      </a:ext>
                    </a:extLst>
                  </p:cNvPr>
                  <p:cNvGrpSpPr/>
                  <p:nvPr/>
                </p:nvGrpSpPr>
                <p:grpSpPr>
                  <a:xfrm>
                    <a:off x="1747839" y="4785777"/>
                    <a:ext cx="231206" cy="1448964"/>
                    <a:chOff x="9520731" y="4838995"/>
                    <a:chExt cx="240895" cy="1497521"/>
                  </a:xfrm>
                </p:grpSpPr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503D9F96-A3EE-2EDA-A8FC-26818D1C17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25406" y="4838995"/>
                      <a:ext cx="236220" cy="1497521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B1F66E54-CC34-9596-9203-41181E6D59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520731" y="5000629"/>
                      <a:ext cx="236220" cy="1226235"/>
                      <a:chOff x="9520731" y="5000629"/>
                      <a:chExt cx="236220" cy="1226235"/>
                    </a:xfrm>
                  </p:grpSpPr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59C31B36-FDF6-3F48-096A-5EF0EEB28F8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9520731" y="5582233"/>
                        <a:ext cx="23622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>
                        <a:extLst>
                          <a:ext uri="{FF2B5EF4-FFF2-40B4-BE49-F238E27FC236}">
                            <a16:creationId xmlns:a16="http://schemas.microsoft.com/office/drawing/2014/main" id="{C185CF28-4A4E-ECD6-ED26-553F57EEBBC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520731" y="5978134"/>
                        <a:ext cx="23622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C018940D-BEA2-0302-8C18-BC17D32D51A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9520731" y="5182123"/>
                        <a:ext cx="23622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4" name="Oval 63">
                        <a:extLst>
                          <a:ext uri="{FF2B5EF4-FFF2-40B4-BE49-F238E27FC236}">
                            <a16:creationId xmlns:a16="http://schemas.microsoft.com/office/drawing/2014/main" id="{45CDB736-C8D5-3569-3DA9-82FC3949AF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82833" y="5000629"/>
                        <a:ext cx="91440" cy="91440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75000"/>
                        </a:schemeClr>
                      </a:solidFill>
                      <a:ln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5" name="Oval 64">
                        <a:extLst>
                          <a:ext uri="{FF2B5EF4-FFF2-40B4-BE49-F238E27FC236}">
                            <a16:creationId xmlns:a16="http://schemas.microsoft.com/office/drawing/2014/main" id="{A36A6793-C667-70AE-4465-88FD37AAAA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93121" y="5443890"/>
                        <a:ext cx="91440" cy="91440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75000"/>
                        </a:schemeClr>
                      </a:solidFill>
                      <a:ln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6" name="Oval 65">
                        <a:extLst>
                          <a:ext uri="{FF2B5EF4-FFF2-40B4-BE49-F238E27FC236}">
                            <a16:creationId xmlns:a16="http://schemas.microsoft.com/office/drawing/2014/main" id="{0347E01E-06C2-85B5-6ED6-F6DB907D48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93121" y="6135424"/>
                        <a:ext cx="91440" cy="91440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75000"/>
                        </a:schemeClr>
                      </a:solidFill>
                      <a:ln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73" name="Group 72">
                    <a:extLst>
                      <a:ext uri="{FF2B5EF4-FFF2-40B4-BE49-F238E27FC236}">
                        <a16:creationId xmlns:a16="http://schemas.microsoft.com/office/drawing/2014/main" id="{56FC204D-3B78-EE10-562D-6D4740B185C8}"/>
                      </a:ext>
                    </a:extLst>
                  </p:cNvPr>
                  <p:cNvGrpSpPr/>
                  <p:nvPr/>
                </p:nvGrpSpPr>
                <p:grpSpPr>
                  <a:xfrm>
                    <a:off x="1742222" y="3362632"/>
                    <a:ext cx="236415" cy="1270956"/>
                    <a:chOff x="11805009" y="5295239"/>
                    <a:chExt cx="246322" cy="1313548"/>
                  </a:xfrm>
                </p:grpSpPr>
                <p:sp>
                  <p:nvSpPr>
                    <p:cNvPr id="74" name="Rectangle: Rounded Corners 73">
                      <a:extLst>
                        <a:ext uri="{FF2B5EF4-FFF2-40B4-BE49-F238E27FC236}">
                          <a16:creationId xmlns:a16="http://schemas.microsoft.com/office/drawing/2014/main" id="{CA824CE3-C91D-1498-C88D-B59BA9D38B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05009" y="5295239"/>
                      <a:ext cx="246322" cy="1313548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5" name="Oval 74">
                      <a:extLst>
                        <a:ext uri="{FF2B5EF4-FFF2-40B4-BE49-F238E27FC236}">
                          <a16:creationId xmlns:a16="http://schemas.microsoft.com/office/drawing/2014/main" id="{03827B7A-4B91-6D02-FA83-21BACF0549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59845" y="5433489"/>
                      <a:ext cx="136649" cy="152749"/>
                    </a:xfrm>
                    <a:prstGeom prst="ellipse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  <a:ln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6" name="Oval 75">
                      <a:extLst>
                        <a:ext uri="{FF2B5EF4-FFF2-40B4-BE49-F238E27FC236}">
                          <a16:creationId xmlns:a16="http://schemas.microsoft.com/office/drawing/2014/main" id="{19F5F3C5-6BA1-ACDF-F107-7204F10860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61099" y="5730836"/>
                      <a:ext cx="136649" cy="152749"/>
                    </a:xfrm>
                    <a:prstGeom prst="ellipse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  <a:ln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7" name="Oval 76">
                      <a:extLst>
                        <a:ext uri="{FF2B5EF4-FFF2-40B4-BE49-F238E27FC236}">
                          <a16:creationId xmlns:a16="http://schemas.microsoft.com/office/drawing/2014/main" id="{6F96F7FE-2946-27E3-DB79-D662D75A7D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59845" y="6034065"/>
                      <a:ext cx="136649" cy="152749"/>
                    </a:xfrm>
                    <a:prstGeom prst="ellipse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  <a:ln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8" name="Oval 77">
                      <a:extLst>
                        <a:ext uri="{FF2B5EF4-FFF2-40B4-BE49-F238E27FC236}">
                          <a16:creationId xmlns:a16="http://schemas.microsoft.com/office/drawing/2014/main" id="{A24D8F96-6D95-D200-DD9B-7053B84C38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59845" y="6322515"/>
                      <a:ext cx="136649" cy="152749"/>
                    </a:xfrm>
                    <a:prstGeom prst="ellipse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  <a:ln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2" name="TextBox 81">
                        <a:extLst>
                          <a:ext uri="{FF2B5EF4-FFF2-40B4-BE49-F238E27FC236}">
                            <a16:creationId xmlns:a16="http://schemas.microsoft.com/office/drawing/2014/main" id="{0D8F2F2F-01E8-C339-F624-95A7D6C3911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5206" y="3145121"/>
                        <a:ext cx="753942" cy="35735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norm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82" name="TextBox 81">
                        <a:extLst>
                          <a:ext uri="{FF2B5EF4-FFF2-40B4-BE49-F238E27FC236}">
                            <a16:creationId xmlns:a16="http://schemas.microsoft.com/office/drawing/2014/main" id="{0D8F2F2F-01E8-C339-F624-95A7D6C3911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95206" y="3145121"/>
                        <a:ext cx="753942" cy="357356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4" name="TextBox 83">
                        <a:extLst>
                          <a:ext uri="{FF2B5EF4-FFF2-40B4-BE49-F238E27FC236}">
                            <a16:creationId xmlns:a16="http://schemas.microsoft.com/office/drawing/2014/main" id="{0921F20B-66A8-3665-1CB3-672E43D7ECF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08168" y="4667259"/>
                        <a:ext cx="674431" cy="35735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rm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84" name="TextBox 83">
                        <a:extLst>
                          <a:ext uri="{FF2B5EF4-FFF2-40B4-BE49-F238E27FC236}">
                            <a16:creationId xmlns:a16="http://schemas.microsoft.com/office/drawing/2014/main" id="{0921F20B-66A8-3665-1CB3-672E43D7ECF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08168" y="4667259"/>
                        <a:ext cx="674431" cy="357356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90E6470A-C83E-9BA0-8105-384EA28D7B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52161" y="4686433"/>
                    <a:ext cx="2099123" cy="12217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7D261CE6-8D6A-95D4-6148-CE2BDEEDEE9A}"/>
                      </a:ext>
                    </a:extLst>
                  </p:cNvPr>
                  <p:cNvSpPr txBox="1"/>
                  <p:nvPr/>
                </p:nvSpPr>
                <p:spPr>
                  <a:xfrm>
                    <a:off x="1935883" y="4418416"/>
                    <a:ext cx="511223" cy="2680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i="1" dirty="0"/>
                      <a:t>(NXC)</a:t>
                    </a:r>
                  </a:p>
                </p:txBody>
              </p:sp>
              <p:grpSp>
                <p:nvGrpSpPr>
                  <p:cNvPr id="149" name="Group 148">
                    <a:extLst>
                      <a:ext uri="{FF2B5EF4-FFF2-40B4-BE49-F238E27FC236}">
                        <a16:creationId xmlns:a16="http://schemas.microsoft.com/office/drawing/2014/main" id="{CAC1FE5A-11FE-555C-59DE-41AE46792E0A}"/>
                      </a:ext>
                    </a:extLst>
                  </p:cNvPr>
                  <p:cNvGrpSpPr/>
                  <p:nvPr/>
                </p:nvGrpSpPr>
                <p:grpSpPr>
                  <a:xfrm>
                    <a:off x="2119193" y="3729705"/>
                    <a:ext cx="482569" cy="476115"/>
                    <a:chOff x="2211966" y="3680104"/>
                    <a:chExt cx="502791" cy="492070"/>
                  </a:xfrm>
                </p:grpSpPr>
                <p:sp>
                  <p:nvSpPr>
                    <p:cNvPr id="144" name="Rectangle: Rounded Corners 143">
                      <a:extLst>
                        <a:ext uri="{FF2B5EF4-FFF2-40B4-BE49-F238E27FC236}">
                          <a16:creationId xmlns:a16="http://schemas.microsoft.com/office/drawing/2014/main" id="{B82C9B07-1B12-B753-0EBF-89E51BB00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11966" y="3680104"/>
                      <a:ext cx="502791" cy="492070"/>
                    </a:xfrm>
                    <a:prstGeom prst="round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42F45B0F-B3E7-A839-41CB-DF30F7F6DB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22186" y="3683606"/>
                      <a:ext cx="492571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 err="1"/>
                        <a:t>W</a:t>
                      </a:r>
                      <a:r>
                        <a:rPr lang="en-US" sz="1200" i="1" baseline="-25000" dirty="0" err="1"/>
                        <a:t>feat</a:t>
                      </a:r>
                      <a:endParaRPr lang="en-US" sz="1200" i="1" baseline="-25000" dirty="0"/>
                    </a:p>
                    <a:p>
                      <a:r>
                        <a:rPr lang="en-US" sz="1200" i="1" baseline="-25000" dirty="0"/>
                        <a:t>(CXK)</a:t>
                      </a:r>
                    </a:p>
                  </p:txBody>
                </p:sp>
              </p:grpSp>
              <p:grpSp>
                <p:nvGrpSpPr>
                  <p:cNvPr id="150" name="Group 149">
                    <a:extLst>
                      <a:ext uri="{FF2B5EF4-FFF2-40B4-BE49-F238E27FC236}">
                        <a16:creationId xmlns:a16="http://schemas.microsoft.com/office/drawing/2014/main" id="{5F41DAFD-E9D2-D57F-66AE-DD747481A61A}"/>
                      </a:ext>
                    </a:extLst>
                  </p:cNvPr>
                  <p:cNvGrpSpPr/>
                  <p:nvPr/>
                </p:nvGrpSpPr>
                <p:grpSpPr>
                  <a:xfrm>
                    <a:off x="2119193" y="5279388"/>
                    <a:ext cx="481841" cy="476115"/>
                    <a:chOff x="2212726" y="5283665"/>
                    <a:chExt cx="502032" cy="492070"/>
                  </a:xfrm>
                </p:grpSpPr>
                <p:sp>
                  <p:nvSpPr>
                    <p:cNvPr id="135" name="Rectangle: Rounded Corners 134">
                      <a:extLst>
                        <a:ext uri="{FF2B5EF4-FFF2-40B4-BE49-F238E27FC236}">
                          <a16:creationId xmlns:a16="http://schemas.microsoft.com/office/drawing/2014/main" id="{37642D71-61F9-430C-3135-A2F85724F2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12726" y="5283665"/>
                      <a:ext cx="502032" cy="492070"/>
                    </a:xfrm>
                    <a:prstGeom prst="round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8" name="TextBox 147">
                      <a:extLst>
                        <a:ext uri="{FF2B5EF4-FFF2-40B4-BE49-F238E27FC236}">
                          <a16:creationId xmlns:a16="http://schemas.microsoft.com/office/drawing/2014/main" id="{1AC43707-81F7-EF7F-7E70-38C1CC65C2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20374" y="5308034"/>
                      <a:ext cx="473976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 err="1"/>
                        <a:t>W</a:t>
                      </a:r>
                      <a:r>
                        <a:rPr lang="en-US" sz="1200" i="1" baseline="-25000" dirty="0" err="1"/>
                        <a:t>srm</a:t>
                      </a:r>
                      <a:endParaRPr lang="en-US" sz="1200" i="1" baseline="-25000" dirty="0"/>
                    </a:p>
                    <a:p>
                      <a:r>
                        <a:rPr lang="en-US" sz="1200" i="1" baseline="-25000" dirty="0"/>
                        <a:t>(CXK)</a:t>
                      </a:r>
                    </a:p>
                  </p:txBody>
                </p:sp>
              </p:grpSp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A2CE98D2-0331-6865-D659-F9A3E72CEF32}"/>
                      </a:ext>
                    </a:extLst>
                  </p:cNvPr>
                  <p:cNvGrpSpPr/>
                  <p:nvPr/>
                </p:nvGrpSpPr>
                <p:grpSpPr>
                  <a:xfrm>
                    <a:off x="2766081" y="3689088"/>
                    <a:ext cx="622815" cy="536210"/>
                    <a:chOff x="3978212" y="3888430"/>
                    <a:chExt cx="648914" cy="554179"/>
                  </a:xfrm>
                </p:grpSpPr>
                <p:sp>
                  <p:nvSpPr>
                    <p:cNvPr id="151" name="Rectangle 150">
                      <a:extLst>
                        <a:ext uri="{FF2B5EF4-FFF2-40B4-BE49-F238E27FC236}">
                          <a16:creationId xmlns:a16="http://schemas.microsoft.com/office/drawing/2014/main" id="{9FCBF0CA-3508-5B67-299B-A01778CF44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8212" y="3893034"/>
                      <a:ext cx="648914" cy="544160"/>
                    </a:xfrm>
                    <a:prstGeom prst="rect">
                      <a:avLst/>
                    </a:prstGeom>
                    <a:gradFill>
                      <a:gsLst>
                        <a:gs pos="22000">
                          <a:schemeClr val="accent1">
                            <a:lumMod val="75000"/>
                          </a:schemeClr>
                        </a:gs>
                        <a:gs pos="55000">
                          <a:schemeClr val="accent1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  <a:gs pos="67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path path="rect">
                        <a:fillToRect l="100000" t="100000"/>
                      </a:path>
                    </a:gra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53" name="Straight Connector 152">
                      <a:extLst>
                        <a:ext uri="{FF2B5EF4-FFF2-40B4-BE49-F238E27FC236}">
                          <a16:creationId xmlns:a16="http://schemas.microsoft.com/office/drawing/2014/main" id="{FFC8A558-8F01-18E2-5B63-23B5B4B5C5DB}"/>
                        </a:ext>
                      </a:extLst>
                    </p:cNvPr>
                    <p:cNvCxnSpPr>
                      <a:stCxn id="151" idx="0"/>
                      <a:endCxn id="151" idx="2"/>
                    </p:cNvCxnSpPr>
                    <p:nvPr/>
                  </p:nvCxnSpPr>
                  <p:spPr>
                    <a:xfrm>
                      <a:off x="4302669" y="3893034"/>
                      <a:ext cx="0" cy="544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Straight Connector 153">
                      <a:extLst>
                        <a:ext uri="{FF2B5EF4-FFF2-40B4-BE49-F238E27FC236}">
                          <a16:creationId xmlns:a16="http://schemas.microsoft.com/office/drawing/2014/main" id="{3793A828-5394-3991-44F7-CB58C8C9EBC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407444" y="3893034"/>
                      <a:ext cx="0" cy="544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Straight Connector 154">
                      <a:extLst>
                        <a:ext uri="{FF2B5EF4-FFF2-40B4-BE49-F238E27FC236}">
                          <a16:creationId xmlns:a16="http://schemas.microsoft.com/office/drawing/2014/main" id="{85712ACA-A2B0-789A-3024-D3F816D7D19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510392" y="3898449"/>
                      <a:ext cx="0" cy="544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" name="Straight Connector 155">
                      <a:extLst>
                        <a:ext uri="{FF2B5EF4-FFF2-40B4-BE49-F238E27FC236}">
                          <a16:creationId xmlns:a16="http://schemas.microsoft.com/office/drawing/2014/main" id="{58B2C12F-11BC-F9C5-F31F-3754C0DB020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04536" y="3888430"/>
                      <a:ext cx="0" cy="544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" name="Straight Connector 156">
                      <a:extLst>
                        <a:ext uri="{FF2B5EF4-FFF2-40B4-BE49-F238E27FC236}">
                          <a16:creationId xmlns:a16="http://schemas.microsoft.com/office/drawing/2014/main" id="{472F3308-8AB6-399F-059C-670A18FE9A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16558" y="3894329"/>
                      <a:ext cx="0" cy="544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" name="Straight Connector 157">
                      <a:extLst>
                        <a:ext uri="{FF2B5EF4-FFF2-40B4-BE49-F238E27FC236}">
                          <a16:creationId xmlns:a16="http://schemas.microsoft.com/office/drawing/2014/main" id="{014354C1-7762-A676-87FE-FCE042F7C4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025695"/>
                      <a:ext cx="648914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" name="Straight Connector 159">
                      <a:extLst>
                        <a:ext uri="{FF2B5EF4-FFF2-40B4-BE49-F238E27FC236}">
                          <a16:creationId xmlns:a16="http://schemas.microsoft.com/office/drawing/2014/main" id="{51709987-CF2B-C9E7-39BF-956066C371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132708"/>
                      <a:ext cx="648914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Straight Connector 160">
                      <a:extLst>
                        <a:ext uri="{FF2B5EF4-FFF2-40B4-BE49-F238E27FC236}">
                          <a16:creationId xmlns:a16="http://schemas.microsoft.com/office/drawing/2014/main" id="{6463D233-C1FE-8A31-417E-69256B6BF22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227017"/>
                      <a:ext cx="648914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2" name="Straight Connector 161">
                      <a:extLst>
                        <a:ext uri="{FF2B5EF4-FFF2-40B4-BE49-F238E27FC236}">
                          <a16:creationId xmlns:a16="http://schemas.microsoft.com/office/drawing/2014/main" id="{5A92FA5C-12E9-9E58-B83F-554C40CC96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337379"/>
                      <a:ext cx="648914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6" name="Group 165">
                    <a:extLst>
                      <a:ext uri="{FF2B5EF4-FFF2-40B4-BE49-F238E27FC236}">
                        <a16:creationId xmlns:a16="http://schemas.microsoft.com/office/drawing/2014/main" id="{B07AB7C0-EA65-ADA6-20FD-BF4AD2CAED61}"/>
                      </a:ext>
                    </a:extLst>
                  </p:cNvPr>
                  <p:cNvGrpSpPr/>
                  <p:nvPr/>
                </p:nvGrpSpPr>
                <p:grpSpPr>
                  <a:xfrm>
                    <a:off x="2766081" y="5266091"/>
                    <a:ext cx="622815" cy="536210"/>
                    <a:chOff x="3978212" y="3888430"/>
                    <a:chExt cx="648914" cy="554179"/>
                  </a:xfrm>
                  <a:gradFill>
                    <a:gsLst>
                      <a:gs pos="22000">
                        <a:schemeClr val="accent6">
                          <a:lumMod val="60000"/>
                          <a:lumOff val="40000"/>
                        </a:schemeClr>
                      </a:gs>
                      <a:gs pos="55000">
                        <a:schemeClr val="accent6">
                          <a:lumMod val="20000"/>
                          <a:lumOff val="80000"/>
                        </a:schemeClr>
                      </a:gs>
                      <a:gs pos="100000">
                        <a:schemeClr val="accent6">
                          <a:lumMod val="75000"/>
                        </a:schemeClr>
                      </a:gs>
                      <a:gs pos="67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path path="rect">
                      <a:fillToRect l="100000" t="100000"/>
                    </a:path>
                  </a:gradFill>
                </p:grpSpPr>
                <p:sp>
                  <p:nvSpPr>
                    <p:cNvPr id="167" name="Rectangle 166">
                      <a:extLst>
                        <a:ext uri="{FF2B5EF4-FFF2-40B4-BE49-F238E27FC236}">
                          <a16:creationId xmlns:a16="http://schemas.microsoft.com/office/drawing/2014/main" id="{85FB3F7D-02BF-0EC5-C796-AE45C6960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8212" y="3893034"/>
                      <a:ext cx="648914" cy="54416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B278BA0C-8CCE-CE32-6EDF-6AC9F288C683}"/>
                        </a:ext>
                      </a:extLst>
                    </p:cNvPr>
                    <p:cNvCxnSpPr>
                      <a:stCxn id="167" idx="0"/>
                      <a:endCxn id="167" idx="2"/>
                    </p:cNvCxnSpPr>
                    <p:nvPr/>
                  </p:nvCxnSpPr>
                  <p:spPr>
                    <a:xfrm>
                      <a:off x="4302669" y="3893034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292A2570-BFC1-72A0-869D-BA0853E7FC0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407444" y="3893034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580028CB-1C4B-A75A-747E-E3A99E5AC0F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510392" y="3898449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EF171399-81F6-7B66-4317-E790F98A4F4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04536" y="3888430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" name="Straight Connector 171">
                      <a:extLst>
                        <a:ext uri="{FF2B5EF4-FFF2-40B4-BE49-F238E27FC236}">
                          <a16:creationId xmlns:a16="http://schemas.microsoft.com/office/drawing/2014/main" id="{836C6FF4-13A7-73EA-D602-9764D357266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16558" y="3894329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>
                      <a:extLst>
                        <a:ext uri="{FF2B5EF4-FFF2-40B4-BE49-F238E27FC236}">
                          <a16:creationId xmlns:a16="http://schemas.microsoft.com/office/drawing/2014/main" id="{E4DE22F6-0191-AA8C-6675-D7266090DF8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025695"/>
                      <a:ext cx="648914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" name="Straight Connector 173">
                      <a:extLst>
                        <a:ext uri="{FF2B5EF4-FFF2-40B4-BE49-F238E27FC236}">
                          <a16:creationId xmlns:a16="http://schemas.microsoft.com/office/drawing/2014/main" id="{B1C548FF-42FA-86DE-4CAE-8F575F4BEB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132708"/>
                      <a:ext cx="648914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>
                      <a:extLst>
                        <a:ext uri="{FF2B5EF4-FFF2-40B4-BE49-F238E27FC236}">
                          <a16:creationId xmlns:a16="http://schemas.microsoft.com/office/drawing/2014/main" id="{470E73BC-C30E-F736-2BF8-21D237D425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227017"/>
                      <a:ext cx="648914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Straight Connector 175">
                      <a:extLst>
                        <a:ext uri="{FF2B5EF4-FFF2-40B4-BE49-F238E27FC236}">
                          <a16:creationId xmlns:a16="http://schemas.microsoft.com/office/drawing/2014/main" id="{286224E5-C473-DCDD-EC1F-F8623B4400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337379"/>
                      <a:ext cx="648914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id="{0013AD3C-2655-AA38-7BBA-978590EB9904}"/>
                      </a:ext>
                    </a:extLst>
                  </p:cNvPr>
                  <p:cNvSpPr txBox="1"/>
                  <p:nvPr/>
                </p:nvSpPr>
                <p:spPr>
                  <a:xfrm>
                    <a:off x="2849402" y="3308909"/>
                    <a:ext cx="412635" cy="38713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i="1" dirty="0" err="1"/>
                      <a:t>h</a:t>
                    </a:r>
                    <a:r>
                      <a:rPr lang="en-US" sz="1200" i="1" baseline="-25000" dirty="0" err="1"/>
                      <a:t>feat</a:t>
                    </a:r>
                    <a:endParaRPr lang="en-US" sz="1200" i="1" baseline="-25000" dirty="0"/>
                  </a:p>
                  <a:p>
                    <a:r>
                      <a:rPr lang="en-US" sz="1200" i="1" baseline="-25000" dirty="0"/>
                      <a:t>(NXK)</a:t>
                    </a:r>
                  </a:p>
                </p:txBody>
              </p:sp>
              <p:sp>
                <p:nvSpPr>
                  <p:cNvPr id="180" name="TextBox 179">
                    <a:extLst>
                      <a:ext uri="{FF2B5EF4-FFF2-40B4-BE49-F238E27FC236}">
                        <a16:creationId xmlns:a16="http://schemas.microsoft.com/office/drawing/2014/main" id="{03A7B769-8FE8-581B-8B4E-89B1CDE82D60}"/>
                      </a:ext>
                    </a:extLst>
                  </p:cNvPr>
                  <p:cNvSpPr txBox="1"/>
                  <p:nvPr/>
                </p:nvSpPr>
                <p:spPr>
                  <a:xfrm>
                    <a:off x="2858633" y="4892218"/>
                    <a:ext cx="403403" cy="38713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i="1" dirty="0" err="1"/>
                      <a:t>h</a:t>
                    </a:r>
                    <a:r>
                      <a:rPr lang="en-US" sz="1200" i="1" baseline="-25000" dirty="0" err="1"/>
                      <a:t>srm</a:t>
                    </a:r>
                    <a:endParaRPr lang="en-US" sz="1200" i="1" baseline="-25000" dirty="0"/>
                  </a:p>
                  <a:p>
                    <a:r>
                      <a:rPr lang="en-US" sz="1200" i="1" baseline="-25000" dirty="0"/>
                      <a:t>(NXK)</a:t>
                    </a:r>
                  </a:p>
                </p:txBody>
              </p:sp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6BD5F788-E574-82F1-2EAE-914696DA709D}"/>
                      </a:ext>
                    </a:extLst>
                  </p:cNvPr>
                  <p:cNvSpPr txBox="1"/>
                  <p:nvPr/>
                </p:nvSpPr>
                <p:spPr>
                  <a:xfrm>
                    <a:off x="3247985" y="3180782"/>
                    <a:ext cx="2099122" cy="2382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000" dirty="0"/>
                      <a:t>Learnable weight W=[W</a:t>
                    </a:r>
                    <a:r>
                      <a:rPr lang="en-US" sz="1000" baseline="-25000" dirty="0"/>
                      <a:t>1</a:t>
                    </a:r>
                    <a:r>
                      <a:rPr lang="en-US" sz="1000" dirty="0"/>
                      <a:t>,W</a:t>
                    </a:r>
                    <a:r>
                      <a:rPr lang="en-US" sz="1000" baseline="-25000" dirty="0"/>
                      <a:t>2</a:t>
                    </a:r>
                    <a:r>
                      <a:rPr lang="en-US" sz="1000" dirty="0"/>
                      <a:t>]</a:t>
                    </a:r>
                  </a:p>
                </p:txBody>
              </p:sp>
              <p:sp>
                <p:nvSpPr>
                  <p:cNvPr id="187" name="Rectangle: Rounded Corners 186">
                    <a:extLst>
                      <a:ext uri="{FF2B5EF4-FFF2-40B4-BE49-F238E27FC236}">
                        <a16:creationId xmlns:a16="http://schemas.microsoft.com/office/drawing/2014/main" id="{8901187E-D058-CB04-5DFD-AB53136A12AA}"/>
                      </a:ext>
                    </a:extLst>
                  </p:cNvPr>
                  <p:cNvSpPr/>
                  <p:nvPr/>
                </p:nvSpPr>
                <p:spPr>
                  <a:xfrm>
                    <a:off x="3890250" y="3496172"/>
                    <a:ext cx="669570" cy="195230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89" name="Group 188">
                    <a:extLst>
                      <a:ext uri="{FF2B5EF4-FFF2-40B4-BE49-F238E27FC236}">
                        <a16:creationId xmlns:a16="http://schemas.microsoft.com/office/drawing/2014/main" id="{6B91C2E5-D584-D342-D7ED-29AD957DCCF5}"/>
                      </a:ext>
                    </a:extLst>
                  </p:cNvPr>
                  <p:cNvGrpSpPr/>
                  <p:nvPr/>
                </p:nvGrpSpPr>
                <p:grpSpPr>
                  <a:xfrm>
                    <a:off x="3865292" y="4083891"/>
                    <a:ext cx="172238" cy="188995"/>
                    <a:chOff x="8180098" y="5433462"/>
                    <a:chExt cx="294331" cy="296333"/>
                  </a:xfrm>
                </p:grpSpPr>
                <p:sp>
                  <p:nvSpPr>
                    <p:cNvPr id="190" name="Oval 189">
                      <a:extLst>
                        <a:ext uri="{FF2B5EF4-FFF2-40B4-BE49-F238E27FC236}">
                          <a16:creationId xmlns:a16="http://schemas.microsoft.com/office/drawing/2014/main" id="{D37E33B5-85BF-8F0C-E8DF-CEA72B784F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80098" y="5433462"/>
                      <a:ext cx="294331" cy="296333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1" name="Multiplication Sign 190">
                      <a:extLst>
                        <a:ext uri="{FF2B5EF4-FFF2-40B4-BE49-F238E27FC236}">
                          <a16:creationId xmlns:a16="http://schemas.microsoft.com/office/drawing/2014/main" id="{45B8D6E0-945E-2303-A6D8-2884914AB6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3106" y="5433752"/>
                      <a:ext cx="246322" cy="295751"/>
                    </a:xfrm>
                    <a:prstGeom prst="mathMultiply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193" name="Straight Arrow Connector 192">
                    <a:extLst>
                      <a:ext uri="{FF2B5EF4-FFF2-40B4-BE49-F238E27FC236}">
                        <a16:creationId xmlns:a16="http://schemas.microsoft.com/office/drawing/2014/main" id="{12D8DAC0-5AA2-017B-FDD6-79B65DC6232B}"/>
                      </a:ext>
                    </a:extLst>
                  </p:cNvPr>
                  <p:cNvCxnSpPr>
                    <a:cxnSpLocks/>
                    <a:endCxn id="190" idx="2"/>
                  </p:cNvCxnSpPr>
                  <p:nvPr/>
                </p:nvCxnSpPr>
                <p:spPr>
                  <a:xfrm>
                    <a:off x="3448346" y="4177275"/>
                    <a:ext cx="416946" cy="111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6" name="Rectangle: Rounded Corners 195">
                    <a:extLst>
                      <a:ext uri="{FF2B5EF4-FFF2-40B4-BE49-F238E27FC236}">
                        <a16:creationId xmlns:a16="http://schemas.microsoft.com/office/drawing/2014/main" id="{160A973C-1604-7BCC-051D-D34E7DD1A7FE}"/>
                      </a:ext>
                    </a:extLst>
                  </p:cNvPr>
                  <p:cNvSpPr/>
                  <p:nvPr/>
                </p:nvSpPr>
                <p:spPr>
                  <a:xfrm>
                    <a:off x="3821449" y="3781923"/>
                    <a:ext cx="277183" cy="195230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C9D6082A-A565-BE63-900A-3BC623EFBF72}"/>
                      </a:ext>
                    </a:extLst>
                  </p:cNvPr>
                  <p:cNvSpPr txBox="1"/>
                  <p:nvPr/>
                </p:nvSpPr>
                <p:spPr>
                  <a:xfrm>
                    <a:off x="3803055" y="3757820"/>
                    <a:ext cx="328015" cy="2382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i="1" dirty="0"/>
                      <a:t>W</a:t>
                    </a:r>
                    <a:r>
                      <a:rPr lang="en-US" sz="1000" i="1" baseline="-25000" dirty="0"/>
                      <a:t>1</a:t>
                    </a:r>
                  </a:p>
                </p:txBody>
              </p:sp>
              <p:sp>
                <p:nvSpPr>
                  <p:cNvPr id="199" name="Rectangle: Rounded Corners 198">
                    <a:extLst>
                      <a:ext uri="{FF2B5EF4-FFF2-40B4-BE49-F238E27FC236}">
                        <a16:creationId xmlns:a16="http://schemas.microsoft.com/office/drawing/2014/main" id="{9B034ED5-63D6-0041-1307-1EBB046AE3D8}"/>
                      </a:ext>
                    </a:extLst>
                  </p:cNvPr>
                  <p:cNvSpPr/>
                  <p:nvPr/>
                </p:nvSpPr>
                <p:spPr>
                  <a:xfrm>
                    <a:off x="4311497" y="3781923"/>
                    <a:ext cx="277183" cy="195230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01" name="TextBox 200">
                    <a:extLst>
                      <a:ext uri="{FF2B5EF4-FFF2-40B4-BE49-F238E27FC236}">
                        <a16:creationId xmlns:a16="http://schemas.microsoft.com/office/drawing/2014/main" id="{54D4A3F7-7F1A-2E9D-166D-5648CF5F8142}"/>
                      </a:ext>
                    </a:extLst>
                  </p:cNvPr>
                  <p:cNvSpPr txBox="1"/>
                  <p:nvPr/>
                </p:nvSpPr>
                <p:spPr>
                  <a:xfrm>
                    <a:off x="4279729" y="3738916"/>
                    <a:ext cx="328015" cy="2382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i="1" dirty="0"/>
                      <a:t>W</a:t>
                    </a:r>
                    <a:r>
                      <a:rPr lang="en-US" sz="1000" i="1" baseline="-25000" dirty="0"/>
                      <a:t>2</a:t>
                    </a:r>
                  </a:p>
                </p:txBody>
              </p:sp>
              <p:cxnSp>
                <p:nvCxnSpPr>
                  <p:cNvPr id="206" name="Straight Arrow Connector 205">
                    <a:extLst>
                      <a:ext uri="{FF2B5EF4-FFF2-40B4-BE49-F238E27FC236}">
                        <a16:creationId xmlns:a16="http://schemas.microsoft.com/office/drawing/2014/main" id="{B925E255-DC85-D9B2-2D92-2F7E8E6DAC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38722" y="3977153"/>
                    <a:ext cx="0" cy="11600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11" name="Group 210">
                    <a:extLst>
                      <a:ext uri="{FF2B5EF4-FFF2-40B4-BE49-F238E27FC236}">
                        <a16:creationId xmlns:a16="http://schemas.microsoft.com/office/drawing/2014/main" id="{FB644CD0-D4B0-0436-2A8E-BA1FCE30D6F2}"/>
                      </a:ext>
                    </a:extLst>
                  </p:cNvPr>
                  <p:cNvGrpSpPr/>
                  <p:nvPr/>
                </p:nvGrpSpPr>
                <p:grpSpPr>
                  <a:xfrm>
                    <a:off x="4331475" y="5393014"/>
                    <a:ext cx="172238" cy="188995"/>
                    <a:chOff x="8180098" y="5433462"/>
                    <a:chExt cx="294331" cy="296333"/>
                  </a:xfrm>
                </p:grpSpPr>
                <p:sp>
                  <p:nvSpPr>
                    <p:cNvPr id="212" name="Oval 211">
                      <a:extLst>
                        <a:ext uri="{FF2B5EF4-FFF2-40B4-BE49-F238E27FC236}">
                          <a16:creationId xmlns:a16="http://schemas.microsoft.com/office/drawing/2014/main" id="{5DB3A9B9-B603-EA20-2FDD-039621870B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80098" y="5433462"/>
                      <a:ext cx="294331" cy="296333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3" name="Multiplication Sign 212">
                      <a:extLst>
                        <a:ext uri="{FF2B5EF4-FFF2-40B4-BE49-F238E27FC236}">
                          <a16:creationId xmlns:a16="http://schemas.microsoft.com/office/drawing/2014/main" id="{A417ECCC-17B9-4C6A-5E1E-20F44BB449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3106" y="5433752"/>
                      <a:ext cx="246322" cy="295751"/>
                    </a:xfrm>
                    <a:prstGeom prst="mathMultiply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214" name="Straight Arrow Connector 213">
                    <a:extLst>
                      <a:ext uri="{FF2B5EF4-FFF2-40B4-BE49-F238E27FC236}">
                        <a16:creationId xmlns:a16="http://schemas.microsoft.com/office/drawing/2014/main" id="{A7ED8562-2C68-D748-8A14-614D1581A903}"/>
                      </a:ext>
                    </a:extLst>
                  </p:cNvPr>
                  <p:cNvCxnSpPr>
                    <a:cxnSpLocks/>
                    <a:stCxn id="199" idx="2"/>
                  </p:cNvCxnSpPr>
                  <p:nvPr/>
                </p:nvCxnSpPr>
                <p:spPr>
                  <a:xfrm flipH="1">
                    <a:off x="4429836" y="3977153"/>
                    <a:ext cx="20252" cy="142727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Arrow Connector 215">
                    <a:extLst>
                      <a:ext uri="{FF2B5EF4-FFF2-40B4-BE49-F238E27FC236}">
                        <a16:creationId xmlns:a16="http://schemas.microsoft.com/office/drawing/2014/main" id="{B73E804E-0FD9-F402-E1C4-F3B9EC07F3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93745" y="5487510"/>
                    <a:ext cx="943093" cy="396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5" name="Rectangle: Rounded Corners 224">
                    <a:extLst>
                      <a:ext uri="{FF2B5EF4-FFF2-40B4-BE49-F238E27FC236}">
                        <a16:creationId xmlns:a16="http://schemas.microsoft.com/office/drawing/2014/main" id="{F8633873-D21C-6079-DFFD-B4B1628E8C8E}"/>
                      </a:ext>
                    </a:extLst>
                  </p:cNvPr>
                  <p:cNvSpPr/>
                  <p:nvPr/>
                </p:nvSpPr>
                <p:spPr>
                  <a:xfrm>
                    <a:off x="4773407" y="4047489"/>
                    <a:ext cx="1289256" cy="370665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229" name="Straight Arrow Connector 228">
                    <a:extLst>
                      <a:ext uri="{FF2B5EF4-FFF2-40B4-BE49-F238E27FC236}">
                        <a16:creationId xmlns:a16="http://schemas.microsoft.com/office/drawing/2014/main" id="{F7B2DCB0-742B-20D6-8B29-4F595116336B}"/>
                      </a:ext>
                    </a:extLst>
                  </p:cNvPr>
                  <p:cNvCxnSpPr>
                    <a:cxnSpLocks/>
                    <a:stCxn id="191" idx="2"/>
                    <a:endCxn id="225" idx="1"/>
                  </p:cNvCxnSpPr>
                  <p:nvPr/>
                </p:nvCxnSpPr>
                <p:spPr>
                  <a:xfrm>
                    <a:off x="3994132" y="4227397"/>
                    <a:ext cx="779275" cy="542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EC9996B9-5DB0-EA87-AA07-144764636A46}"/>
                      </a:ext>
                    </a:extLst>
                  </p:cNvPr>
                  <p:cNvCxnSpPr>
                    <a:cxnSpLocks/>
                    <a:stCxn id="212" idx="6"/>
                  </p:cNvCxnSpPr>
                  <p:nvPr/>
                </p:nvCxnSpPr>
                <p:spPr>
                  <a:xfrm>
                    <a:off x="4503713" y="5487512"/>
                    <a:ext cx="112039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D26CB2C5-21E9-8188-112B-850A0EE92F1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607743" y="4363743"/>
                    <a:ext cx="8009" cy="112376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Arrow Connector 237">
                    <a:extLst>
                      <a:ext uri="{FF2B5EF4-FFF2-40B4-BE49-F238E27FC236}">
                        <a16:creationId xmlns:a16="http://schemas.microsoft.com/office/drawing/2014/main" id="{231C4B76-BAC9-2F89-498A-9E934D2B6A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15752" y="4363743"/>
                    <a:ext cx="165277" cy="124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2" name="TextBox 241">
                    <a:extLst>
                      <a:ext uri="{FF2B5EF4-FFF2-40B4-BE49-F238E27FC236}">
                        <a16:creationId xmlns:a16="http://schemas.microsoft.com/office/drawing/2014/main" id="{ECDE8D22-B7FC-718E-79AA-067CDDDF6041}"/>
                      </a:ext>
                    </a:extLst>
                  </p:cNvPr>
                  <p:cNvSpPr txBox="1"/>
                  <p:nvPr/>
                </p:nvSpPr>
                <p:spPr>
                  <a:xfrm>
                    <a:off x="4768747" y="4002353"/>
                    <a:ext cx="1541731" cy="2382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/>
                      <a:t>Weighted combination</a:t>
                    </a:r>
                  </a:p>
                </p:txBody>
              </p:sp>
              <p:sp>
                <p:nvSpPr>
                  <p:cNvPr id="252" name="Rectangle: Rounded Corners 251">
                    <a:extLst>
                      <a:ext uri="{FF2B5EF4-FFF2-40B4-BE49-F238E27FC236}">
                        <a16:creationId xmlns:a16="http://schemas.microsoft.com/office/drawing/2014/main" id="{9E6B765E-A851-8A50-53C4-9F4CF12EF94C}"/>
                      </a:ext>
                    </a:extLst>
                  </p:cNvPr>
                  <p:cNvSpPr/>
                  <p:nvPr/>
                </p:nvSpPr>
                <p:spPr>
                  <a:xfrm>
                    <a:off x="4891443" y="4656984"/>
                    <a:ext cx="1010802" cy="224959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088910E0-B84C-0D48-EF24-E06FAB834485}"/>
                      </a:ext>
                    </a:extLst>
                  </p:cNvPr>
                  <p:cNvSpPr txBox="1"/>
                  <p:nvPr/>
                </p:nvSpPr>
                <p:spPr>
                  <a:xfrm>
                    <a:off x="3899509" y="3474647"/>
                    <a:ext cx="588026" cy="41691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i="1" dirty="0"/>
                      <a:t>Softmax</a:t>
                    </a:r>
                  </a:p>
                  <a:p>
                    <a:pPr algn="ctr"/>
                    <a:endParaRPr lang="en-US" sz="1200" i="1" dirty="0"/>
                  </a:p>
                </p:txBody>
              </p:sp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344F880B-F3C2-82EE-4705-751A603C7F67}"/>
                      </a:ext>
                    </a:extLst>
                  </p:cNvPr>
                  <p:cNvSpPr txBox="1"/>
                  <p:nvPr/>
                </p:nvSpPr>
                <p:spPr>
                  <a:xfrm>
                    <a:off x="5029862" y="4656549"/>
                    <a:ext cx="588026" cy="41691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i="1" dirty="0"/>
                      <a:t>Softmax</a:t>
                    </a:r>
                  </a:p>
                  <a:p>
                    <a:pPr algn="ctr"/>
                    <a:endParaRPr lang="en-US" sz="1200" i="1" dirty="0"/>
                  </a:p>
                </p:txBody>
              </p:sp>
              <p:grpSp>
                <p:nvGrpSpPr>
                  <p:cNvPr id="255" name="Group 254">
                    <a:extLst>
                      <a:ext uri="{FF2B5EF4-FFF2-40B4-BE49-F238E27FC236}">
                        <a16:creationId xmlns:a16="http://schemas.microsoft.com/office/drawing/2014/main" id="{A13FA4D1-5C3C-F248-1721-554BB85CB944}"/>
                      </a:ext>
                    </a:extLst>
                  </p:cNvPr>
                  <p:cNvGrpSpPr/>
                  <p:nvPr/>
                </p:nvGrpSpPr>
                <p:grpSpPr>
                  <a:xfrm>
                    <a:off x="5059687" y="5085786"/>
                    <a:ext cx="622815" cy="846283"/>
                    <a:chOff x="3978212" y="3888430"/>
                    <a:chExt cx="648914" cy="550059"/>
                  </a:xfrm>
                  <a:gradFill>
                    <a:gsLst>
                      <a:gs pos="22000">
                        <a:srgbClr val="FF0000"/>
                      </a:gs>
                      <a:gs pos="55000">
                        <a:srgbClr val="FF7C80"/>
                      </a:gs>
                      <a:gs pos="100000">
                        <a:srgbClr val="F2EBE6"/>
                      </a:gs>
                      <a:gs pos="67000">
                        <a:srgbClr val="FF0000"/>
                      </a:gs>
                    </a:gsLst>
                    <a:path path="rect">
                      <a:fillToRect l="100000" t="100000"/>
                    </a:path>
                  </a:gradFill>
                </p:grpSpPr>
                <p:sp>
                  <p:nvSpPr>
                    <p:cNvPr id="256" name="Rectangle 255">
                      <a:extLst>
                        <a:ext uri="{FF2B5EF4-FFF2-40B4-BE49-F238E27FC236}">
                          <a16:creationId xmlns:a16="http://schemas.microsoft.com/office/drawing/2014/main" id="{E65D0120-D764-1E29-DD49-C737DEF5D8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8212" y="3893034"/>
                      <a:ext cx="648914" cy="54416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257" name="Straight Connector 256">
                      <a:extLst>
                        <a:ext uri="{FF2B5EF4-FFF2-40B4-BE49-F238E27FC236}">
                          <a16:creationId xmlns:a16="http://schemas.microsoft.com/office/drawing/2014/main" id="{20D67834-F7C1-6479-7D19-E4AA659B96F2}"/>
                        </a:ext>
                      </a:extLst>
                    </p:cNvPr>
                    <p:cNvCxnSpPr>
                      <a:stCxn id="256" idx="0"/>
                      <a:endCxn id="256" idx="2"/>
                    </p:cNvCxnSpPr>
                    <p:nvPr/>
                  </p:nvCxnSpPr>
                  <p:spPr>
                    <a:xfrm>
                      <a:off x="4302669" y="3893034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8" name="Straight Connector 257">
                      <a:extLst>
                        <a:ext uri="{FF2B5EF4-FFF2-40B4-BE49-F238E27FC236}">
                          <a16:creationId xmlns:a16="http://schemas.microsoft.com/office/drawing/2014/main" id="{D5135991-A9EE-40D7-D501-938F818523C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407444" y="3893034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9" name="Straight Connector 258">
                      <a:extLst>
                        <a:ext uri="{FF2B5EF4-FFF2-40B4-BE49-F238E27FC236}">
                          <a16:creationId xmlns:a16="http://schemas.microsoft.com/office/drawing/2014/main" id="{53DEE602-893F-89A6-82A2-5A51D839EBD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510897" y="3888924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0" name="Straight Connector 259">
                      <a:extLst>
                        <a:ext uri="{FF2B5EF4-FFF2-40B4-BE49-F238E27FC236}">
                          <a16:creationId xmlns:a16="http://schemas.microsoft.com/office/drawing/2014/main" id="{3CABADDB-68D6-6B9D-6A9F-3CBDD4E2129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04536" y="3888430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1" name="Straight Connector 260">
                      <a:extLst>
                        <a:ext uri="{FF2B5EF4-FFF2-40B4-BE49-F238E27FC236}">
                          <a16:creationId xmlns:a16="http://schemas.microsoft.com/office/drawing/2014/main" id="{0153DAEF-13E7-8F5F-92DB-DBAFAD5D49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16558" y="3894329"/>
                      <a:ext cx="0" cy="54416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2" name="Straight Connector 261">
                      <a:extLst>
                        <a:ext uri="{FF2B5EF4-FFF2-40B4-BE49-F238E27FC236}">
                          <a16:creationId xmlns:a16="http://schemas.microsoft.com/office/drawing/2014/main" id="{5503C50D-2190-062F-FD04-82F69538660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025695"/>
                      <a:ext cx="648914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3" name="Straight Connector 262">
                      <a:extLst>
                        <a:ext uri="{FF2B5EF4-FFF2-40B4-BE49-F238E27FC236}">
                          <a16:creationId xmlns:a16="http://schemas.microsoft.com/office/drawing/2014/main" id="{A98866BB-A493-AEA0-238E-D0DFB61BD5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132708"/>
                      <a:ext cx="648914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4" name="Straight Connector 263">
                      <a:extLst>
                        <a:ext uri="{FF2B5EF4-FFF2-40B4-BE49-F238E27FC236}">
                          <a16:creationId xmlns:a16="http://schemas.microsoft.com/office/drawing/2014/main" id="{97CBA03F-7966-356C-9FC4-553B907303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227017"/>
                      <a:ext cx="648914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5" name="Straight Connector 264">
                      <a:extLst>
                        <a:ext uri="{FF2B5EF4-FFF2-40B4-BE49-F238E27FC236}">
                          <a16:creationId xmlns:a16="http://schemas.microsoft.com/office/drawing/2014/main" id="{558F9F0E-A45E-606F-7D2F-0A3BE25CBF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8212" y="4337379"/>
                      <a:ext cx="648914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D176EADD-DE12-0AD7-EE66-F55C9B8F1ACF}"/>
                      </a:ext>
                    </a:extLst>
                  </p:cNvPr>
                  <p:cNvSpPr txBox="1"/>
                  <p:nvPr/>
                </p:nvSpPr>
                <p:spPr>
                  <a:xfrm>
                    <a:off x="5599086" y="5044440"/>
                    <a:ext cx="515716" cy="44669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i="1" dirty="0"/>
                      <a:t>H</a:t>
                    </a:r>
                  </a:p>
                  <a:p>
                    <a:pPr algn="ctr"/>
                    <a:r>
                      <a:rPr lang="en-US" sz="1200" i="1" dirty="0"/>
                      <a:t>(NXK)</a:t>
                    </a:r>
                  </a:p>
                </p:txBody>
              </p:sp>
              <p:cxnSp>
                <p:nvCxnSpPr>
                  <p:cNvPr id="268" name="Straight Arrow Connector 267">
                    <a:extLst>
                      <a:ext uri="{FF2B5EF4-FFF2-40B4-BE49-F238E27FC236}">
                        <a16:creationId xmlns:a16="http://schemas.microsoft.com/office/drawing/2014/main" id="{C97C42D1-55EB-A861-EDA1-757C3F04A600}"/>
                      </a:ext>
                    </a:extLst>
                  </p:cNvPr>
                  <p:cNvCxnSpPr>
                    <a:stCxn id="225" idx="2"/>
                  </p:cNvCxnSpPr>
                  <p:nvPr/>
                </p:nvCxnSpPr>
                <p:spPr>
                  <a:xfrm>
                    <a:off x="5418035" y="4418154"/>
                    <a:ext cx="0" cy="22007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Arrow Connector 268">
                    <a:extLst>
                      <a:ext uri="{FF2B5EF4-FFF2-40B4-BE49-F238E27FC236}">
                        <a16:creationId xmlns:a16="http://schemas.microsoft.com/office/drawing/2014/main" id="{C96A4995-64AB-32D7-FF72-54FD51C19D96}"/>
                      </a:ext>
                    </a:extLst>
                  </p:cNvPr>
                  <p:cNvCxnSpPr/>
                  <p:nvPr/>
                </p:nvCxnSpPr>
                <p:spPr>
                  <a:xfrm>
                    <a:off x="5418035" y="4881943"/>
                    <a:ext cx="0" cy="22007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E9B1BE5C-4691-E5C1-D547-071D64FCE260}"/>
                      </a:ext>
                    </a:extLst>
                  </p:cNvPr>
                  <p:cNvSpPr txBox="1"/>
                  <p:nvPr/>
                </p:nvSpPr>
                <p:spPr>
                  <a:xfrm>
                    <a:off x="2272177" y="2875267"/>
                    <a:ext cx="3468710" cy="35735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/>
                      <a:t>Two-Criteria Hyperedge Assignment</a:t>
                    </a:r>
                  </a:p>
                </p:txBody>
              </p:sp>
              <p:cxnSp>
                <p:nvCxnSpPr>
                  <p:cNvPr id="357" name="Straight Arrow Connector 356">
                    <a:extLst>
                      <a:ext uri="{FF2B5EF4-FFF2-40B4-BE49-F238E27FC236}">
                        <a16:creationId xmlns:a16="http://schemas.microsoft.com/office/drawing/2014/main" id="{266C13D6-AC28-CDF8-17F5-AAF6A29806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81355" y="3977153"/>
                    <a:ext cx="18703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Straight Arrow Connector 357">
                    <a:extLst>
                      <a:ext uri="{FF2B5EF4-FFF2-40B4-BE49-F238E27FC236}">
                        <a16:creationId xmlns:a16="http://schemas.microsoft.com/office/drawing/2014/main" id="{5663908B-A630-D260-4DE7-2CC470FB6F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81355" y="5505858"/>
                    <a:ext cx="18703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9" name="Straight Arrow Connector 358">
                    <a:extLst>
                      <a:ext uri="{FF2B5EF4-FFF2-40B4-BE49-F238E27FC236}">
                        <a16:creationId xmlns:a16="http://schemas.microsoft.com/office/drawing/2014/main" id="{A1184A34-EE00-4A3B-FA02-3FC1406686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82599" y="3949291"/>
                    <a:ext cx="18703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0" name="Straight Arrow Connector 359">
                    <a:extLst>
                      <a:ext uri="{FF2B5EF4-FFF2-40B4-BE49-F238E27FC236}">
                        <a16:creationId xmlns:a16="http://schemas.microsoft.com/office/drawing/2014/main" id="{C4EAE468-A746-D3BA-FA76-1830379F37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1302" y="5505858"/>
                    <a:ext cx="18703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Straight Arrow Connector 361">
                    <a:extLst>
                      <a:ext uri="{FF2B5EF4-FFF2-40B4-BE49-F238E27FC236}">
                        <a16:creationId xmlns:a16="http://schemas.microsoft.com/office/drawing/2014/main" id="{7072447C-DE02-5CC1-63E6-9095179ACC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5034" y="3343402"/>
                    <a:ext cx="0" cy="18531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Straight Arrow Connector 364">
                    <a:extLst>
                      <a:ext uri="{FF2B5EF4-FFF2-40B4-BE49-F238E27FC236}">
                        <a16:creationId xmlns:a16="http://schemas.microsoft.com/office/drawing/2014/main" id="{8C768B30-A100-EC5A-82A9-5B6E8E1FF5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94132" y="3646257"/>
                    <a:ext cx="0" cy="18531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6" name="Straight Arrow Connector 365">
                    <a:extLst>
                      <a:ext uri="{FF2B5EF4-FFF2-40B4-BE49-F238E27FC236}">
                        <a16:creationId xmlns:a16="http://schemas.microsoft.com/office/drawing/2014/main" id="{4FB6CB45-18DB-E120-19FC-0054FE9A3F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631" y="3646257"/>
                    <a:ext cx="0" cy="18531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C5239B4-FAC7-458B-24CD-D1B612093761}"/>
                    </a:ext>
                  </a:extLst>
                </p:cNvPr>
                <p:cNvSpPr/>
                <p:nvPr/>
              </p:nvSpPr>
              <p:spPr>
                <a:xfrm>
                  <a:off x="1540122" y="1074470"/>
                  <a:ext cx="4720631" cy="578353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cxnSp>
          <p:nvCxnSpPr>
            <p:cNvPr id="474" name="Straight Arrow Connector 473">
              <a:extLst>
                <a:ext uri="{FF2B5EF4-FFF2-40B4-BE49-F238E27FC236}">
                  <a16:creationId xmlns:a16="http://schemas.microsoft.com/office/drawing/2014/main" id="{9B0DB3A7-F7ED-62D7-1693-1948B6C969BF}"/>
                </a:ext>
              </a:extLst>
            </p:cNvPr>
            <p:cNvCxnSpPr>
              <a:cxnSpLocks/>
            </p:cNvCxnSpPr>
            <p:nvPr/>
          </p:nvCxnSpPr>
          <p:spPr>
            <a:xfrm>
              <a:off x="1235428" y="5061810"/>
              <a:ext cx="4352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AE5632BE-0372-5B8C-6795-534F797DB000}"/>
                </a:ext>
              </a:extLst>
            </p:cNvPr>
            <p:cNvCxnSpPr/>
            <p:nvPr/>
          </p:nvCxnSpPr>
          <p:spPr>
            <a:xfrm>
              <a:off x="816172" y="2720252"/>
              <a:ext cx="0" cy="11032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Arrow Connector 478">
              <a:extLst>
                <a:ext uri="{FF2B5EF4-FFF2-40B4-BE49-F238E27FC236}">
                  <a16:creationId xmlns:a16="http://schemas.microsoft.com/office/drawing/2014/main" id="{C1ED96D9-9D3B-891F-5E5A-B6AE955ABB70}"/>
                </a:ext>
              </a:extLst>
            </p:cNvPr>
            <p:cNvCxnSpPr>
              <a:endCxn id="59" idx="1"/>
            </p:cNvCxnSpPr>
            <p:nvPr/>
          </p:nvCxnSpPr>
          <p:spPr>
            <a:xfrm>
              <a:off x="816172" y="3848100"/>
              <a:ext cx="7214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7E7694D0-498C-0D89-7273-915FEFFCF046}"/>
                </a:ext>
              </a:extLst>
            </p:cNvPr>
            <p:cNvGrpSpPr/>
            <p:nvPr/>
          </p:nvGrpSpPr>
          <p:grpSpPr>
            <a:xfrm>
              <a:off x="6566341" y="1069344"/>
              <a:ext cx="5463295" cy="5557511"/>
              <a:chOff x="6347705" y="1064533"/>
              <a:chExt cx="5463295" cy="5557511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62B94B5A-0508-BA5E-19DC-B6042B128D78}"/>
                  </a:ext>
                </a:extLst>
              </p:cNvPr>
              <p:cNvSpPr/>
              <p:nvPr/>
            </p:nvSpPr>
            <p:spPr>
              <a:xfrm>
                <a:off x="6347705" y="3943232"/>
                <a:ext cx="5451874" cy="267881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9FCFA292-1436-1673-F729-93573B7D5F0D}"/>
                  </a:ext>
                </a:extLst>
              </p:cNvPr>
              <p:cNvSpPr/>
              <p:nvPr/>
            </p:nvSpPr>
            <p:spPr>
              <a:xfrm>
                <a:off x="6359126" y="1074470"/>
                <a:ext cx="5451874" cy="270851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67CE2A36-4A99-9390-DC61-BC69715C61CB}"/>
                  </a:ext>
                </a:extLst>
              </p:cNvPr>
              <p:cNvSpPr txBox="1"/>
              <p:nvPr/>
            </p:nvSpPr>
            <p:spPr>
              <a:xfrm>
                <a:off x="6410121" y="2577735"/>
                <a:ext cx="831123" cy="360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/>
                  <a:t>(NX1)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C940B94E-59E6-3985-EC7F-B9CF57C5EB03}"/>
                  </a:ext>
                </a:extLst>
              </p:cNvPr>
              <p:cNvGrpSpPr/>
              <p:nvPr/>
            </p:nvGrpSpPr>
            <p:grpSpPr>
              <a:xfrm>
                <a:off x="6503509" y="1064533"/>
                <a:ext cx="5238267" cy="2594455"/>
                <a:chOff x="6520586" y="882235"/>
                <a:chExt cx="5457776" cy="2681400"/>
              </a:xfrm>
            </p:grpSpPr>
            <p:grpSp>
              <p:nvGrpSpPr>
                <p:cNvPr id="281" name="Group 280">
                  <a:extLst>
                    <a:ext uri="{FF2B5EF4-FFF2-40B4-BE49-F238E27FC236}">
                      <a16:creationId xmlns:a16="http://schemas.microsoft.com/office/drawing/2014/main" id="{CA70055D-A455-3EB2-A99D-EFACEF62C9A2}"/>
                    </a:ext>
                  </a:extLst>
                </p:cNvPr>
                <p:cNvGrpSpPr/>
                <p:nvPr/>
              </p:nvGrpSpPr>
              <p:grpSpPr>
                <a:xfrm>
                  <a:off x="6554259" y="1536239"/>
                  <a:ext cx="171242" cy="837671"/>
                  <a:chOff x="11805009" y="5295239"/>
                  <a:chExt cx="246322" cy="1313548"/>
                </a:xfrm>
              </p:grpSpPr>
              <p:sp>
                <p:nvSpPr>
                  <p:cNvPr id="282" name="Rectangle: Rounded Corners 281">
                    <a:extLst>
                      <a:ext uri="{FF2B5EF4-FFF2-40B4-BE49-F238E27FC236}">
                        <a16:creationId xmlns:a16="http://schemas.microsoft.com/office/drawing/2014/main" id="{1D23DAFC-4E20-0E62-E9C5-4D6AF199D023}"/>
                      </a:ext>
                    </a:extLst>
                  </p:cNvPr>
                  <p:cNvSpPr/>
                  <p:nvPr/>
                </p:nvSpPr>
                <p:spPr>
                  <a:xfrm>
                    <a:off x="11805009" y="5295239"/>
                    <a:ext cx="246322" cy="1313548"/>
                  </a:xfrm>
                  <a:prstGeom prst="roundRect">
                    <a:avLst/>
                  </a:prstGeom>
                  <a:noFill/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3" name="Oval 282">
                    <a:extLst>
                      <a:ext uri="{FF2B5EF4-FFF2-40B4-BE49-F238E27FC236}">
                        <a16:creationId xmlns:a16="http://schemas.microsoft.com/office/drawing/2014/main" id="{3AF6C690-669D-B12A-4ADA-70DE954E4204}"/>
                      </a:ext>
                    </a:extLst>
                  </p:cNvPr>
                  <p:cNvSpPr/>
                  <p:nvPr/>
                </p:nvSpPr>
                <p:spPr>
                  <a:xfrm>
                    <a:off x="11859845" y="5433489"/>
                    <a:ext cx="136649" cy="152749"/>
                  </a:xfrm>
                  <a:prstGeom prst="ellipse">
                    <a:avLst/>
                  </a:prstGeom>
                  <a:solidFill>
                    <a:srgbClr val="F2EBE6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4" name="Oval 283">
                    <a:extLst>
                      <a:ext uri="{FF2B5EF4-FFF2-40B4-BE49-F238E27FC236}">
                        <a16:creationId xmlns:a16="http://schemas.microsoft.com/office/drawing/2014/main" id="{B7832890-2081-BD2B-A41C-36F81F57F32A}"/>
                      </a:ext>
                    </a:extLst>
                  </p:cNvPr>
                  <p:cNvSpPr/>
                  <p:nvPr/>
                </p:nvSpPr>
                <p:spPr>
                  <a:xfrm>
                    <a:off x="11861099" y="5730836"/>
                    <a:ext cx="136649" cy="152749"/>
                  </a:xfrm>
                  <a:prstGeom prst="ellipse">
                    <a:avLst/>
                  </a:prstGeom>
                  <a:solidFill>
                    <a:srgbClr val="F2EBE6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5" name="Oval 284">
                    <a:extLst>
                      <a:ext uri="{FF2B5EF4-FFF2-40B4-BE49-F238E27FC236}">
                        <a16:creationId xmlns:a16="http://schemas.microsoft.com/office/drawing/2014/main" id="{9B31BF07-8D7A-B4EF-BB0B-E6FE4DB0C227}"/>
                      </a:ext>
                    </a:extLst>
                  </p:cNvPr>
                  <p:cNvSpPr/>
                  <p:nvPr/>
                </p:nvSpPr>
                <p:spPr>
                  <a:xfrm>
                    <a:off x="11859845" y="6034065"/>
                    <a:ext cx="136649" cy="152749"/>
                  </a:xfrm>
                  <a:prstGeom prst="ellipse">
                    <a:avLst/>
                  </a:prstGeom>
                  <a:solidFill>
                    <a:srgbClr val="F2EBE6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6" name="Oval 285">
                    <a:extLst>
                      <a:ext uri="{FF2B5EF4-FFF2-40B4-BE49-F238E27FC236}">
                        <a16:creationId xmlns:a16="http://schemas.microsoft.com/office/drawing/2014/main" id="{0ED0C2B2-BC3C-A5E0-2FF8-D8660F22D6A6}"/>
                      </a:ext>
                    </a:extLst>
                  </p:cNvPr>
                  <p:cNvSpPr/>
                  <p:nvPr/>
                </p:nvSpPr>
                <p:spPr>
                  <a:xfrm>
                    <a:off x="11859845" y="6322515"/>
                    <a:ext cx="136649" cy="152749"/>
                  </a:xfrm>
                  <a:prstGeom prst="ellipse">
                    <a:avLst/>
                  </a:prstGeom>
                  <a:solidFill>
                    <a:srgbClr val="F2EBE6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718F1656-572F-3806-B56B-58477C119570}"/>
                    </a:ext>
                  </a:extLst>
                </p:cNvPr>
                <p:cNvSpPr txBox="1"/>
                <p:nvPr/>
              </p:nvSpPr>
              <p:spPr>
                <a:xfrm>
                  <a:off x="6520586" y="2289029"/>
                  <a:ext cx="438417" cy="3722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sz="1200" dirty="0"/>
                    <a:t>α</a:t>
                  </a:r>
                  <a:endParaRPr lang="en-US" dirty="0"/>
                </a:p>
              </p:txBody>
            </p:sp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ADD66059-D656-70C9-4CC7-84BF1502C1C4}"/>
                    </a:ext>
                  </a:extLst>
                </p:cNvPr>
                <p:cNvGrpSpPr/>
                <p:nvPr/>
              </p:nvGrpSpPr>
              <p:grpSpPr>
                <a:xfrm>
                  <a:off x="7025896" y="956358"/>
                  <a:ext cx="172791" cy="982948"/>
                  <a:chOff x="11805009" y="5295239"/>
                  <a:chExt cx="246322" cy="1313548"/>
                </a:xfrm>
              </p:grpSpPr>
              <p:sp>
                <p:nvSpPr>
                  <p:cNvPr id="288" name="Rectangle: Rounded Corners 287">
                    <a:extLst>
                      <a:ext uri="{FF2B5EF4-FFF2-40B4-BE49-F238E27FC236}">
                        <a16:creationId xmlns:a16="http://schemas.microsoft.com/office/drawing/2014/main" id="{6345458E-7E52-A330-B3F5-4BF366CE8B0D}"/>
                      </a:ext>
                    </a:extLst>
                  </p:cNvPr>
                  <p:cNvSpPr/>
                  <p:nvPr/>
                </p:nvSpPr>
                <p:spPr>
                  <a:xfrm>
                    <a:off x="11805009" y="5295239"/>
                    <a:ext cx="246322" cy="1313548"/>
                  </a:xfrm>
                  <a:prstGeom prst="roundRect">
                    <a:avLst/>
                  </a:prstGeom>
                  <a:noFill/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9" name="Oval 288">
                    <a:extLst>
                      <a:ext uri="{FF2B5EF4-FFF2-40B4-BE49-F238E27FC236}">
                        <a16:creationId xmlns:a16="http://schemas.microsoft.com/office/drawing/2014/main" id="{FB4BE96B-2468-008E-0BD6-D106BF078718}"/>
                      </a:ext>
                    </a:extLst>
                  </p:cNvPr>
                  <p:cNvSpPr/>
                  <p:nvPr/>
                </p:nvSpPr>
                <p:spPr>
                  <a:xfrm>
                    <a:off x="11859845" y="5433489"/>
                    <a:ext cx="136649" cy="152749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0" name="Oval 289">
                    <a:extLst>
                      <a:ext uri="{FF2B5EF4-FFF2-40B4-BE49-F238E27FC236}">
                        <a16:creationId xmlns:a16="http://schemas.microsoft.com/office/drawing/2014/main" id="{2BA5B5C5-772C-03DC-B98D-A7E54CD425B0}"/>
                      </a:ext>
                    </a:extLst>
                  </p:cNvPr>
                  <p:cNvSpPr/>
                  <p:nvPr/>
                </p:nvSpPr>
                <p:spPr>
                  <a:xfrm>
                    <a:off x="11861099" y="5730836"/>
                    <a:ext cx="136649" cy="152749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1" name="Oval 290">
                    <a:extLst>
                      <a:ext uri="{FF2B5EF4-FFF2-40B4-BE49-F238E27FC236}">
                        <a16:creationId xmlns:a16="http://schemas.microsoft.com/office/drawing/2014/main" id="{04CE6CDF-4165-9EC3-15C8-DC6F5ABC691F}"/>
                      </a:ext>
                    </a:extLst>
                  </p:cNvPr>
                  <p:cNvSpPr/>
                  <p:nvPr/>
                </p:nvSpPr>
                <p:spPr>
                  <a:xfrm>
                    <a:off x="11859845" y="6034065"/>
                    <a:ext cx="136649" cy="152749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2" name="Oval 291">
                    <a:extLst>
                      <a:ext uri="{FF2B5EF4-FFF2-40B4-BE49-F238E27FC236}">
                        <a16:creationId xmlns:a16="http://schemas.microsoft.com/office/drawing/2014/main" id="{8C190BB7-B8F2-10E6-9A7D-00E5282EDF70}"/>
                      </a:ext>
                    </a:extLst>
                  </p:cNvPr>
                  <p:cNvSpPr/>
                  <p:nvPr/>
                </p:nvSpPr>
                <p:spPr>
                  <a:xfrm>
                    <a:off x="11859845" y="6322515"/>
                    <a:ext cx="136649" cy="152749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4" name="TextBox 293">
                      <a:extLst>
                        <a:ext uri="{FF2B5EF4-FFF2-40B4-BE49-F238E27FC236}">
                          <a16:creationId xmlns:a16="http://schemas.microsoft.com/office/drawing/2014/main" id="{4785989A-F625-DEE4-664D-72F5526470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97193" y="882235"/>
                      <a:ext cx="839211" cy="3308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000" dirty="0">
                                    <a:latin typeface="Cambria Math" panose="02040503050406030204" pitchFamily="18" charset="0"/>
                                  </a:rPr>
                                  <m:t>norm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000" dirty="0"/>
                    </a:p>
                  </p:txBody>
                </p:sp>
              </mc:Choice>
              <mc:Fallback xmlns="">
                <p:sp>
                  <p:nvSpPr>
                    <p:cNvPr id="294" name="TextBox 293">
                      <a:extLst>
                        <a:ext uri="{FF2B5EF4-FFF2-40B4-BE49-F238E27FC236}">
                          <a16:creationId xmlns:a16="http://schemas.microsoft.com/office/drawing/2014/main" id="{4785989A-F625-DEE4-664D-72F5526470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97193" y="882235"/>
                      <a:ext cx="839211" cy="33088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95" name="Group 294">
                  <a:extLst>
                    <a:ext uri="{FF2B5EF4-FFF2-40B4-BE49-F238E27FC236}">
                      <a16:creationId xmlns:a16="http://schemas.microsoft.com/office/drawing/2014/main" id="{7C261FB6-FC0F-9EF4-6CE3-128E6981A83F}"/>
                    </a:ext>
                  </a:extLst>
                </p:cNvPr>
                <p:cNvGrpSpPr/>
                <p:nvPr/>
              </p:nvGrpSpPr>
              <p:grpSpPr>
                <a:xfrm>
                  <a:off x="6974001" y="2123600"/>
                  <a:ext cx="290075" cy="262495"/>
                  <a:chOff x="8180098" y="5433462"/>
                  <a:chExt cx="294331" cy="296333"/>
                </a:xfrm>
              </p:grpSpPr>
              <p:sp>
                <p:nvSpPr>
                  <p:cNvPr id="296" name="Oval 295">
                    <a:extLst>
                      <a:ext uri="{FF2B5EF4-FFF2-40B4-BE49-F238E27FC236}">
                        <a16:creationId xmlns:a16="http://schemas.microsoft.com/office/drawing/2014/main" id="{38A43FA0-1DCD-E1E1-5321-10E86E4272D9}"/>
                      </a:ext>
                    </a:extLst>
                  </p:cNvPr>
                  <p:cNvSpPr/>
                  <p:nvPr/>
                </p:nvSpPr>
                <p:spPr>
                  <a:xfrm>
                    <a:off x="8180098" y="5433462"/>
                    <a:ext cx="294331" cy="29633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7" name="Multiplication Sign 296">
                    <a:extLst>
                      <a:ext uri="{FF2B5EF4-FFF2-40B4-BE49-F238E27FC236}">
                        <a16:creationId xmlns:a16="http://schemas.microsoft.com/office/drawing/2014/main" id="{79546116-A063-0F5B-5E71-22A90BAAF352}"/>
                      </a:ext>
                    </a:extLst>
                  </p:cNvPr>
                  <p:cNvSpPr/>
                  <p:nvPr/>
                </p:nvSpPr>
                <p:spPr>
                  <a:xfrm>
                    <a:off x="8213106" y="5433752"/>
                    <a:ext cx="246322" cy="295751"/>
                  </a:xfrm>
                  <a:prstGeom prst="mathMultiply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299" name="Straight Arrow Connector 298">
                  <a:extLst>
                    <a:ext uri="{FF2B5EF4-FFF2-40B4-BE49-F238E27FC236}">
                      <a16:creationId xmlns:a16="http://schemas.microsoft.com/office/drawing/2014/main" id="{C91149E0-55DF-7B9D-2D47-D162E7A80D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7646" y="1939307"/>
                  <a:ext cx="0" cy="19639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Arrow Connector 300">
                  <a:extLst>
                    <a:ext uri="{FF2B5EF4-FFF2-40B4-BE49-F238E27FC236}">
                      <a16:creationId xmlns:a16="http://schemas.microsoft.com/office/drawing/2014/main" id="{984EC35B-F892-598D-4560-31677617B5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45825" y="2252696"/>
                  <a:ext cx="26827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03" name="Group 302">
                  <a:extLst>
                    <a:ext uri="{FF2B5EF4-FFF2-40B4-BE49-F238E27FC236}">
                      <a16:creationId xmlns:a16="http://schemas.microsoft.com/office/drawing/2014/main" id="{B06CB7DF-1F73-60AD-434B-DD6B95E66A81}"/>
                    </a:ext>
                  </a:extLst>
                </p:cNvPr>
                <p:cNvGrpSpPr/>
                <p:nvPr/>
              </p:nvGrpSpPr>
              <p:grpSpPr>
                <a:xfrm>
                  <a:off x="7449239" y="2034185"/>
                  <a:ext cx="497013" cy="369196"/>
                  <a:chOff x="8799061" y="4921715"/>
                  <a:chExt cx="469257" cy="387660"/>
                </a:xfrm>
                <a:solidFill>
                  <a:schemeClr val="bg2">
                    <a:lumMod val="75000"/>
                  </a:schemeClr>
                </a:solidFill>
              </p:grpSpPr>
              <p:grpSp>
                <p:nvGrpSpPr>
                  <p:cNvPr id="304" name="Group 303">
                    <a:extLst>
                      <a:ext uri="{FF2B5EF4-FFF2-40B4-BE49-F238E27FC236}">
                        <a16:creationId xmlns:a16="http://schemas.microsoft.com/office/drawing/2014/main" id="{DF4CBD3A-B0F5-664B-6C78-CE3E53572BEB}"/>
                      </a:ext>
                    </a:extLst>
                  </p:cNvPr>
                  <p:cNvGrpSpPr/>
                  <p:nvPr/>
                </p:nvGrpSpPr>
                <p:grpSpPr>
                  <a:xfrm>
                    <a:off x="8799061" y="4921715"/>
                    <a:ext cx="469257" cy="387660"/>
                    <a:chOff x="8791024" y="4914826"/>
                    <a:chExt cx="469257" cy="387660"/>
                  </a:xfrm>
                  <a:grpFill/>
                </p:grpSpPr>
                <p:sp>
                  <p:nvSpPr>
                    <p:cNvPr id="308" name="Cube 307">
                      <a:extLst>
                        <a:ext uri="{FF2B5EF4-FFF2-40B4-BE49-F238E27FC236}">
                          <a16:creationId xmlns:a16="http://schemas.microsoft.com/office/drawing/2014/main" id="{B1F83C0C-0111-17DF-5E6F-D08EB48CCA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1024" y="4916978"/>
                      <a:ext cx="469257" cy="378158"/>
                    </a:xfrm>
                    <a:prstGeom prst="cub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cxnSp>
                  <p:nvCxnSpPr>
                    <p:cNvPr id="309" name="Straight Connector 308">
                      <a:extLst>
                        <a:ext uri="{FF2B5EF4-FFF2-40B4-BE49-F238E27FC236}">
                          <a16:creationId xmlns:a16="http://schemas.microsoft.com/office/drawing/2014/main" id="{2BE69D93-046A-D48D-437B-67C1CB548B74}"/>
                        </a:ext>
                      </a:extLst>
                    </p:cNvPr>
                    <p:cNvCxnSpPr>
                      <a:stCxn id="308" idx="2"/>
                      <a:endCxn id="308" idx="4"/>
                    </p:cNvCxnSpPr>
                    <p:nvPr/>
                  </p:nvCxnSpPr>
                  <p:spPr>
                    <a:xfrm>
                      <a:off x="8791024" y="5153327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0" name="Straight Connector 309">
                      <a:extLst>
                        <a:ext uri="{FF2B5EF4-FFF2-40B4-BE49-F238E27FC236}">
                          <a16:creationId xmlns:a16="http://schemas.microsoft.com/office/drawing/2014/main" id="{8DC87A23-F077-8287-CF0F-292F4A64816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1024" y="5215605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1" name="Straight Connector 310">
                      <a:extLst>
                        <a:ext uri="{FF2B5EF4-FFF2-40B4-BE49-F238E27FC236}">
                          <a16:creationId xmlns:a16="http://schemas.microsoft.com/office/drawing/2014/main" id="{1CA66AA2-3F48-E35F-95A7-236BCF7AE0C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094" y="5083946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2" name="Straight Connector 311">
                      <a:extLst>
                        <a:ext uri="{FF2B5EF4-FFF2-40B4-BE49-F238E27FC236}">
                          <a16:creationId xmlns:a16="http://schemas.microsoft.com/office/drawing/2014/main" id="{B89E1E45-BD35-AEC8-E079-07FFDB2D5A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6039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3" name="Straight Connector 312">
                      <a:extLst>
                        <a:ext uri="{FF2B5EF4-FFF2-40B4-BE49-F238E27FC236}">
                          <a16:creationId xmlns:a16="http://schemas.microsoft.com/office/drawing/2014/main" id="{1C9401F7-85F0-1531-C908-F32F975BEA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9318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4" name="Straight Connector 313">
                      <a:extLst>
                        <a:ext uri="{FF2B5EF4-FFF2-40B4-BE49-F238E27FC236}">
                          <a16:creationId xmlns:a16="http://schemas.microsoft.com/office/drawing/2014/main" id="{41CF8AC3-E4F6-6556-73D3-B7E4A16550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1684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5" name="Straight Connector 314">
                      <a:extLst>
                        <a:ext uri="{FF2B5EF4-FFF2-40B4-BE49-F238E27FC236}">
                          <a16:creationId xmlns:a16="http://schemas.microsoft.com/office/drawing/2014/main" id="{6CEBADB6-2CAD-750E-FD10-4519D72CBF1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842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6" name="Straight Connector 315">
                      <a:extLst>
                        <a:ext uri="{FF2B5EF4-FFF2-40B4-BE49-F238E27FC236}">
                          <a16:creationId xmlns:a16="http://schemas.microsoft.com/office/drawing/2014/main" id="{4F18F093-1FC3-FCB8-BFFA-217608E281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54915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7" name="Straight Connector 316">
                      <a:extLst>
                        <a:ext uri="{FF2B5EF4-FFF2-40B4-BE49-F238E27FC236}">
                          <a16:creationId xmlns:a16="http://schemas.microsoft.com/office/drawing/2014/main" id="{B2C101C2-E514-CA39-482F-70B321CED1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929103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" name="Straight Connector 317">
                      <a:extLst>
                        <a:ext uri="{FF2B5EF4-FFF2-40B4-BE49-F238E27FC236}">
                          <a16:creationId xmlns:a16="http://schemas.microsoft.com/office/drawing/2014/main" id="{94576F6D-6DDD-7CDC-7323-CF487716F47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13206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9" name="Straight Connector 318">
                      <a:extLst>
                        <a:ext uri="{FF2B5EF4-FFF2-40B4-BE49-F238E27FC236}">
                          <a16:creationId xmlns:a16="http://schemas.microsoft.com/office/drawing/2014/main" id="{315F0A08-A5CC-300E-B6AA-06F042EF3D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80593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0" name="Straight Connector 319">
                      <a:extLst>
                        <a:ext uri="{FF2B5EF4-FFF2-40B4-BE49-F238E27FC236}">
                          <a16:creationId xmlns:a16="http://schemas.microsoft.com/office/drawing/2014/main" id="{5C31C555-9784-F6F6-D513-28972840D6F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25847" y="4986314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1" name="Straight Connector 320">
                      <a:extLst>
                        <a:ext uri="{FF2B5EF4-FFF2-40B4-BE49-F238E27FC236}">
                          <a16:creationId xmlns:a16="http://schemas.microsoft.com/office/drawing/2014/main" id="{45302E30-3C56-FBA3-83A4-597A9F0969B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54915" y="4954700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2" name="Straight Connector 321">
                      <a:extLst>
                        <a:ext uri="{FF2B5EF4-FFF2-40B4-BE49-F238E27FC236}">
                          <a16:creationId xmlns:a16="http://schemas.microsoft.com/office/drawing/2014/main" id="{064523EB-C873-2028-05E2-8DB3DDD6156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197201" y="4986224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3" name="Straight Connector 322">
                      <a:extLst>
                        <a:ext uri="{FF2B5EF4-FFF2-40B4-BE49-F238E27FC236}">
                          <a16:creationId xmlns:a16="http://schemas.microsoft.com/office/drawing/2014/main" id="{AEABB1DD-D192-6A55-D0B1-1316DE9DB07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29633" y="4954700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05" name="Straight Connector 304">
                    <a:extLst>
                      <a:ext uri="{FF2B5EF4-FFF2-40B4-BE49-F238E27FC236}">
                        <a16:creationId xmlns:a16="http://schemas.microsoft.com/office/drawing/2014/main" id="{9D2B1EC7-95F1-79A6-F63C-49FBE44DC9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06023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Straight Connector 305">
                    <a:extLst>
                      <a:ext uri="{FF2B5EF4-FFF2-40B4-BE49-F238E27FC236}">
                        <a16:creationId xmlns:a16="http://schemas.microsoft.com/office/drawing/2014/main" id="{0B375E2C-1D68-8EFE-BC61-D36F52809F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12522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Straight Connector 306">
                    <a:extLst>
                      <a:ext uri="{FF2B5EF4-FFF2-40B4-BE49-F238E27FC236}">
                        <a16:creationId xmlns:a16="http://schemas.microsoft.com/office/drawing/2014/main" id="{8D900AAA-56C8-FABC-29EC-EAF370812B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6812" y="4993723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24" name="Straight Arrow Connector 323">
                  <a:extLst>
                    <a:ext uri="{FF2B5EF4-FFF2-40B4-BE49-F238E27FC236}">
                      <a16:creationId xmlns:a16="http://schemas.microsoft.com/office/drawing/2014/main" id="{8D7809DD-B652-037A-4177-3705A616E4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65379" y="2269979"/>
                  <a:ext cx="18495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5" name="TextBox 324">
                      <a:extLst>
                        <a:ext uri="{FF2B5EF4-FFF2-40B4-BE49-F238E27FC236}">
                          <a16:creationId xmlns:a16="http://schemas.microsoft.com/office/drawing/2014/main" id="{94AD07FE-1D27-E56E-84FB-7DB7D43872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96016" y="1627142"/>
                      <a:ext cx="1209740" cy="53769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l-GR" sz="1000" dirty="0"/>
                        <a:t>α</a:t>
                      </a:r>
                      <a:r>
                        <a:rPr lang="en-US" sz="1000" dirty="0"/>
                        <a:t>⊙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000" dirty="0">
                                  <a:latin typeface="Cambria Math" panose="02040503050406030204" pitchFamily="18" charset="0"/>
                                </a:rPr>
                                <m:t>norm</m:t>
                              </m:r>
                            </m:sub>
                          </m:sSub>
                        </m:oMath>
                      </a14:m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</p:txBody>
                </p:sp>
              </mc:Choice>
              <mc:Fallback xmlns="">
                <p:sp>
                  <p:nvSpPr>
                    <p:cNvPr id="325" name="TextBox 324">
                      <a:extLst>
                        <a:ext uri="{FF2B5EF4-FFF2-40B4-BE49-F238E27FC236}">
                          <a16:creationId xmlns:a16="http://schemas.microsoft.com/office/drawing/2014/main" id="{94AD07FE-1D27-E56E-84FB-7DB7D43872F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96016" y="1627142"/>
                      <a:ext cx="1209740" cy="53769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7095DD37-4706-C0DC-8263-CEDCBA95A24A}"/>
                    </a:ext>
                  </a:extLst>
                </p:cNvPr>
                <p:cNvSpPr txBox="1"/>
                <p:nvPr/>
              </p:nvSpPr>
              <p:spPr>
                <a:xfrm>
                  <a:off x="7489527" y="1766613"/>
                  <a:ext cx="777854" cy="330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(NXC)</a:t>
                  </a:r>
                  <a:endParaRPr lang="en-US" dirty="0"/>
                </a:p>
              </p:txBody>
            </p:sp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id="{4F4C71B7-C588-CED1-4C95-1CE14A337783}"/>
                    </a:ext>
                  </a:extLst>
                </p:cNvPr>
                <p:cNvGrpSpPr/>
                <p:nvPr/>
              </p:nvGrpSpPr>
              <p:grpSpPr>
                <a:xfrm>
                  <a:off x="8281309" y="2046149"/>
                  <a:ext cx="497013" cy="369196"/>
                  <a:chOff x="8799061" y="4921715"/>
                  <a:chExt cx="469257" cy="387660"/>
                </a:xfrm>
                <a:gradFill>
                  <a:gsLst>
                    <a:gs pos="22000">
                      <a:schemeClr val="accent2"/>
                    </a:gs>
                    <a:gs pos="55000">
                      <a:schemeClr val="accent2">
                        <a:lumMod val="40000"/>
                        <a:lumOff val="60000"/>
                      </a:schemeClr>
                    </a:gs>
                    <a:gs pos="100000">
                      <a:schemeClr val="accent2">
                        <a:lumMod val="50000"/>
                      </a:schemeClr>
                    </a:gs>
                    <a:gs pos="67000">
                      <a:schemeClr val="accent2">
                        <a:lumMod val="75000"/>
                      </a:schemeClr>
                    </a:gs>
                  </a:gsLst>
                  <a:path path="rect">
                    <a:fillToRect l="100000" t="100000"/>
                  </a:path>
                </a:gradFill>
              </p:grpSpPr>
              <p:grpSp>
                <p:nvGrpSpPr>
                  <p:cNvPr id="328" name="Group 327">
                    <a:extLst>
                      <a:ext uri="{FF2B5EF4-FFF2-40B4-BE49-F238E27FC236}">
                        <a16:creationId xmlns:a16="http://schemas.microsoft.com/office/drawing/2014/main" id="{DFD218CF-B617-9CC0-69FB-CA3E842475DD}"/>
                      </a:ext>
                    </a:extLst>
                  </p:cNvPr>
                  <p:cNvGrpSpPr/>
                  <p:nvPr/>
                </p:nvGrpSpPr>
                <p:grpSpPr>
                  <a:xfrm>
                    <a:off x="8799061" y="4921715"/>
                    <a:ext cx="469257" cy="387660"/>
                    <a:chOff x="8791024" y="4914826"/>
                    <a:chExt cx="469257" cy="387660"/>
                  </a:xfrm>
                  <a:grpFill/>
                </p:grpSpPr>
                <p:sp>
                  <p:nvSpPr>
                    <p:cNvPr id="332" name="Cube 331">
                      <a:extLst>
                        <a:ext uri="{FF2B5EF4-FFF2-40B4-BE49-F238E27FC236}">
                          <a16:creationId xmlns:a16="http://schemas.microsoft.com/office/drawing/2014/main" id="{84747C29-D991-DF2F-A267-54FF51008B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1024" y="4916978"/>
                      <a:ext cx="469257" cy="378158"/>
                    </a:xfrm>
                    <a:prstGeom prst="cub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cxnSp>
                  <p:nvCxnSpPr>
                    <p:cNvPr id="333" name="Straight Connector 332">
                      <a:extLst>
                        <a:ext uri="{FF2B5EF4-FFF2-40B4-BE49-F238E27FC236}">
                          <a16:creationId xmlns:a16="http://schemas.microsoft.com/office/drawing/2014/main" id="{B3156DAE-0622-3C17-073F-5F13D5B82E8D}"/>
                        </a:ext>
                      </a:extLst>
                    </p:cNvPr>
                    <p:cNvCxnSpPr>
                      <a:stCxn id="332" idx="2"/>
                      <a:endCxn id="332" idx="4"/>
                    </p:cNvCxnSpPr>
                    <p:nvPr/>
                  </p:nvCxnSpPr>
                  <p:spPr>
                    <a:xfrm>
                      <a:off x="8791024" y="5153327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4" name="Straight Connector 333">
                      <a:extLst>
                        <a:ext uri="{FF2B5EF4-FFF2-40B4-BE49-F238E27FC236}">
                          <a16:creationId xmlns:a16="http://schemas.microsoft.com/office/drawing/2014/main" id="{8D29CBAF-AAE9-F981-CECE-7F84691FF31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1024" y="5215605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5" name="Straight Connector 334">
                      <a:extLst>
                        <a:ext uri="{FF2B5EF4-FFF2-40B4-BE49-F238E27FC236}">
                          <a16:creationId xmlns:a16="http://schemas.microsoft.com/office/drawing/2014/main" id="{1DACFDAD-C9E4-DBFB-1522-118374ADC48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094" y="5083946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6" name="Straight Connector 335">
                      <a:extLst>
                        <a:ext uri="{FF2B5EF4-FFF2-40B4-BE49-F238E27FC236}">
                          <a16:creationId xmlns:a16="http://schemas.microsoft.com/office/drawing/2014/main" id="{260D63D6-D431-C719-48FF-528DFB7E4D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6039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7" name="Straight Connector 336">
                      <a:extLst>
                        <a:ext uri="{FF2B5EF4-FFF2-40B4-BE49-F238E27FC236}">
                          <a16:creationId xmlns:a16="http://schemas.microsoft.com/office/drawing/2014/main" id="{3C99D261-D680-ACB7-5457-652F9B81FA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9318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8" name="Straight Connector 337">
                      <a:extLst>
                        <a:ext uri="{FF2B5EF4-FFF2-40B4-BE49-F238E27FC236}">
                          <a16:creationId xmlns:a16="http://schemas.microsoft.com/office/drawing/2014/main" id="{8CD8715C-76C6-ACDF-D239-2903F5CE10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1684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9" name="Straight Connector 338">
                      <a:extLst>
                        <a:ext uri="{FF2B5EF4-FFF2-40B4-BE49-F238E27FC236}">
                          <a16:creationId xmlns:a16="http://schemas.microsoft.com/office/drawing/2014/main" id="{D57D0E3B-0034-6176-9ABD-538000455B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842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0" name="Straight Connector 339">
                      <a:extLst>
                        <a:ext uri="{FF2B5EF4-FFF2-40B4-BE49-F238E27FC236}">
                          <a16:creationId xmlns:a16="http://schemas.microsoft.com/office/drawing/2014/main" id="{D71CCE74-CC21-D13F-723F-DEFC663C29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54915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1" name="Straight Connector 340">
                      <a:extLst>
                        <a:ext uri="{FF2B5EF4-FFF2-40B4-BE49-F238E27FC236}">
                          <a16:creationId xmlns:a16="http://schemas.microsoft.com/office/drawing/2014/main" id="{A41B13D0-688B-6008-A016-FCDB4593A1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929103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2" name="Straight Connector 341">
                      <a:extLst>
                        <a:ext uri="{FF2B5EF4-FFF2-40B4-BE49-F238E27FC236}">
                          <a16:creationId xmlns:a16="http://schemas.microsoft.com/office/drawing/2014/main" id="{EC620C79-438F-AD10-E116-3F433B65AA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13206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3" name="Straight Connector 342">
                      <a:extLst>
                        <a:ext uri="{FF2B5EF4-FFF2-40B4-BE49-F238E27FC236}">
                          <a16:creationId xmlns:a16="http://schemas.microsoft.com/office/drawing/2014/main" id="{0B7C1AE7-3743-6D38-AB86-0572316EAF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80593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4" name="Straight Connector 343">
                      <a:extLst>
                        <a:ext uri="{FF2B5EF4-FFF2-40B4-BE49-F238E27FC236}">
                          <a16:creationId xmlns:a16="http://schemas.microsoft.com/office/drawing/2014/main" id="{F7FB5005-C6B8-6311-DAE6-35A299C3B0C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25847" y="4986314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5" name="Straight Connector 344">
                      <a:extLst>
                        <a:ext uri="{FF2B5EF4-FFF2-40B4-BE49-F238E27FC236}">
                          <a16:creationId xmlns:a16="http://schemas.microsoft.com/office/drawing/2014/main" id="{B79FFB84-EC72-73B5-20B6-EC366D53CF4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54915" y="4954700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6" name="Straight Connector 345">
                      <a:extLst>
                        <a:ext uri="{FF2B5EF4-FFF2-40B4-BE49-F238E27FC236}">
                          <a16:creationId xmlns:a16="http://schemas.microsoft.com/office/drawing/2014/main" id="{B91F49E7-2F90-5554-7393-330E2BB219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197201" y="4986224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7" name="Straight Connector 346">
                      <a:extLst>
                        <a:ext uri="{FF2B5EF4-FFF2-40B4-BE49-F238E27FC236}">
                          <a16:creationId xmlns:a16="http://schemas.microsoft.com/office/drawing/2014/main" id="{73D7D88B-5B0B-45EA-5BD2-9F5155C9C0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29633" y="4954700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29" name="Straight Connector 328">
                    <a:extLst>
                      <a:ext uri="{FF2B5EF4-FFF2-40B4-BE49-F238E27FC236}">
                        <a16:creationId xmlns:a16="http://schemas.microsoft.com/office/drawing/2014/main" id="{A05B5EBD-192F-637F-5A8E-D13C9CD13C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06023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0" name="Straight Connector 329">
                    <a:extLst>
                      <a:ext uri="{FF2B5EF4-FFF2-40B4-BE49-F238E27FC236}">
                        <a16:creationId xmlns:a16="http://schemas.microsoft.com/office/drawing/2014/main" id="{BFB1A639-6B6C-D797-19E4-3FFE3E6D00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12522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1" name="Straight Connector 330">
                    <a:extLst>
                      <a:ext uri="{FF2B5EF4-FFF2-40B4-BE49-F238E27FC236}">
                        <a16:creationId xmlns:a16="http://schemas.microsoft.com/office/drawing/2014/main" id="{4F6D3109-655F-D07A-02E2-D4C52B6C31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6812" y="4993723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7CBF8EE2-691A-BAED-0940-26CD3814C778}"/>
                    </a:ext>
                  </a:extLst>
                </p:cNvPr>
                <p:cNvSpPr txBox="1"/>
                <p:nvPr/>
              </p:nvSpPr>
              <p:spPr>
                <a:xfrm>
                  <a:off x="8340003" y="1686021"/>
                  <a:ext cx="495421" cy="330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H</a:t>
                  </a:r>
                  <a:r>
                    <a:rPr lang="en-US" sz="1000" baseline="30000" dirty="0"/>
                    <a:t>T</a:t>
                  </a:r>
                </a:p>
              </p:txBody>
            </p:sp>
            <p:sp>
              <p:nvSpPr>
                <p:cNvPr id="349" name="TextBox 348">
                  <a:extLst>
                    <a:ext uri="{FF2B5EF4-FFF2-40B4-BE49-F238E27FC236}">
                      <a16:creationId xmlns:a16="http://schemas.microsoft.com/office/drawing/2014/main" id="{8B73F1A2-6C18-2BB4-CC4D-B697107CF41C}"/>
                    </a:ext>
                  </a:extLst>
                </p:cNvPr>
                <p:cNvSpPr txBox="1"/>
                <p:nvPr/>
              </p:nvSpPr>
              <p:spPr>
                <a:xfrm>
                  <a:off x="8293683" y="1809814"/>
                  <a:ext cx="757125" cy="330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(</a:t>
                  </a:r>
                  <a:r>
                    <a:rPr lang="en-US" sz="1000" dirty="0" err="1"/>
                    <a:t>KxN</a:t>
                  </a:r>
                  <a:r>
                    <a:rPr lang="en-US" sz="1000" dirty="0"/>
                    <a:t>)</a:t>
                  </a:r>
                </a:p>
              </p:txBody>
            </p:sp>
            <p:grpSp>
              <p:nvGrpSpPr>
                <p:cNvPr id="352" name="Group 351">
                  <a:extLst>
                    <a:ext uri="{FF2B5EF4-FFF2-40B4-BE49-F238E27FC236}">
                      <a16:creationId xmlns:a16="http://schemas.microsoft.com/office/drawing/2014/main" id="{E1E97CA9-4868-4A52-95C0-D542E86685E0}"/>
                    </a:ext>
                  </a:extLst>
                </p:cNvPr>
                <p:cNvGrpSpPr/>
                <p:nvPr/>
              </p:nvGrpSpPr>
              <p:grpSpPr>
                <a:xfrm>
                  <a:off x="9052135" y="2007387"/>
                  <a:ext cx="739453" cy="653889"/>
                  <a:chOff x="9525000" y="1598085"/>
                  <a:chExt cx="457465" cy="400110"/>
                </a:xfrm>
              </p:grpSpPr>
              <p:sp>
                <p:nvSpPr>
                  <p:cNvPr id="350" name="Rectangle 349">
                    <a:extLst>
                      <a:ext uri="{FF2B5EF4-FFF2-40B4-BE49-F238E27FC236}">
                        <a16:creationId xmlns:a16="http://schemas.microsoft.com/office/drawing/2014/main" id="{972FECEF-597E-7599-C7EF-88B026EB3887}"/>
                      </a:ext>
                    </a:extLst>
                  </p:cNvPr>
                  <p:cNvSpPr/>
                  <p:nvPr/>
                </p:nvSpPr>
                <p:spPr>
                  <a:xfrm>
                    <a:off x="9525000" y="1611994"/>
                    <a:ext cx="323850" cy="310528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1" name="TextBox 350">
                    <a:extLst>
                      <a:ext uri="{FF2B5EF4-FFF2-40B4-BE49-F238E27FC236}">
                        <a16:creationId xmlns:a16="http://schemas.microsoft.com/office/drawing/2014/main" id="{02556C49-082C-5A5C-B748-E556A7E479D6}"/>
                      </a:ext>
                    </a:extLst>
                  </p:cNvPr>
                  <p:cNvSpPr txBox="1"/>
                  <p:nvPr/>
                </p:nvSpPr>
                <p:spPr>
                  <a:xfrm>
                    <a:off x="9530097" y="1598085"/>
                    <a:ext cx="45236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i="1" dirty="0"/>
                      <a:t>/D</a:t>
                    </a:r>
                    <a:r>
                      <a:rPr lang="en-US" sz="1000" i="1" baseline="-25000" dirty="0"/>
                      <a:t>e</a:t>
                    </a:r>
                  </a:p>
                  <a:p>
                    <a:r>
                      <a:rPr lang="en-US" sz="1000" i="1" dirty="0"/>
                      <a:t>(</a:t>
                    </a:r>
                    <a:r>
                      <a:rPr lang="en-US" sz="1000" i="1" dirty="0" err="1"/>
                      <a:t>KxK</a:t>
                    </a:r>
                    <a:r>
                      <a:rPr lang="en-US" sz="1000" i="1" dirty="0"/>
                      <a:t>)</a:t>
                    </a:r>
                  </a:p>
                </p:txBody>
              </p:sp>
            </p:grpSp>
            <p:grpSp>
              <p:nvGrpSpPr>
                <p:cNvPr id="356" name="Group 355">
                  <a:extLst>
                    <a:ext uri="{FF2B5EF4-FFF2-40B4-BE49-F238E27FC236}">
                      <a16:creationId xmlns:a16="http://schemas.microsoft.com/office/drawing/2014/main" id="{B2E09C88-19E7-5D23-C276-C2B7DCE76FF5}"/>
                    </a:ext>
                  </a:extLst>
                </p:cNvPr>
                <p:cNvGrpSpPr/>
                <p:nvPr/>
              </p:nvGrpSpPr>
              <p:grpSpPr>
                <a:xfrm>
                  <a:off x="8704611" y="1368468"/>
                  <a:ext cx="1835508" cy="330886"/>
                  <a:chOff x="9664700" y="1407354"/>
                  <a:chExt cx="1135544" cy="246221"/>
                </a:xfrm>
              </p:grpSpPr>
              <p:sp>
                <p:nvSpPr>
                  <p:cNvPr id="353" name="Rectangle 352">
                    <a:extLst>
                      <a:ext uri="{FF2B5EF4-FFF2-40B4-BE49-F238E27FC236}">
                        <a16:creationId xmlns:a16="http://schemas.microsoft.com/office/drawing/2014/main" id="{8349B2DC-F3A8-FA39-4E1D-5C84447FCA5F}"/>
                      </a:ext>
                    </a:extLst>
                  </p:cNvPr>
                  <p:cNvSpPr/>
                  <p:nvPr/>
                </p:nvSpPr>
                <p:spPr>
                  <a:xfrm flipV="1">
                    <a:off x="9664700" y="1429979"/>
                    <a:ext cx="783844" cy="182014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5" name="TextBox 354">
                    <a:extLst>
                      <a:ext uri="{FF2B5EF4-FFF2-40B4-BE49-F238E27FC236}">
                        <a16:creationId xmlns:a16="http://schemas.microsoft.com/office/drawing/2014/main" id="{8145D4A4-92E2-ED04-12F8-E4B120633FC2}"/>
                      </a:ext>
                    </a:extLst>
                  </p:cNvPr>
                  <p:cNvSpPr txBox="1"/>
                  <p:nvPr/>
                </p:nvSpPr>
                <p:spPr>
                  <a:xfrm>
                    <a:off x="9752189" y="1407354"/>
                    <a:ext cx="104805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i="1" dirty="0"/>
                      <a:t>D</a:t>
                    </a:r>
                    <a:r>
                      <a:rPr lang="en-US" sz="1000" i="1" baseline="-25000" dirty="0"/>
                      <a:t>e</a:t>
                    </a:r>
                    <a:r>
                      <a:rPr lang="en-US" sz="1000" dirty="0"/>
                      <a:t>=</a:t>
                    </a:r>
                    <a:r>
                      <a:rPr lang="en-US" sz="1000" dirty="0" err="1"/>
                      <a:t>diag</a:t>
                    </a:r>
                    <a:r>
                      <a:rPr lang="en-US" sz="1000" dirty="0"/>
                      <a:t>(H</a:t>
                    </a:r>
                    <a:r>
                      <a:rPr lang="en-US" sz="1000" baseline="30000" dirty="0"/>
                      <a:t>T</a:t>
                    </a:r>
                    <a:r>
                      <a:rPr lang="en-US" sz="1000" dirty="0"/>
                      <a:t>.1N)</a:t>
                    </a:r>
                  </a:p>
                </p:txBody>
              </p:sp>
            </p:grpSp>
            <p:grpSp>
              <p:nvGrpSpPr>
                <p:cNvPr id="367" name="Group 366">
                  <a:extLst>
                    <a:ext uri="{FF2B5EF4-FFF2-40B4-BE49-F238E27FC236}">
                      <a16:creationId xmlns:a16="http://schemas.microsoft.com/office/drawing/2014/main" id="{69B19689-51D1-C106-9390-C286BF307A6F}"/>
                    </a:ext>
                  </a:extLst>
                </p:cNvPr>
                <p:cNvGrpSpPr/>
                <p:nvPr/>
              </p:nvGrpSpPr>
              <p:grpSpPr>
                <a:xfrm>
                  <a:off x="9843189" y="2023555"/>
                  <a:ext cx="497013" cy="369196"/>
                  <a:chOff x="8799061" y="4921715"/>
                  <a:chExt cx="469257" cy="387660"/>
                </a:xfrm>
                <a:gradFill>
                  <a:gsLst>
                    <a:gs pos="22000">
                      <a:srgbClr val="7030A0"/>
                    </a:gs>
                    <a:gs pos="55000">
                      <a:srgbClr val="7030A0"/>
                    </a:gs>
                    <a:gs pos="100000">
                      <a:srgbClr val="F2EBE6"/>
                    </a:gs>
                    <a:gs pos="67000">
                      <a:srgbClr val="7030A0"/>
                    </a:gs>
                  </a:gsLst>
                  <a:path path="rect">
                    <a:fillToRect l="100000" t="100000"/>
                  </a:path>
                </a:gradFill>
              </p:grpSpPr>
              <p:grpSp>
                <p:nvGrpSpPr>
                  <p:cNvPr id="368" name="Group 367">
                    <a:extLst>
                      <a:ext uri="{FF2B5EF4-FFF2-40B4-BE49-F238E27FC236}">
                        <a16:creationId xmlns:a16="http://schemas.microsoft.com/office/drawing/2014/main" id="{DA03881F-C6C5-5743-776C-5011E68CF3E0}"/>
                      </a:ext>
                    </a:extLst>
                  </p:cNvPr>
                  <p:cNvGrpSpPr/>
                  <p:nvPr/>
                </p:nvGrpSpPr>
                <p:grpSpPr>
                  <a:xfrm>
                    <a:off x="8799061" y="4921715"/>
                    <a:ext cx="469257" cy="387660"/>
                    <a:chOff x="8791024" y="4914826"/>
                    <a:chExt cx="469257" cy="387660"/>
                  </a:xfrm>
                  <a:grpFill/>
                </p:grpSpPr>
                <p:sp>
                  <p:nvSpPr>
                    <p:cNvPr id="372" name="Cube 371">
                      <a:extLst>
                        <a:ext uri="{FF2B5EF4-FFF2-40B4-BE49-F238E27FC236}">
                          <a16:creationId xmlns:a16="http://schemas.microsoft.com/office/drawing/2014/main" id="{5072B457-9601-4036-049F-6C09193257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1024" y="4916978"/>
                      <a:ext cx="469257" cy="378158"/>
                    </a:xfrm>
                    <a:prstGeom prst="cub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cxnSp>
                  <p:nvCxnSpPr>
                    <p:cNvPr id="373" name="Straight Connector 372">
                      <a:extLst>
                        <a:ext uri="{FF2B5EF4-FFF2-40B4-BE49-F238E27FC236}">
                          <a16:creationId xmlns:a16="http://schemas.microsoft.com/office/drawing/2014/main" id="{8BE0926B-04D2-AEB5-A264-9DD49EA23646}"/>
                        </a:ext>
                      </a:extLst>
                    </p:cNvPr>
                    <p:cNvCxnSpPr>
                      <a:stCxn id="372" idx="2"/>
                      <a:endCxn id="372" idx="4"/>
                    </p:cNvCxnSpPr>
                    <p:nvPr/>
                  </p:nvCxnSpPr>
                  <p:spPr>
                    <a:xfrm>
                      <a:off x="8791024" y="5153327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4" name="Straight Connector 373">
                      <a:extLst>
                        <a:ext uri="{FF2B5EF4-FFF2-40B4-BE49-F238E27FC236}">
                          <a16:creationId xmlns:a16="http://schemas.microsoft.com/office/drawing/2014/main" id="{BE2AE332-DB92-215D-5FBE-237E8ADE5E1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1024" y="5215605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5" name="Straight Connector 374">
                      <a:extLst>
                        <a:ext uri="{FF2B5EF4-FFF2-40B4-BE49-F238E27FC236}">
                          <a16:creationId xmlns:a16="http://schemas.microsoft.com/office/drawing/2014/main" id="{37F7AB9C-21D9-A252-B67F-940D676B4F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094" y="5083946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6" name="Straight Connector 375">
                      <a:extLst>
                        <a:ext uri="{FF2B5EF4-FFF2-40B4-BE49-F238E27FC236}">
                          <a16:creationId xmlns:a16="http://schemas.microsoft.com/office/drawing/2014/main" id="{23244B1E-140A-6385-0D8A-BDAEA06F2D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6039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7" name="Straight Connector 376">
                      <a:extLst>
                        <a:ext uri="{FF2B5EF4-FFF2-40B4-BE49-F238E27FC236}">
                          <a16:creationId xmlns:a16="http://schemas.microsoft.com/office/drawing/2014/main" id="{ADBACC7D-9E3A-3711-C6A7-6A9EC24F7B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9318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8" name="Straight Connector 377">
                      <a:extLst>
                        <a:ext uri="{FF2B5EF4-FFF2-40B4-BE49-F238E27FC236}">
                          <a16:creationId xmlns:a16="http://schemas.microsoft.com/office/drawing/2014/main" id="{D4747870-FAD2-85A8-71EA-66DD61002F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1684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9" name="Straight Connector 378">
                      <a:extLst>
                        <a:ext uri="{FF2B5EF4-FFF2-40B4-BE49-F238E27FC236}">
                          <a16:creationId xmlns:a16="http://schemas.microsoft.com/office/drawing/2014/main" id="{49030F6F-05D8-769E-70B2-D57653A5732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842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0" name="Straight Connector 379">
                      <a:extLst>
                        <a:ext uri="{FF2B5EF4-FFF2-40B4-BE49-F238E27FC236}">
                          <a16:creationId xmlns:a16="http://schemas.microsoft.com/office/drawing/2014/main" id="{7CFE50E3-CE29-1806-4CE4-E0DF7B2AB3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54915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1" name="Straight Connector 380">
                      <a:extLst>
                        <a:ext uri="{FF2B5EF4-FFF2-40B4-BE49-F238E27FC236}">
                          <a16:creationId xmlns:a16="http://schemas.microsoft.com/office/drawing/2014/main" id="{2E99D797-1AD1-07C2-C30E-DF124C9174C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929103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2" name="Straight Connector 381">
                      <a:extLst>
                        <a:ext uri="{FF2B5EF4-FFF2-40B4-BE49-F238E27FC236}">
                          <a16:creationId xmlns:a16="http://schemas.microsoft.com/office/drawing/2014/main" id="{686D86E0-421A-24D2-602F-BAE540EE037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13206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3" name="Straight Connector 382">
                      <a:extLst>
                        <a:ext uri="{FF2B5EF4-FFF2-40B4-BE49-F238E27FC236}">
                          <a16:creationId xmlns:a16="http://schemas.microsoft.com/office/drawing/2014/main" id="{F23375E8-6FB3-BD24-74AB-EE608F34C5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80593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4" name="Straight Connector 383">
                      <a:extLst>
                        <a:ext uri="{FF2B5EF4-FFF2-40B4-BE49-F238E27FC236}">
                          <a16:creationId xmlns:a16="http://schemas.microsoft.com/office/drawing/2014/main" id="{1489FFEE-ED7C-2C2E-050A-06971AEE32A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25847" y="4986314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5" name="Straight Connector 384">
                      <a:extLst>
                        <a:ext uri="{FF2B5EF4-FFF2-40B4-BE49-F238E27FC236}">
                          <a16:creationId xmlns:a16="http://schemas.microsoft.com/office/drawing/2014/main" id="{7DD292AD-9593-E1B8-9CDE-C847E2FAB62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54915" y="4954700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6" name="Straight Connector 385">
                      <a:extLst>
                        <a:ext uri="{FF2B5EF4-FFF2-40B4-BE49-F238E27FC236}">
                          <a16:creationId xmlns:a16="http://schemas.microsoft.com/office/drawing/2014/main" id="{F77BA771-5396-296C-46AA-C82096D49D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197201" y="4986224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7" name="Straight Connector 386">
                      <a:extLst>
                        <a:ext uri="{FF2B5EF4-FFF2-40B4-BE49-F238E27FC236}">
                          <a16:creationId xmlns:a16="http://schemas.microsoft.com/office/drawing/2014/main" id="{61754866-AB66-9C9C-8341-BAFA7615AE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29633" y="4954700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69" name="Straight Connector 368">
                    <a:extLst>
                      <a:ext uri="{FF2B5EF4-FFF2-40B4-BE49-F238E27FC236}">
                        <a16:creationId xmlns:a16="http://schemas.microsoft.com/office/drawing/2014/main" id="{BB08FB4B-5A54-FD66-6EA2-0077C3FC39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06023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0" name="Straight Connector 369">
                    <a:extLst>
                      <a:ext uri="{FF2B5EF4-FFF2-40B4-BE49-F238E27FC236}">
                        <a16:creationId xmlns:a16="http://schemas.microsoft.com/office/drawing/2014/main" id="{18EE661D-43D2-3233-DD30-72AACEC5E7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12522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1" name="Straight Connector 370">
                    <a:extLst>
                      <a:ext uri="{FF2B5EF4-FFF2-40B4-BE49-F238E27FC236}">
                        <a16:creationId xmlns:a16="http://schemas.microsoft.com/office/drawing/2014/main" id="{1DCD379F-629C-1D96-0951-838BECEEAB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6812" y="4993723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92" name="Straight Arrow Connector 391">
                  <a:extLst>
                    <a:ext uri="{FF2B5EF4-FFF2-40B4-BE49-F238E27FC236}">
                      <a16:creationId xmlns:a16="http://schemas.microsoft.com/office/drawing/2014/main" id="{B19A320D-6101-0A55-A8E7-7A7531CC36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07788" y="2493772"/>
                  <a:ext cx="93867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Arrow Connector 394">
                  <a:extLst>
                    <a:ext uri="{FF2B5EF4-FFF2-40B4-BE49-F238E27FC236}">
                      <a16:creationId xmlns:a16="http://schemas.microsoft.com/office/drawing/2014/main" id="{EFCF892D-09D5-E0A7-9B0D-CACBBF0714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78843" y="2217277"/>
                  <a:ext cx="26028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6" name="TextBox 395">
                  <a:extLst>
                    <a:ext uri="{FF2B5EF4-FFF2-40B4-BE49-F238E27FC236}">
                      <a16:creationId xmlns:a16="http://schemas.microsoft.com/office/drawing/2014/main" id="{8B846A57-A99F-5F0E-2A77-D5CF672A9E08}"/>
                    </a:ext>
                  </a:extLst>
                </p:cNvPr>
                <p:cNvSpPr txBox="1"/>
                <p:nvPr/>
              </p:nvSpPr>
              <p:spPr>
                <a:xfrm>
                  <a:off x="9879045" y="1746460"/>
                  <a:ext cx="1169630" cy="351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F</a:t>
                  </a:r>
                  <a:r>
                    <a:rPr lang="en-US" sz="1050" baseline="-25000" dirty="0"/>
                    <a:t> </a:t>
                  </a:r>
                  <a:r>
                    <a:rPr lang="en-US" sz="1050" baseline="-25000" dirty="0" err="1"/>
                    <a:t>hyp</a:t>
                  </a:r>
                  <a:r>
                    <a:rPr lang="en-US" sz="1050" baseline="30000" dirty="0"/>
                    <a:t>(1)</a:t>
                  </a:r>
                  <a:endParaRPr lang="en-US" sz="1050" baseline="-25000" dirty="0"/>
                </a:p>
              </p:txBody>
            </p:sp>
            <p:sp>
              <p:nvSpPr>
                <p:cNvPr id="397" name="TextBox 396">
                  <a:extLst>
                    <a:ext uri="{FF2B5EF4-FFF2-40B4-BE49-F238E27FC236}">
                      <a16:creationId xmlns:a16="http://schemas.microsoft.com/office/drawing/2014/main" id="{45A2F65D-C4A1-39E6-7026-C924A30EA65B}"/>
                    </a:ext>
                  </a:extLst>
                </p:cNvPr>
                <p:cNvSpPr txBox="1"/>
                <p:nvPr/>
              </p:nvSpPr>
              <p:spPr>
                <a:xfrm>
                  <a:off x="10141440" y="2314352"/>
                  <a:ext cx="733803" cy="330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(</a:t>
                  </a:r>
                  <a:r>
                    <a:rPr lang="en-US" sz="1000" dirty="0" err="1"/>
                    <a:t>KxC</a:t>
                  </a:r>
                  <a:r>
                    <a:rPr lang="en-US" sz="1000" dirty="0"/>
                    <a:t>)</a:t>
                  </a:r>
                </a:p>
              </p:txBody>
            </p:sp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18D5384B-7A76-8658-AF41-973A4ACA6CD8}"/>
                    </a:ext>
                  </a:extLst>
                </p:cNvPr>
                <p:cNvGrpSpPr/>
                <p:nvPr/>
              </p:nvGrpSpPr>
              <p:grpSpPr>
                <a:xfrm>
                  <a:off x="7968234" y="2098869"/>
                  <a:ext cx="290075" cy="262495"/>
                  <a:chOff x="8180098" y="5433462"/>
                  <a:chExt cx="294331" cy="296333"/>
                </a:xfrm>
              </p:grpSpPr>
              <p:sp>
                <p:nvSpPr>
                  <p:cNvPr id="399" name="Oval 398">
                    <a:extLst>
                      <a:ext uri="{FF2B5EF4-FFF2-40B4-BE49-F238E27FC236}">
                        <a16:creationId xmlns:a16="http://schemas.microsoft.com/office/drawing/2014/main" id="{FB8F0679-30B8-C243-E717-8905136959F3}"/>
                      </a:ext>
                    </a:extLst>
                  </p:cNvPr>
                  <p:cNvSpPr/>
                  <p:nvPr/>
                </p:nvSpPr>
                <p:spPr>
                  <a:xfrm>
                    <a:off x="8180098" y="5433462"/>
                    <a:ext cx="294331" cy="29633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0" name="Multiplication Sign 399">
                    <a:extLst>
                      <a:ext uri="{FF2B5EF4-FFF2-40B4-BE49-F238E27FC236}">
                        <a16:creationId xmlns:a16="http://schemas.microsoft.com/office/drawing/2014/main" id="{B7730FEE-F182-E855-FB9E-E554DFAD8195}"/>
                      </a:ext>
                    </a:extLst>
                  </p:cNvPr>
                  <p:cNvSpPr/>
                  <p:nvPr/>
                </p:nvSpPr>
                <p:spPr>
                  <a:xfrm>
                    <a:off x="8213106" y="5433752"/>
                    <a:ext cx="246322" cy="295751"/>
                  </a:xfrm>
                  <a:prstGeom prst="mathMultiply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404" name="Straight Arrow Connector 403">
                  <a:extLst>
                    <a:ext uri="{FF2B5EF4-FFF2-40B4-BE49-F238E27FC236}">
                      <a16:creationId xmlns:a16="http://schemas.microsoft.com/office/drawing/2014/main" id="{4787D542-CD73-6541-7DE1-307E2CB0CD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8275" y="1664846"/>
                  <a:ext cx="8667" cy="26721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B9B61FD3-C931-15F0-519E-E1D41069EAD8}"/>
                    </a:ext>
                  </a:extLst>
                </p:cNvPr>
                <p:cNvGrpSpPr/>
                <p:nvPr/>
              </p:nvGrpSpPr>
              <p:grpSpPr>
                <a:xfrm>
                  <a:off x="10363305" y="2033586"/>
                  <a:ext cx="290075" cy="262495"/>
                  <a:chOff x="8180098" y="5433462"/>
                  <a:chExt cx="294331" cy="296333"/>
                </a:xfrm>
              </p:grpSpPr>
              <p:sp>
                <p:nvSpPr>
                  <p:cNvPr id="412" name="Oval 411">
                    <a:extLst>
                      <a:ext uri="{FF2B5EF4-FFF2-40B4-BE49-F238E27FC236}">
                        <a16:creationId xmlns:a16="http://schemas.microsoft.com/office/drawing/2014/main" id="{176FD819-A33D-5D5A-EE89-C65F5F60BB03}"/>
                      </a:ext>
                    </a:extLst>
                  </p:cNvPr>
                  <p:cNvSpPr/>
                  <p:nvPr/>
                </p:nvSpPr>
                <p:spPr>
                  <a:xfrm>
                    <a:off x="8180098" y="5433462"/>
                    <a:ext cx="294331" cy="29633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3" name="Multiplication Sign 412">
                    <a:extLst>
                      <a:ext uri="{FF2B5EF4-FFF2-40B4-BE49-F238E27FC236}">
                        <a16:creationId xmlns:a16="http://schemas.microsoft.com/office/drawing/2014/main" id="{A429787B-AEEB-2E05-1683-9B32A7E1B714}"/>
                      </a:ext>
                    </a:extLst>
                  </p:cNvPr>
                  <p:cNvSpPr/>
                  <p:nvPr/>
                </p:nvSpPr>
                <p:spPr>
                  <a:xfrm>
                    <a:off x="8213106" y="5433752"/>
                    <a:ext cx="246322" cy="295751"/>
                  </a:xfrm>
                  <a:prstGeom prst="mathMultiply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16" name="Group 415">
                  <a:extLst>
                    <a:ext uri="{FF2B5EF4-FFF2-40B4-BE49-F238E27FC236}">
                      <a16:creationId xmlns:a16="http://schemas.microsoft.com/office/drawing/2014/main" id="{C475B152-1E79-C7C9-D9EC-2E29A643602D}"/>
                    </a:ext>
                  </a:extLst>
                </p:cNvPr>
                <p:cNvGrpSpPr/>
                <p:nvPr/>
              </p:nvGrpSpPr>
              <p:grpSpPr>
                <a:xfrm>
                  <a:off x="10675656" y="2001137"/>
                  <a:ext cx="497013" cy="369196"/>
                  <a:chOff x="8799061" y="4921715"/>
                  <a:chExt cx="469257" cy="387660"/>
                </a:xfrm>
                <a:gradFill>
                  <a:gsLst>
                    <a:gs pos="22000">
                      <a:srgbClr val="FF0000"/>
                    </a:gs>
                    <a:gs pos="55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rgbClr val="FF0000"/>
                    </a:gs>
                    <a:gs pos="67000">
                      <a:srgbClr val="FFC000"/>
                    </a:gs>
                  </a:gsLst>
                  <a:path path="rect">
                    <a:fillToRect l="100000" t="100000"/>
                  </a:path>
                </a:gradFill>
              </p:grpSpPr>
              <p:grpSp>
                <p:nvGrpSpPr>
                  <p:cNvPr id="417" name="Group 416">
                    <a:extLst>
                      <a:ext uri="{FF2B5EF4-FFF2-40B4-BE49-F238E27FC236}">
                        <a16:creationId xmlns:a16="http://schemas.microsoft.com/office/drawing/2014/main" id="{B5043F92-C518-1260-D443-BCF7F5E40B99}"/>
                      </a:ext>
                    </a:extLst>
                  </p:cNvPr>
                  <p:cNvGrpSpPr/>
                  <p:nvPr/>
                </p:nvGrpSpPr>
                <p:grpSpPr>
                  <a:xfrm>
                    <a:off x="8799061" y="4921715"/>
                    <a:ext cx="469257" cy="387660"/>
                    <a:chOff x="8791024" y="4914826"/>
                    <a:chExt cx="469257" cy="387660"/>
                  </a:xfrm>
                  <a:grpFill/>
                </p:grpSpPr>
                <p:sp>
                  <p:nvSpPr>
                    <p:cNvPr id="421" name="Cube 420">
                      <a:extLst>
                        <a:ext uri="{FF2B5EF4-FFF2-40B4-BE49-F238E27FC236}">
                          <a16:creationId xmlns:a16="http://schemas.microsoft.com/office/drawing/2014/main" id="{4A26F673-0728-310B-F41F-F6D307B5D5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1024" y="4916978"/>
                      <a:ext cx="469257" cy="378158"/>
                    </a:xfrm>
                    <a:prstGeom prst="cub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cxnSp>
                  <p:nvCxnSpPr>
                    <p:cNvPr id="422" name="Straight Connector 421">
                      <a:extLst>
                        <a:ext uri="{FF2B5EF4-FFF2-40B4-BE49-F238E27FC236}">
                          <a16:creationId xmlns:a16="http://schemas.microsoft.com/office/drawing/2014/main" id="{75285BEC-5ADB-5838-8E91-D0F3506684C6}"/>
                        </a:ext>
                      </a:extLst>
                    </p:cNvPr>
                    <p:cNvCxnSpPr>
                      <a:stCxn id="421" idx="2"/>
                      <a:endCxn id="421" idx="4"/>
                    </p:cNvCxnSpPr>
                    <p:nvPr/>
                  </p:nvCxnSpPr>
                  <p:spPr>
                    <a:xfrm>
                      <a:off x="8791024" y="5153327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3" name="Straight Connector 422">
                      <a:extLst>
                        <a:ext uri="{FF2B5EF4-FFF2-40B4-BE49-F238E27FC236}">
                          <a16:creationId xmlns:a16="http://schemas.microsoft.com/office/drawing/2014/main" id="{D6E8B23B-8638-66E3-6A87-063DB9E066A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1024" y="5215605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4" name="Straight Connector 423">
                      <a:extLst>
                        <a:ext uri="{FF2B5EF4-FFF2-40B4-BE49-F238E27FC236}">
                          <a16:creationId xmlns:a16="http://schemas.microsoft.com/office/drawing/2014/main" id="{E27667F6-B4F0-DE9B-07F4-4E364B75818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094" y="5083946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5" name="Straight Connector 424">
                      <a:extLst>
                        <a:ext uri="{FF2B5EF4-FFF2-40B4-BE49-F238E27FC236}">
                          <a16:creationId xmlns:a16="http://schemas.microsoft.com/office/drawing/2014/main" id="{DF7648E9-A679-E71C-B20C-D07AA73819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6039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6" name="Straight Connector 425">
                      <a:extLst>
                        <a:ext uri="{FF2B5EF4-FFF2-40B4-BE49-F238E27FC236}">
                          <a16:creationId xmlns:a16="http://schemas.microsoft.com/office/drawing/2014/main" id="{00D58952-0C17-B7A3-80D0-E60EED0DA5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9318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7" name="Straight Connector 426">
                      <a:extLst>
                        <a:ext uri="{FF2B5EF4-FFF2-40B4-BE49-F238E27FC236}">
                          <a16:creationId xmlns:a16="http://schemas.microsoft.com/office/drawing/2014/main" id="{AF80DD50-59C0-A247-4709-4EAD95903F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1684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8" name="Straight Connector 427">
                      <a:extLst>
                        <a:ext uri="{FF2B5EF4-FFF2-40B4-BE49-F238E27FC236}">
                          <a16:creationId xmlns:a16="http://schemas.microsoft.com/office/drawing/2014/main" id="{8253C71B-010F-6CDC-70D7-904DDC9FA6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842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9" name="Straight Connector 428">
                      <a:extLst>
                        <a:ext uri="{FF2B5EF4-FFF2-40B4-BE49-F238E27FC236}">
                          <a16:creationId xmlns:a16="http://schemas.microsoft.com/office/drawing/2014/main" id="{B8AE6813-D3A7-306F-1D1D-6C0AC02AED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54915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0" name="Straight Connector 429">
                      <a:extLst>
                        <a:ext uri="{FF2B5EF4-FFF2-40B4-BE49-F238E27FC236}">
                          <a16:creationId xmlns:a16="http://schemas.microsoft.com/office/drawing/2014/main" id="{C82F4AEF-EBE9-5A8B-28E5-B2A24B2172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929103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1" name="Straight Connector 430">
                      <a:extLst>
                        <a:ext uri="{FF2B5EF4-FFF2-40B4-BE49-F238E27FC236}">
                          <a16:creationId xmlns:a16="http://schemas.microsoft.com/office/drawing/2014/main" id="{5DDCE7AD-1C16-8758-6CC7-2A313B7C3F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13206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2" name="Straight Connector 431">
                      <a:extLst>
                        <a:ext uri="{FF2B5EF4-FFF2-40B4-BE49-F238E27FC236}">
                          <a16:creationId xmlns:a16="http://schemas.microsoft.com/office/drawing/2014/main" id="{3A53B88F-BF26-3FCC-F716-75E5A83697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80593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3" name="Straight Connector 432">
                      <a:extLst>
                        <a:ext uri="{FF2B5EF4-FFF2-40B4-BE49-F238E27FC236}">
                          <a16:creationId xmlns:a16="http://schemas.microsoft.com/office/drawing/2014/main" id="{510A9B81-6B36-09B2-E724-47F1DFD9EDC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25847" y="4986314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4" name="Straight Connector 433">
                      <a:extLst>
                        <a:ext uri="{FF2B5EF4-FFF2-40B4-BE49-F238E27FC236}">
                          <a16:creationId xmlns:a16="http://schemas.microsoft.com/office/drawing/2014/main" id="{C06C14DB-2E1E-EADA-8ADE-D1BA7173229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54915" y="4954700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5" name="Straight Connector 434">
                      <a:extLst>
                        <a:ext uri="{FF2B5EF4-FFF2-40B4-BE49-F238E27FC236}">
                          <a16:creationId xmlns:a16="http://schemas.microsoft.com/office/drawing/2014/main" id="{A5299F43-3AC5-C5BC-047C-6588D38084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197201" y="4986224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6" name="Straight Connector 435">
                      <a:extLst>
                        <a:ext uri="{FF2B5EF4-FFF2-40B4-BE49-F238E27FC236}">
                          <a16:creationId xmlns:a16="http://schemas.microsoft.com/office/drawing/2014/main" id="{C67D441F-187F-E940-6F74-EF05539901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29633" y="4954700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18" name="Straight Connector 417">
                    <a:extLst>
                      <a:ext uri="{FF2B5EF4-FFF2-40B4-BE49-F238E27FC236}">
                        <a16:creationId xmlns:a16="http://schemas.microsoft.com/office/drawing/2014/main" id="{B40F0800-7575-4645-4B5D-570DED027C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06023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740BA8BD-F677-F026-2F32-6B91268485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12522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7425587B-BE69-863E-15BF-0EFE58217F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6812" y="4993723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37" name="TextBox 436">
                  <a:extLst>
                    <a:ext uri="{FF2B5EF4-FFF2-40B4-BE49-F238E27FC236}">
                      <a16:creationId xmlns:a16="http://schemas.microsoft.com/office/drawing/2014/main" id="{B8D629D0-E98F-0938-9B6B-5FE043FA9A52}"/>
                    </a:ext>
                  </a:extLst>
                </p:cNvPr>
                <p:cNvSpPr txBox="1"/>
                <p:nvPr/>
              </p:nvSpPr>
              <p:spPr>
                <a:xfrm>
                  <a:off x="10657114" y="1627960"/>
                  <a:ext cx="46839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/>
                    <a:t>H</a:t>
                  </a:r>
                </a:p>
                <a:p>
                  <a:pPr algn="ctr"/>
                  <a:r>
                    <a:rPr lang="en-US" sz="1000" dirty="0"/>
                    <a:t>(</a:t>
                  </a:r>
                  <a:r>
                    <a:rPr lang="en-US" sz="1000" dirty="0" err="1"/>
                    <a:t>NxK</a:t>
                  </a:r>
                  <a:r>
                    <a:rPr lang="en-US" sz="1000" dirty="0"/>
                    <a:t>)</a:t>
                  </a:r>
                </a:p>
              </p:txBody>
            </p:sp>
            <p:cxnSp>
              <p:nvCxnSpPr>
                <p:cNvPr id="439" name="Straight Arrow Connector 438">
                  <a:extLst>
                    <a:ext uri="{FF2B5EF4-FFF2-40B4-BE49-F238E27FC236}">
                      <a16:creationId xmlns:a16="http://schemas.microsoft.com/office/drawing/2014/main" id="{F38C85EA-9A5A-E5E2-B2B7-A20174AB4522}"/>
                    </a:ext>
                  </a:extLst>
                </p:cNvPr>
                <p:cNvCxnSpPr>
                  <a:stCxn id="421" idx="5"/>
                </p:cNvCxnSpPr>
                <p:nvPr/>
              </p:nvCxnSpPr>
              <p:spPr>
                <a:xfrm flipV="1">
                  <a:off x="11172669" y="2135426"/>
                  <a:ext cx="226851" cy="281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40" name="Group 439">
                  <a:extLst>
                    <a:ext uri="{FF2B5EF4-FFF2-40B4-BE49-F238E27FC236}">
                      <a16:creationId xmlns:a16="http://schemas.microsoft.com/office/drawing/2014/main" id="{241BB4FC-9DB4-3364-E0AC-A577DAC32901}"/>
                    </a:ext>
                  </a:extLst>
                </p:cNvPr>
                <p:cNvGrpSpPr/>
                <p:nvPr/>
              </p:nvGrpSpPr>
              <p:grpSpPr>
                <a:xfrm>
                  <a:off x="11414796" y="1989910"/>
                  <a:ext cx="497013" cy="369196"/>
                  <a:chOff x="8799061" y="4921715"/>
                  <a:chExt cx="469257" cy="387660"/>
                </a:xfrm>
                <a:gradFill>
                  <a:gsLst>
                    <a:gs pos="22000">
                      <a:srgbClr val="7030A0"/>
                    </a:gs>
                    <a:gs pos="55000">
                      <a:schemeClr val="bg1"/>
                    </a:gs>
                    <a:gs pos="100000">
                      <a:srgbClr val="FF00FF"/>
                    </a:gs>
                    <a:gs pos="67000">
                      <a:srgbClr val="FF00FF"/>
                    </a:gs>
                  </a:gsLst>
                  <a:path path="rect">
                    <a:fillToRect l="100000" t="100000"/>
                  </a:path>
                </a:gradFill>
              </p:grpSpPr>
              <p:grpSp>
                <p:nvGrpSpPr>
                  <p:cNvPr id="441" name="Group 440">
                    <a:extLst>
                      <a:ext uri="{FF2B5EF4-FFF2-40B4-BE49-F238E27FC236}">
                        <a16:creationId xmlns:a16="http://schemas.microsoft.com/office/drawing/2014/main" id="{0C7766FE-A749-D8C5-F0BD-F539C370EE34}"/>
                      </a:ext>
                    </a:extLst>
                  </p:cNvPr>
                  <p:cNvGrpSpPr/>
                  <p:nvPr/>
                </p:nvGrpSpPr>
                <p:grpSpPr>
                  <a:xfrm>
                    <a:off x="8799061" y="4921715"/>
                    <a:ext cx="469257" cy="387660"/>
                    <a:chOff x="8791024" y="4914826"/>
                    <a:chExt cx="469257" cy="387660"/>
                  </a:xfrm>
                  <a:grpFill/>
                </p:grpSpPr>
                <p:sp>
                  <p:nvSpPr>
                    <p:cNvPr id="445" name="Cube 444">
                      <a:extLst>
                        <a:ext uri="{FF2B5EF4-FFF2-40B4-BE49-F238E27FC236}">
                          <a16:creationId xmlns:a16="http://schemas.microsoft.com/office/drawing/2014/main" id="{4EDD39F8-F971-CB52-CA17-6834B7B28F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1024" y="4916978"/>
                      <a:ext cx="469257" cy="378158"/>
                    </a:xfrm>
                    <a:prstGeom prst="cub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cxnSp>
                  <p:nvCxnSpPr>
                    <p:cNvPr id="446" name="Straight Connector 445">
                      <a:extLst>
                        <a:ext uri="{FF2B5EF4-FFF2-40B4-BE49-F238E27FC236}">
                          <a16:creationId xmlns:a16="http://schemas.microsoft.com/office/drawing/2014/main" id="{E3967725-B167-3A06-4177-3ABD914FCB92}"/>
                        </a:ext>
                      </a:extLst>
                    </p:cNvPr>
                    <p:cNvCxnSpPr>
                      <a:stCxn id="445" idx="2"/>
                      <a:endCxn id="445" idx="4"/>
                    </p:cNvCxnSpPr>
                    <p:nvPr/>
                  </p:nvCxnSpPr>
                  <p:spPr>
                    <a:xfrm>
                      <a:off x="8791024" y="5153327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7" name="Straight Connector 446">
                      <a:extLst>
                        <a:ext uri="{FF2B5EF4-FFF2-40B4-BE49-F238E27FC236}">
                          <a16:creationId xmlns:a16="http://schemas.microsoft.com/office/drawing/2014/main" id="{C06E685F-437B-CA9D-C137-35741FCA713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1024" y="5215605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8" name="Straight Connector 447">
                      <a:extLst>
                        <a:ext uri="{FF2B5EF4-FFF2-40B4-BE49-F238E27FC236}">
                          <a16:creationId xmlns:a16="http://schemas.microsoft.com/office/drawing/2014/main" id="{D505A74D-271B-DE74-6F1F-38AF4806A9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094" y="5083946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9" name="Straight Connector 448">
                      <a:extLst>
                        <a:ext uri="{FF2B5EF4-FFF2-40B4-BE49-F238E27FC236}">
                          <a16:creationId xmlns:a16="http://schemas.microsoft.com/office/drawing/2014/main" id="{DF71380D-9C71-4D10-B2D9-8D2CF619A32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6039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A6981765-B382-68B2-5DCC-D1786CC481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9318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1" name="Straight Connector 450">
                      <a:extLst>
                        <a:ext uri="{FF2B5EF4-FFF2-40B4-BE49-F238E27FC236}">
                          <a16:creationId xmlns:a16="http://schemas.microsoft.com/office/drawing/2014/main" id="{5AF7CE9A-36AF-8536-8EBB-FE56D605DE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1684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2" name="Straight Connector 451">
                      <a:extLst>
                        <a:ext uri="{FF2B5EF4-FFF2-40B4-BE49-F238E27FC236}">
                          <a16:creationId xmlns:a16="http://schemas.microsoft.com/office/drawing/2014/main" id="{E2CCFEE9-B2F3-C921-1A77-7518D85B63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842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3" name="Straight Connector 452">
                      <a:extLst>
                        <a:ext uri="{FF2B5EF4-FFF2-40B4-BE49-F238E27FC236}">
                          <a16:creationId xmlns:a16="http://schemas.microsoft.com/office/drawing/2014/main" id="{C7E191A8-EC0B-8F62-2C1C-14701B0BA2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54915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4" name="Straight Connector 453">
                      <a:extLst>
                        <a:ext uri="{FF2B5EF4-FFF2-40B4-BE49-F238E27FC236}">
                          <a16:creationId xmlns:a16="http://schemas.microsoft.com/office/drawing/2014/main" id="{9E56FF44-19D4-8426-DF23-AC4C5AC809E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929103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5" name="Straight Connector 454">
                      <a:extLst>
                        <a:ext uri="{FF2B5EF4-FFF2-40B4-BE49-F238E27FC236}">
                          <a16:creationId xmlns:a16="http://schemas.microsoft.com/office/drawing/2014/main" id="{A91513DC-6C09-86C8-ABFC-CC3A73CF26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13206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6" name="Straight Connector 455">
                      <a:extLst>
                        <a:ext uri="{FF2B5EF4-FFF2-40B4-BE49-F238E27FC236}">
                          <a16:creationId xmlns:a16="http://schemas.microsoft.com/office/drawing/2014/main" id="{10C7BE13-495C-4319-CEB3-05340ADDAD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80593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7" name="Straight Connector 456">
                      <a:extLst>
                        <a:ext uri="{FF2B5EF4-FFF2-40B4-BE49-F238E27FC236}">
                          <a16:creationId xmlns:a16="http://schemas.microsoft.com/office/drawing/2014/main" id="{1435D03C-B095-E1A9-E043-EAF2BA52FC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25847" y="4986314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8" name="Straight Connector 457">
                      <a:extLst>
                        <a:ext uri="{FF2B5EF4-FFF2-40B4-BE49-F238E27FC236}">
                          <a16:creationId xmlns:a16="http://schemas.microsoft.com/office/drawing/2014/main" id="{AF1C0610-D17C-8B54-F77B-5FDA8408015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54915" y="4954700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9" name="Straight Connector 458">
                      <a:extLst>
                        <a:ext uri="{FF2B5EF4-FFF2-40B4-BE49-F238E27FC236}">
                          <a16:creationId xmlns:a16="http://schemas.microsoft.com/office/drawing/2014/main" id="{7EAA288E-2E6B-E9FC-4D41-4950238412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197201" y="4986224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0" name="Straight Connector 459">
                      <a:extLst>
                        <a:ext uri="{FF2B5EF4-FFF2-40B4-BE49-F238E27FC236}">
                          <a16:creationId xmlns:a16="http://schemas.microsoft.com/office/drawing/2014/main" id="{A443C26E-9B3B-CD84-687E-701C439AC8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29633" y="4954700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42" name="Straight Connector 441">
                    <a:extLst>
                      <a:ext uri="{FF2B5EF4-FFF2-40B4-BE49-F238E27FC236}">
                        <a16:creationId xmlns:a16="http://schemas.microsoft.com/office/drawing/2014/main" id="{18646739-2F8F-B4FA-8446-A7D62A342F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06023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3" name="Straight Connector 442">
                    <a:extLst>
                      <a:ext uri="{FF2B5EF4-FFF2-40B4-BE49-F238E27FC236}">
                        <a16:creationId xmlns:a16="http://schemas.microsoft.com/office/drawing/2014/main" id="{6D3C3741-7B75-33ED-866B-7FFDE9BA07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12522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Straight Connector 443">
                    <a:extLst>
                      <a:ext uri="{FF2B5EF4-FFF2-40B4-BE49-F238E27FC236}">
                        <a16:creationId xmlns:a16="http://schemas.microsoft.com/office/drawing/2014/main" id="{A2384545-F0F6-1F69-B127-69627CE6A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6812" y="4993723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61" name="TextBox 460">
                  <a:extLst>
                    <a:ext uri="{FF2B5EF4-FFF2-40B4-BE49-F238E27FC236}">
                      <a16:creationId xmlns:a16="http://schemas.microsoft.com/office/drawing/2014/main" id="{5B6D50DE-8326-13BF-1507-D6E1D9B4DFB3}"/>
                    </a:ext>
                  </a:extLst>
                </p:cNvPr>
                <p:cNvSpPr txBox="1"/>
                <p:nvPr/>
              </p:nvSpPr>
              <p:spPr>
                <a:xfrm>
                  <a:off x="11567540" y="1631593"/>
                  <a:ext cx="33855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Z</a:t>
                  </a:r>
                  <a:r>
                    <a:rPr lang="en-US" sz="1000" baseline="30000" dirty="0"/>
                    <a:t>(1)</a:t>
                  </a:r>
                </a:p>
              </p:txBody>
            </p:sp>
            <p:sp>
              <p:nvSpPr>
                <p:cNvPr id="462" name="TextBox 461">
                  <a:extLst>
                    <a:ext uri="{FF2B5EF4-FFF2-40B4-BE49-F238E27FC236}">
                      <a16:creationId xmlns:a16="http://schemas.microsoft.com/office/drawing/2014/main" id="{88ECADFF-59E0-ADD4-E777-48CB359615F8}"/>
                    </a:ext>
                  </a:extLst>
                </p:cNvPr>
                <p:cNvSpPr txBox="1"/>
                <p:nvPr/>
              </p:nvSpPr>
              <p:spPr>
                <a:xfrm>
                  <a:off x="11508362" y="1751942"/>
                  <a:ext cx="47000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(</a:t>
                  </a:r>
                  <a:r>
                    <a:rPr lang="en-US" sz="1000" dirty="0" err="1"/>
                    <a:t>NxC</a:t>
                  </a:r>
                  <a:r>
                    <a:rPr lang="en-US" sz="1000" dirty="0"/>
                    <a:t>)</a:t>
                  </a:r>
                </a:p>
              </p:txBody>
            </p:sp>
            <p:sp>
              <p:nvSpPr>
                <p:cNvPr id="463" name="Rectangle: Rounded Corners 462">
                  <a:extLst>
                    <a:ext uri="{FF2B5EF4-FFF2-40B4-BE49-F238E27FC236}">
                      <a16:creationId xmlns:a16="http://schemas.microsoft.com/office/drawing/2014/main" id="{A78B6B9A-E790-989D-9291-979AD0D75568}"/>
                    </a:ext>
                  </a:extLst>
                </p:cNvPr>
                <p:cNvSpPr/>
                <p:nvPr/>
              </p:nvSpPr>
              <p:spPr>
                <a:xfrm>
                  <a:off x="11330940" y="2951207"/>
                  <a:ext cx="571500" cy="410671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4" name="TextBox 463">
                  <a:extLst>
                    <a:ext uri="{FF2B5EF4-FFF2-40B4-BE49-F238E27FC236}">
                      <a16:creationId xmlns:a16="http://schemas.microsoft.com/office/drawing/2014/main" id="{B3B503FB-2AE7-8C5B-334C-8F61F11E6F75}"/>
                    </a:ext>
                  </a:extLst>
                </p:cNvPr>
                <p:cNvSpPr txBox="1"/>
                <p:nvPr/>
              </p:nvSpPr>
              <p:spPr>
                <a:xfrm>
                  <a:off x="11452860" y="2923501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dirty="0"/>
                    <a:t>θ</a:t>
                  </a:r>
                  <a:r>
                    <a:rPr lang="en-US" baseline="-25000" dirty="0"/>
                    <a:t>1</a:t>
                  </a:r>
                </a:p>
              </p:txBody>
            </p:sp>
            <p:grpSp>
              <p:nvGrpSpPr>
                <p:cNvPr id="465" name="Group 464">
                  <a:extLst>
                    <a:ext uri="{FF2B5EF4-FFF2-40B4-BE49-F238E27FC236}">
                      <a16:creationId xmlns:a16="http://schemas.microsoft.com/office/drawing/2014/main" id="{1E0DBAE4-AF17-2F54-A371-1247388E8E2A}"/>
                    </a:ext>
                  </a:extLst>
                </p:cNvPr>
                <p:cNvGrpSpPr/>
                <p:nvPr/>
              </p:nvGrpSpPr>
              <p:grpSpPr>
                <a:xfrm>
                  <a:off x="11510661" y="2514549"/>
                  <a:ext cx="290075" cy="262495"/>
                  <a:chOff x="8180098" y="5433462"/>
                  <a:chExt cx="294331" cy="296333"/>
                </a:xfrm>
              </p:grpSpPr>
              <p:sp>
                <p:nvSpPr>
                  <p:cNvPr id="466" name="Oval 465">
                    <a:extLst>
                      <a:ext uri="{FF2B5EF4-FFF2-40B4-BE49-F238E27FC236}">
                        <a16:creationId xmlns:a16="http://schemas.microsoft.com/office/drawing/2014/main" id="{691D81CE-3D22-0646-C13C-89491EC181ED}"/>
                      </a:ext>
                    </a:extLst>
                  </p:cNvPr>
                  <p:cNvSpPr/>
                  <p:nvPr/>
                </p:nvSpPr>
                <p:spPr>
                  <a:xfrm>
                    <a:off x="8180098" y="5433462"/>
                    <a:ext cx="294331" cy="29633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67" name="Multiplication Sign 466">
                    <a:extLst>
                      <a:ext uri="{FF2B5EF4-FFF2-40B4-BE49-F238E27FC236}">
                        <a16:creationId xmlns:a16="http://schemas.microsoft.com/office/drawing/2014/main" id="{49749A5B-A8FB-DCC7-CFBA-0FC7E995CF31}"/>
                      </a:ext>
                    </a:extLst>
                  </p:cNvPr>
                  <p:cNvSpPr/>
                  <p:nvPr/>
                </p:nvSpPr>
                <p:spPr>
                  <a:xfrm>
                    <a:off x="8213106" y="5433752"/>
                    <a:ext cx="246322" cy="295751"/>
                  </a:xfrm>
                  <a:prstGeom prst="mathMultiply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00" name="Group 499">
                  <a:extLst>
                    <a:ext uri="{FF2B5EF4-FFF2-40B4-BE49-F238E27FC236}">
                      <a16:creationId xmlns:a16="http://schemas.microsoft.com/office/drawing/2014/main" id="{C908AE48-112C-12E5-1933-452791D00969}"/>
                    </a:ext>
                  </a:extLst>
                </p:cNvPr>
                <p:cNvGrpSpPr/>
                <p:nvPr/>
              </p:nvGrpSpPr>
              <p:grpSpPr>
                <a:xfrm>
                  <a:off x="9050807" y="2610076"/>
                  <a:ext cx="1856289" cy="422471"/>
                  <a:chOff x="9186166" y="2650978"/>
                  <a:chExt cx="1856289" cy="422471"/>
                </a:xfrm>
              </p:grpSpPr>
              <p:sp>
                <p:nvSpPr>
                  <p:cNvPr id="470" name="Rectangle: Rounded Corners 469">
                    <a:extLst>
                      <a:ext uri="{FF2B5EF4-FFF2-40B4-BE49-F238E27FC236}">
                        <a16:creationId xmlns:a16="http://schemas.microsoft.com/office/drawing/2014/main" id="{5D39B161-7659-3D34-ACA4-11827FD46A63}"/>
                      </a:ext>
                    </a:extLst>
                  </p:cNvPr>
                  <p:cNvSpPr/>
                  <p:nvPr/>
                </p:nvSpPr>
                <p:spPr>
                  <a:xfrm>
                    <a:off x="10470955" y="2650978"/>
                    <a:ext cx="571500" cy="400276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i="1" dirty="0" err="1">
                        <a:solidFill>
                          <a:schemeClr val="tx1"/>
                        </a:solidFill>
                      </a:rPr>
                      <a:t>ReLU</a:t>
                    </a:r>
                    <a:endParaRPr lang="en-US" sz="1200" i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471" name="Group 470">
                    <a:extLst>
                      <a:ext uri="{FF2B5EF4-FFF2-40B4-BE49-F238E27FC236}">
                        <a16:creationId xmlns:a16="http://schemas.microsoft.com/office/drawing/2014/main" id="{D526A4A0-075E-AA46-B7A7-A230A9AD050A}"/>
                      </a:ext>
                    </a:extLst>
                  </p:cNvPr>
                  <p:cNvGrpSpPr/>
                  <p:nvPr/>
                </p:nvGrpSpPr>
                <p:grpSpPr>
                  <a:xfrm>
                    <a:off x="9932894" y="2704806"/>
                    <a:ext cx="294331" cy="296333"/>
                    <a:chOff x="9434285" y="5890481"/>
                    <a:chExt cx="547229" cy="545511"/>
                  </a:xfrm>
                </p:grpSpPr>
                <p:sp>
                  <p:nvSpPr>
                    <p:cNvPr id="472" name="Oval 471">
                      <a:extLst>
                        <a:ext uri="{FF2B5EF4-FFF2-40B4-BE49-F238E27FC236}">
                          <a16:creationId xmlns:a16="http://schemas.microsoft.com/office/drawing/2014/main" id="{6D2EB20E-AA83-F571-20A3-022ED648B3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4285" y="5890481"/>
                      <a:ext cx="547229" cy="545511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73" name="Plus Sign 472">
                      <a:extLst>
                        <a:ext uri="{FF2B5EF4-FFF2-40B4-BE49-F238E27FC236}">
                          <a16:creationId xmlns:a16="http://schemas.microsoft.com/office/drawing/2014/main" id="{1AF70627-6147-4295-FBAC-A8218AF89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4285" y="5913828"/>
                      <a:ext cx="541747" cy="498816"/>
                    </a:xfrm>
                    <a:prstGeom prst="mathPlus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480" name="Straight Arrow Connector 479">
                    <a:extLst>
                      <a:ext uri="{FF2B5EF4-FFF2-40B4-BE49-F238E27FC236}">
                        <a16:creationId xmlns:a16="http://schemas.microsoft.com/office/drawing/2014/main" id="{7E8E9187-0105-E221-F6EB-9E46648C79CB}"/>
                      </a:ext>
                    </a:extLst>
                  </p:cNvPr>
                  <p:cNvCxnSpPr>
                    <a:stCxn id="470" idx="1"/>
                    <a:endCxn id="472" idx="6"/>
                  </p:cNvCxnSpPr>
                  <p:nvPr/>
                </p:nvCxnSpPr>
                <p:spPr>
                  <a:xfrm flipH="1">
                    <a:off x="10227225" y="2851116"/>
                    <a:ext cx="243730" cy="185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84" name="Rectangle: Rounded Corners 483">
                        <a:extLst>
                          <a:ext uri="{FF2B5EF4-FFF2-40B4-BE49-F238E27FC236}">
                            <a16:creationId xmlns:a16="http://schemas.microsoft.com/office/drawing/2014/main" id="{159ECFEB-A51D-6A6F-3AA0-411430DBFB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86166" y="2673173"/>
                        <a:ext cx="571500" cy="400276"/>
                      </a:xfrm>
                      <a:prstGeom prst="round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norm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2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84" name="Rectangle: Rounded Corners 483">
                        <a:extLst>
                          <a:ext uri="{FF2B5EF4-FFF2-40B4-BE49-F238E27FC236}">
                            <a16:creationId xmlns:a16="http://schemas.microsoft.com/office/drawing/2014/main" id="{159ECFEB-A51D-6A6F-3AA0-411430DBFB5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186166" y="2673173"/>
                        <a:ext cx="571500" cy="400276"/>
                      </a:xfrm>
                      <a:prstGeom prst="round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487" name="Straight Connector 486">
                  <a:extLst>
                    <a:ext uri="{FF2B5EF4-FFF2-40B4-BE49-F238E27FC236}">
                      <a16:creationId xmlns:a16="http://schemas.microsoft.com/office/drawing/2014/main" id="{07F8F061-7AA7-D8D2-4CB0-C6A1D7CEF1A9}"/>
                    </a:ext>
                  </a:extLst>
                </p:cNvPr>
                <p:cNvCxnSpPr>
                  <a:cxnSpLocks/>
                  <a:stCxn id="399" idx="4"/>
                </p:cNvCxnSpPr>
                <p:nvPr/>
              </p:nvCxnSpPr>
              <p:spPr>
                <a:xfrm>
                  <a:off x="8113272" y="2361364"/>
                  <a:ext cx="0" cy="1324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Straight Arrow Connector 493">
                  <a:extLst>
                    <a:ext uri="{FF2B5EF4-FFF2-40B4-BE49-F238E27FC236}">
                      <a16:creationId xmlns:a16="http://schemas.microsoft.com/office/drawing/2014/main" id="{C5AD1ECA-4317-B4C4-C6D9-1B886DC031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635740" y="2325774"/>
                  <a:ext cx="0" cy="18877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6" name="Straight Arrow Connector 495">
                  <a:extLst>
                    <a:ext uri="{FF2B5EF4-FFF2-40B4-BE49-F238E27FC236}">
                      <a16:creationId xmlns:a16="http://schemas.microsoft.com/office/drawing/2014/main" id="{50B8DC89-A3BB-03F7-EFF5-4EC5D174A9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650980" y="2772791"/>
                  <a:ext cx="0" cy="165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1" name="Straight Arrow Connector 510">
                  <a:extLst>
                    <a:ext uri="{FF2B5EF4-FFF2-40B4-BE49-F238E27FC236}">
                      <a16:creationId xmlns:a16="http://schemas.microsoft.com/office/drawing/2014/main" id="{7DDED13E-F626-AE15-E699-2FB07DB4C9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888980" y="2742166"/>
                  <a:ext cx="67333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3" name="Straight Arrow Connector 512">
                  <a:extLst>
                    <a:ext uri="{FF2B5EF4-FFF2-40B4-BE49-F238E27FC236}">
                      <a16:creationId xmlns:a16="http://schemas.microsoft.com/office/drawing/2014/main" id="{442CB891-BE8F-51E0-8278-8336D7CABF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99447" y="2826802"/>
                  <a:ext cx="19987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8" name="Straight Arrow Connector 517">
                  <a:extLst>
                    <a:ext uri="{FF2B5EF4-FFF2-40B4-BE49-F238E27FC236}">
                      <a16:creationId xmlns:a16="http://schemas.microsoft.com/office/drawing/2014/main" id="{00A2EA67-5E42-AE85-920E-B71724EA62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67561" y="2938316"/>
                  <a:ext cx="0" cy="21933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1" name="Rectangle: Rounded Corners 520">
                  <a:extLst>
                    <a:ext uri="{FF2B5EF4-FFF2-40B4-BE49-F238E27FC236}">
                      <a16:creationId xmlns:a16="http://schemas.microsoft.com/office/drawing/2014/main" id="{D7EA88E4-0D17-BBC8-5A2A-8503C66D40FB}"/>
                    </a:ext>
                  </a:extLst>
                </p:cNvPr>
                <p:cNvSpPr/>
                <p:nvPr/>
              </p:nvSpPr>
              <p:spPr>
                <a:xfrm>
                  <a:off x="9695516" y="3133098"/>
                  <a:ext cx="571500" cy="400276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i="1" dirty="0">
                      <a:solidFill>
                        <a:schemeClr val="tx1"/>
                      </a:solidFill>
                    </a:rPr>
                    <a:t>LN</a:t>
                  </a:r>
                </a:p>
              </p:txBody>
            </p:sp>
            <p:grpSp>
              <p:nvGrpSpPr>
                <p:cNvPr id="522" name="Group 521">
                  <a:extLst>
                    <a:ext uri="{FF2B5EF4-FFF2-40B4-BE49-F238E27FC236}">
                      <a16:creationId xmlns:a16="http://schemas.microsoft.com/office/drawing/2014/main" id="{9D6BBFB8-EED3-FF74-243C-288F03B0738B}"/>
                    </a:ext>
                  </a:extLst>
                </p:cNvPr>
                <p:cNvGrpSpPr/>
                <p:nvPr/>
              </p:nvGrpSpPr>
              <p:grpSpPr>
                <a:xfrm>
                  <a:off x="8437522" y="3194439"/>
                  <a:ext cx="497013" cy="369196"/>
                  <a:chOff x="8799061" y="4921715"/>
                  <a:chExt cx="469257" cy="387660"/>
                </a:xfrm>
                <a:gradFill>
                  <a:gsLst>
                    <a:gs pos="22000">
                      <a:srgbClr val="7030A0"/>
                    </a:gs>
                    <a:gs pos="39457">
                      <a:srgbClr val="BC9ED2"/>
                    </a:gs>
                    <a:gs pos="55000">
                      <a:schemeClr val="bg1"/>
                    </a:gs>
                    <a:gs pos="9174">
                      <a:schemeClr val="accent5">
                        <a:lumMod val="60000"/>
                        <a:lumOff val="40000"/>
                      </a:schemeClr>
                    </a:gs>
                    <a:gs pos="87145">
                      <a:schemeClr val="accent4">
                        <a:lumMod val="20000"/>
                        <a:lumOff val="80000"/>
                      </a:schemeClr>
                    </a:gs>
                    <a:gs pos="61472">
                      <a:schemeClr val="accent2">
                        <a:lumMod val="20000"/>
                        <a:lumOff val="80000"/>
                      </a:schemeClr>
                    </a:gs>
                    <a:gs pos="76150">
                      <a:srgbClr val="FF87FF"/>
                    </a:gs>
                    <a:gs pos="100000">
                      <a:srgbClr val="FF00FF"/>
                    </a:gs>
                  </a:gsLst>
                  <a:path path="rect">
                    <a:fillToRect l="100000" t="100000"/>
                  </a:path>
                </a:gradFill>
              </p:grpSpPr>
              <p:grpSp>
                <p:nvGrpSpPr>
                  <p:cNvPr id="523" name="Group 522">
                    <a:extLst>
                      <a:ext uri="{FF2B5EF4-FFF2-40B4-BE49-F238E27FC236}">
                        <a16:creationId xmlns:a16="http://schemas.microsoft.com/office/drawing/2014/main" id="{708589FC-C5F7-C176-0D8D-F6D8880D1862}"/>
                      </a:ext>
                    </a:extLst>
                  </p:cNvPr>
                  <p:cNvGrpSpPr/>
                  <p:nvPr/>
                </p:nvGrpSpPr>
                <p:grpSpPr>
                  <a:xfrm>
                    <a:off x="8799061" y="4921715"/>
                    <a:ext cx="469257" cy="387660"/>
                    <a:chOff x="8791024" y="4914826"/>
                    <a:chExt cx="469257" cy="387660"/>
                  </a:xfrm>
                  <a:grpFill/>
                </p:grpSpPr>
                <p:sp>
                  <p:nvSpPr>
                    <p:cNvPr id="527" name="Cube 526">
                      <a:extLst>
                        <a:ext uri="{FF2B5EF4-FFF2-40B4-BE49-F238E27FC236}">
                          <a16:creationId xmlns:a16="http://schemas.microsoft.com/office/drawing/2014/main" id="{5C62817A-07AB-AEC0-F22E-89F314EA16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1024" y="4916978"/>
                      <a:ext cx="469257" cy="378158"/>
                    </a:xfrm>
                    <a:prstGeom prst="cub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cxnSp>
                  <p:nvCxnSpPr>
                    <p:cNvPr id="528" name="Straight Connector 527">
                      <a:extLst>
                        <a:ext uri="{FF2B5EF4-FFF2-40B4-BE49-F238E27FC236}">
                          <a16:creationId xmlns:a16="http://schemas.microsoft.com/office/drawing/2014/main" id="{F5DB1F32-5884-721A-E046-9BEF6F71A921}"/>
                        </a:ext>
                      </a:extLst>
                    </p:cNvPr>
                    <p:cNvCxnSpPr>
                      <a:stCxn id="527" idx="2"/>
                      <a:endCxn id="527" idx="4"/>
                    </p:cNvCxnSpPr>
                    <p:nvPr/>
                  </p:nvCxnSpPr>
                  <p:spPr>
                    <a:xfrm>
                      <a:off x="8791024" y="5153327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9" name="Straight Connector 528">
                      <a:extLst>
                        <a:ext uri="{FF2B5EF4-FFF2-40B4-BE49-F238E27FC236}">
                          <a16:creationId xmlns:a16="http://schemas.microsoft.com/office/drawing/2014/main" id="{9FA1B17D-20FD-26BF-BF83-1C76CF924C0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1024" y="5215605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0" name="Straight Connector 529">
                      <a:extLst>
                        <a:ext uri="{FF2B5EF4-FFF2-40B4-BE49-F238E27FC236}">
                          <a16:creationId xmlns:a16="http://schemas.microsoft.com/office/drawing/2014/main" id="{13ECFBC4-3745-C310-A82E-800BBFA940C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094" y="5083946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1" name="Straight Connector 530">
                      <a:extLst>
                        <a:ext uri="{FF2B5EF4-FFF2-40B4-BE49-F238E27FC236}">
                          <a16:creationId xmlns:a16="http://schemas.microsoft.com/office/drawing/2014/main" id="{E78C1750-7BDE-51E9-27F0-E848CF9AA83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6039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2" name="Straight Connector 531">
                      <a:extLst>
                        <a:ext uri="{FF2B5EF4-FFF2-40B4-BE49-F238E27FC236}">
                          <a16:creationId xmlns:a16="http://schemas.microsoft.com/office/drawing/2014/main" id="{36A7915A-9373-7BFC-932E-F88D0F20BD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9318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3" name="Straight Connector 532">
                      <a:extLst>
                        <a:ext uri="{FF2B5EF4-FFF2-40B4-BE49-F238E27FC236}">
                          <a16:creationId xmlns:a16="http://schemas.microsoft.com/office/drawing/2014/main" id="{C6D6FEEF-A68E-738F-838F-71EEAFF249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16841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4" name="Straight Connector 533">
                      <a:extLst>
                        <a:ext uri="{FF2B5EF4-FFF2-40B4-BE49-F238E27FC236}">
                          <a16:creationId xmlns:a16="http://schemas.microsoft.com/office/drawing/2014/main" id="{1BA2AC49-13C5-3588-0949-6C4A8F9F2C7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84229" y="5004136"/>
                      <a:ext cx="0" cy="29835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5" name="Straight Connector 534">
                      <a:extLst>
                        <a:ext uri="{FF2B5EF4-FFF2-40B4-BE49-F238E27FC236}">
                          <a16:creationId xmlns:a16="http://schemas.microsoft.com/office/drawing/2014/main" id="{85F5156F-E1C4-AD42-F146-6A5DEB3DFA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54915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6" name="Straight Connector 535">
                      <a:extLst>
                        <a:ext uri="{FF2B5EF4-FFF2-40B4-BE49-F238E27FC236}">
                          <a16:creationId xmlns:a16="http://schemas.microsoft.com/office/drawing/2014/main" id="{5AB3305B-8B01-D326-B738-F194C3504A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929103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7" name="Straight Connector 536">
                      <a:extLst>
                        <a:ext uri="{FF2B5EF4-FFF2-40B4-BE49-F238E27FC236}">
                          <a16:creationId xmlns:a16="http://schemas.microsoft.com/office/drawing/2014/main" id="{608DA8C2-4E0D-96BE-674C-72602791B7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13206" y="4914826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8" name="Straight Connector 537">
                      <a:extLst>
                        <a:ext uri="{FF2B5EF4-FFF2-40B4-BE49-F238E27FC236}">
                          <a16:creationId xmlns:a16="http://schemas.microsoft.com/office/drawing/2014/main" id="{00472BD6-CB3E-954F-15B7-F6D5DEE8739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080593" y="4916978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9" name="Straight Connector 538">
                      <a:extLst>
                        <a:ext uri="{FF2B5EF4-FFF2-40B4-BE49-F238E27FC236}">
                          <a16:creationId xmlns:a16="http://schemas.microsoft.com/office/drawing/2014/main" id="{95792A30-D9C5-1B32-5281-C4F9FF9FFD5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25847" y="4986314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0" name="Straight Connector 539">
                      <a:extLst>
                        <a:ext uri="{FF2B5EF4-FFF2-40B4-BE49-F238E27FC236}">
                          <a16:creationId xmlns:a16="http://schemas.microsoft.com/office/drawing/2014/main" id="{EAE3CFE6-CE49-227C-7D03-C72AC7837CD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854915" y="4954700"/>
                      <a:ext cx="374718" cy="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1" name="Straight Connector 540">
                      <a:extLst>
                        <a:ext uri="{FF2B5EF4-FFF2-40B4-BE49-F238E27FC236}">
                          <a16:creationId xmlns:a16="http://schemas.microsoft.com/office/drawing/2014/main" id="{B14D6A85-3B7F-3E29-4F76-6E64D689A3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197201" y="4986224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2" name="Straight Connector 541">
                      <a:extLst>
                        <a:ext uri="{FF2B5EF4-FFF2-40B4-BE49-F238E27FC236}">
                          <a16:creationId xmlns:a16="http://schemas.microsoft.com/office/drawing/2014/main" id="{8B986D14-B06E-DC4B-4E88-3571203EF80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29633" y="4954700"/>
                      <a:ext cx="0" cy="28421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24" name="Straight Connector 523">
                    <a:extLst>
                      <a:ext uri="{FF2B5EF4-FFF2-40B4-BE49-F238E27FC236}">
                        <a16:creationId xmlns:a16="http://schemas.microsoft.com/office/drawing/2014/main" id="{6D96676D-76A6-1968-8853-B7B09C7E10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06023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5" name="Straight Connector 524">
                    <a:extLst>
                      <a:ext uri="{FF2B5EF4-FFF2-40B4-BE49-F238E27FC236}">
                        <a16:creationId xmlns:a16="http://schemas.microsoft.com/office/drawing/2014/main" id="{DDDA9976-441C-8BE4-A25E-29AD93D27F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5742" y="5125220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6" name="Straight Connector 525">
                    <a:extLst>
                      <a:ext uri="{FF2B5EF4-FFF2-40B4-BE49-F238E27FC236}">
                        <a16:creationId xmlns:a16="http://schemas.microsoft.com/office/drawing/2014/main" id="{6CDDF3EB-1A0C-3E97-7946-6A626A9A02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66812" y="4993723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777904E2-64A6-FAF3-FBC8-203352DBF3A3}"/>
                    </a:ext>
                  </a:extLst>
                </p:cNvPr>
                <p:cNvSpPr txBox="1"/>
                <p:nvPr/>
              </p:nvSpPr>
              <p:spPr>
                <a:xfrm>
                  <a:off x="8488680" y="2889422"/>
                  <a:ext cx="34657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X</a:t>
                  </a:r>
                  <a:r>
                    <a:rPr lang="en-US" sz="1000" baseline="30000" dirty="0"/>
                    <a:t>(1)</a:t>
                  </a:r>
                </a:p>
              </p:txBody>
            </p:sp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3C407A75-5F3E-938F-970B-32C68D8D1CB1}"/>
                    </a:ext>
                  </a:extLst>
                </p:cNvPr>
                <p:cNvSpPr txBox="1"/>
                <p:nvPr/>
              </p:nvSpPr>
              <p:spPr>
                <a:xfrm>
                  <a:off x="8437502" y="2985056"/>
                  <a:ext cx="47000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(</a:t>
                  </a:r>
                  <a:r>
                    <a:rPr lang="en-US" sz="1000" dirty="0" err="1"/>
                    <a:t>NxC</a:t>
                  </a:r>
                  <a:r>
                    <a:rPr lang="en-US" sz="1000" dirty="0"/>
                    <a:t>)</a:t>
                  </a:r>
                </a:p>
              </p:txBody>
            </p:sp>
            <p:cxnSp>
              <p:nvCxnSpPr>
                <p:cNvPr id="547" name="Straight Arrow Connector 546">
                  <a:extLst>
                    <a:ext uri="{FF2B5EF4-FFF2-40B4-BE49-F238E27FC236}">
                      <a16:creationId xmlns:a16="http://schemas.microsoft.com/office/drawing/2014/main" id="{474404BF-383D-1D48-B9B2-DF0D0814B7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95714" y="3333236"/>
                  <a:ext cx="64470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3BCFF7D9-7B44-4CA8-4B34-00F88DAB84F8}"/>
                    </a:ext>
                  </a:extLst>
                </p:cNvPr>
                <p:cNvSpPr txBox="1"/>
                <p:nvPr/>
              </p:nvSpPr>
              <p:spPr>
                <a:xfrm>
                  <a:off x="10657114" y="894644"/>
                  <a:ext cx="8656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Layer 1</a:t>
                  </a:r>
                </a:p>
              </p:txBody>
            </p:sp>
          </p:grpSp>
          <p:grpSp>
            <p:nvGrpSpPr>
              <p:cNvPr id="551" name="Group 550">
                <a:extLst>
                  <a:ext uri="{FF2B5EF4-FFF2-40B4-BE49-F238E27FC236}">
                    <a16:creationId xmlns:a16="http://schemas.microsoft.com/office/drawing/2014/main" id="{48FBE6F3-2730-B161-67B5-FD1069DB9F74}"/>
                  </a:ext>
                </a:extLst>
              </p:cNvPr>
              <p:cNvGrpSpPr/>
              <p:nvPr/>
            </p:nvGrpSpPr>
            <p:grpSpPr>
              <a:xfrm>
                <a:off x="6516491" y="4594059"/>
                <a:ext cx="164355" cy="810509"/>
                <a:chOff x="11805009" y="5295239"/>
                <a:chExt cx="246322" cy="1313548"/>
              </a:xfrm>
            </p:grpSpPr>
            <p:sp>
              <p:nvSpPr>
                <p:cNvPr id="740" name="Rectangle: Rounded Corners 739">
                  <a:extLst>
                    <a:ext uri="{FF2B5EF4-FFF2-40B4-BE49-F238E27FC236}">
                      <a16:creationId xmlns:a16="http://schemas.microsoft.com/office/drawing/2014/main" id="{20FCF534-6758-222D-4A9C-93A642939BC6}"/>
                    </a:ext>
                  </a:extLst>
                </p:cNvPr>
                <p:cNvSpPr/>
                <p:nvPr/>
              </p:nvSpPr>
              <p:spPr>
                <a:xfrm>
                  <a:off x="11805009" y="5295239"/>
                  <a:ext cx="246322" cy="1313548"/>
                </a:xfrm>
                <a:prstGeom prst="roundRect">
                  <a:avLst/>
                </a:prstGeom>
                <a:noFill/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1" name="Oval 740">
                  <a:extLst>
                    <a:ext uri="{FF2B5EF4-FFF2-40B4-BE49-F238E27FC236}">
                      <a16:creationId xmlns:a16="http://schemas.microsoft.com/office/drawing/2014/main" id="{E2C5F98D-905D-1126-1112-099D2061A3CF}"/>
                    </a:ext>
                  </a:extLst>
                </p:cNvPr>
                <p:cNvSpPr/>
                <p:nvPr/>
              </p:nvSpPr>
              <p:spPr>
                <a:xfrm>
                  <a:off x="11859845" y="5433489"/>
                  <a:ext cx="136649" cy="152749"/>
                </a:xfrm>
                <a:prstGeom prst="ellipse">
                  <a:avLst/>
                </a:prstGeom>
                <a:solidFill>
                  <a:srgbClr val="F2EBE6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2" name="Oval 741">
                  <a:extLst>
                    <a:ext uri="{FF2B5EF4-FFF2-40B4-BE49-F238E27FC236}">
                      <a16:creationId xmlns:a16="http://schemas.microsoft.com/office/drawing/2014/main" id="{4025A182-FFF5-FDD7-0E21-8A460D5DFE6F}"/>
                    </a:ext>
                  </a:extLst>
                </p:cNvPr>
                <p:cNvSpPr/>
                <p:nvPr/>
              </p:nvSpPr>
              <p:spPr>
                <a:xfrm>
                  <a:off x="11861099" y="5730836"/>
                  <a:ext cx="136649" cy="152749"/>
                </a:xfrm>
                <a:prstGeom prst="ellipse">
                  <a:avLst/>
                </a:prstGeom>
                <a:solidFill>
                  <a:srgbClr val="F2EBE6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3" name="Oval 742">
                  <a:extLst>
                    <a:ext uri="{FF2B5EF4-FFF2-40B4-BE49-F238E27FC236}">
                      <a16:creationId xmlns:a16="http://schemas.microsoft.com/office/drawing/2014/main" id="{3E738492-CF79-C9A5-A137-EE52F50BA9D1}"/>
                    </a:ext>
                  </a:extLst>
                </p:cNvPr>
                <p:cNvSpPr/>
                <p:nvPr/>
              </p:nvSpPr>
              <p:spPr>
                <a:xfrm>
                  <a:off x="11859845" y="6034065"/>
                  <a:ext cx="136649" cy="152749"/>
                </a:xfrm>
                <a:prstGeom prst="ellipse">
                  <a:avLst/>
                </a:prstGeom>
                <a:solidFill>
                  <a:srgbClr val="F2EBE6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4" name="Oval 743">
                  <a:extLst>
                    <a:ext uri="{FF2B5EF4-FFF2-40B4-BE49-F238E27FC236}">
                      <a16:creationId xmlns:a16="http://schemas.microsoft.com/office/drawing/2014/main" id="{7C4ECF90-A5C4-E9F5-469D-ABE76160CC59}"/>
                    </a:ext>
                  </a:extLst>
                </p:cNvPr>
                <p:cNvSpPr/>
                <p:nvPr/>
              </p:nvSpPr>
              <p:spPr>
                <a:xfrm>
                  <a:off x="11859845" y="6322515"/>
                  <a:ext cx="136649" cy="152749"/>
                </a:xfrm>
                <a:prstGeom prst="ellipse">
                  <a:avLst/>
                </a:prstGeom>
                <a:solidFill>
                  <a:srgbClr val="F2EBE6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52" name="TextBox 551">
                <a:extLst>
                  <a:ext uri="{FF2B5EF4-FFF2-40B4-BE49-F238E27FC236}">
                    <a16:creationId xmlns:a16="http://schemas.microsoft.com/office/drawing/2014/main" id="{A278CB60-F49F-BCE4-B6B2-5B3D92FC854E}"/>
                  </a:ext>
                </a:extLst>
              </p:cNvPr>
              <p:cNvSpPr txBox="1"/>
              <p:nvPr/>
            </p:nvSpPr>
            <p:spPr>
              <a:xfrm>
                <a:off x="6484173" y="5322439"/>
                <a:ext cx="420784" cy="360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1200" dirty="0"/>
                  <a:t>α</a:t>
                </a:r>
                <a:endParaRPr lang="en-US" dirty="0"/>
              </a:p>
            </p:txBody>
          </p:sp>
          <p:grpSp>
            <p:nvGrpSpPr>
              <p:cNvPr id="553" name="Group 552">
                <a:extLst>
                  <a:ext uri="{FF2B5EF4-FFF2-40B4-BE49-F238E27FC236}">
                    <a16:creationId xmlns:a16="http://schemas.microsoft.com/office/drawing/2014/main" id="{6EC8EDAF-1796-E955-2F91-E13399323111}"/>
                  </a:ext>
                </a:extLst>
              </p:cNvPr>
              <p:cNvGrpSpPr/>
              <p:nvPr/>
            </p:nvGrpSpPr>
            <p:grpSpPr>
              <a:xfrm>
                <a:off x="6969159" y="4032980"/>
                <a:ext cx="165841" cy="951076"/>
                <a:chOff x="11805009" y="5295239"/>
                <a:chExt cx="246322" cy="1313548"/>
              </a:xfrm>
            </p:grpSpPr>
            <p:sp>
              <p:nvSpPr>
                <p:cNvPr id="735" name="Rectangle: Rounded Corners 734">
                  <a:extLst>
                    <a:ext uri="{FF2B5EF4-FFF2-40B4-BE49-F238E27FC236}">
                      <a16:creationId xmlns:a16="http://schemas.microsoft.com/office/drawing/2014/main" id="{7A350A30-D5F6-3F7A-A730-5F66496D160B}"/>
                    </a:ext>
                  </a:extLst>
                </p:cNvPr>
                <p:cNvSpPr/>
                <p:nvPr/>
              </p:nvSpPr>
              <p:spPr>
                <a:xfrm>
                  <a:off x="11805009" y="5295239"/>
                  <a:ext cx="246322" cy="1313548"/>
                </a:xfrm>
                <a:prstGeom prst="roundRect">
                  <a:avLst/>
                </a:prstGeom>
                <a:noFill/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6" name="Oval 735">
                  <a:extLst>
                    <a:ext uri="{FF2B5EF4-FFF2-40B4-BE49-F238E27FC236}">
                      <a16:creationId xmlns:a16="http://schemas.microsoft.com/office/drawing/2014/main" id="{C97F79C1-046D-2BFE-6FCF-6C8B775B09EC}"/>
                    </a:ext>
                  </a:extLst>
                </p:cNvPr>
                <p:cNvSpPr/>
                <p:nvPr/>
              </p:nvSpPr>
              <p:spPr>
                <a:xfrm>
                  <a:off x="11859845" y="5433489"/>
                  <a:ext cx="136649" cy="152749"/>
                </a:xfrm>
                <a:prstGeom prst="ellipse">
                  <a:avLst/>
                </a:prstGeom>
                <a:solidFill>
                  <a:srgbClr val="FF00F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7" name="Oval 736">
                  <a:extLst>
                    <a:ext uri="{FF2B5EF4-FFF2-40B4-BE49-F238E27FC236}">
                      <a16:creationId xmlns:a16="http://schemas.microsoft.com/office/drawing/2014/main" id="{30628C89-3529-BD23-EA8F-79DB6F62E474}"/>
                    </a:ext>
                  </a:extLst>
                </p:cNvPr>
                <p:cNvSpPr/>
                <p:nvPr/>
              </p:nvSpPr>
              <p:spPr>
                <a:xfrm>
                  <a:off x="11861099" y="5730836"/>
                  <a:ext cx="136649" cy="152749"/>
                </a:xfrm>
                <a:prstGeom prst="ellipse">
                  <a:avLst/>
                </a:prstGeom>
                <a:solidFill>
                  <a:srgbClr val="FF00F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8" name="Oval 737">
                  <a:extLst>
                    <a:ext uri="{FF2B5EF4-FFF2-40B4-BE49-F238E27FC236}">
                      <a16:creationId xmlns:a16="http://schemas.microsoft.com/office/drawing/2014/main" id="{2DD89A18-13AE-F840-8636-1E9C16884CEE}"/>
                    </a:ext>
                  </a:extLst>
                </p:cNvPr>
                <p:cNvSpPr/>
                <p:nvPr/>
              </p:nvSpPr>
              <p:spPr>
                <a:xfrm>
                  <a:off x="11859845" y="6034065"/>
                  <a:ext cx="136649" cy="152749"/>
                </a:xfrm>
                <a:prstGeom prst="ellipse">
                  <a:avLst/>
                </a:prstGeom>
                <a:solidFill>
                  <a:srgbClr val="FF00F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9" name="Oval 738">
                  <a:extLst>
                    <a:ext uri="{FF2B5EF4-FFF2-40B4-BE49-F238E27FC236}">
                      <a16:creationId xmlns:a16="http://schemas.microsoft.com/office/drawing/2014/main" id="{FCBDB0EE-12F6-93F7-1072-3452801046F2}"/>
                    </a:ext>
                  </a:extLst>
                </p:cNvPr>
                <p:cNvSpPr/>
                <p:nvPr/>
              </p:nvSpPr>
              <p:spPr>
                <a:xfrm>
                  <a:off x="11859845" y="6322515"/>
                  <a:ext cx="136649" cy="152749"/>
                </a:xfrm>
                <a:prstGeom prst="ellipse">
                  <a:avLst/>
                </a:prstGeom>
                <a:solidFill>
                  <a:srgbClr val="FF00F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540FB71F-185B-08C2-4F71-6281D6B06C32}"/>
                  </a:ext>
                </a:extLst>
              </p:cNvPr>
              <p:cNvGrpSpPr/>
              <p:nvPr/>
            </p:nvGrpSpPr>
            <p:grpSpPr>
              <a:xfrm>
                <a:off x="6919352" y="5162374"/>
                <a:ext cx="278408" cy="253984"/>
                <a:chOff x="8180098" y="5433462"/>
                <a:chExt cx="294331" cy="296333"/>
              </a:xfrm>
            </p:grpSpPr>
            <p:sp>
              <p:nvSpPr>
                <p:cNvPr id="733" name="Oval 732">
                  <a:extLst>
                    <a:ext uri="{FF2B5EF4-FFF2-40B4-BE49-F238E27FC236}">
                      <a16:creationId xmlns:a16="http://schemas.microsoft.com/office/drawing/2014/main" id="{65D38B97-1949-E3DB-E598-92CBBD84B9AD}"/>
                    </a:ext>
                  </a:extLst>
                </p:cNvPr>
                <p:cNvSpPr/>
                <p:nvPr/>
              </p:nvSpPr>
              <p:spPr>
                <a:xfrm>
                  <a:off x="8180098" y="5433462"/>
                  <a:ext cx="294331" cy="29633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4" name="Multiplication Sign 733">
                  <a:extLst>
                    <a:ext uri="{FF2B5EF4-FFF2-40B4-BE49-F238E27FC236}">
                      <a16:creationId xmlns:a16="http://schemas.microsoft.com/office/drawing/2014/main" id="{8DE23CD7-9EA6-CB3D-29B4-2056FBB5D6F9}"/>
                    </a:ext>
                  </a:extLst>
                </p:cNvPr>
                <p:cNvSpPr/>
                <p:nvPr/>
              </p:nvSpPr>
              <p:spPr>
                <a:xfrm>
                  <a:off x="8213106" y="5433752"/>
                  <a:ext cx="246322" cy="295751"/>
                </a:xfrm>
                <a:prstGeom prst="mathMultiply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556" name="Straight Arrow Connector 555">
                <a:extLst>
                  <a:ext uri="{FF2B5EF4-FFF2-40B4-BE49-F238E27FC236}">
                    <a16:creationId xmlns:a16="http://schemas.microsoft.com/office/drawing/2014/main" id="{5F25F34D-6E35-EBD9-7672-59701553BE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09230" y="4984057"/>
                <a:ext cx="0" cy="1900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022D2005-2A2A-7CA2-4F56-A7C49C0E56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0353" y="5287284"/>
                <a:ext cx="25748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8" name="Group 557">
                <a:extLst>
                  <a:ext uri="{FF2B5EF4-FFF2-40B4-BE49-F238E27FC236}">
                    <a16:creationId xmlns:a16="http://schemas.microsoft.com/office/drawing/2014/main" id="{9445859B-DF28-CEF9-735F-C3F5656A370F}"/>
                  </a:ext>
                </a:extLst>
              </p:cNvPr>
              <p:cNvGrpSpPr/>
              <p:nvPr/>
            </p:nvGrpSpPr>
            <p:grpSpPr>
              <a:xfrm>
                <a:off x="7375476" y="5075859"/>
                <a:ext cx="477023" cy="357225"/>
                <a:chOff x="8799061" y="4921715"/>
                <a:chExt cx="469257" cy="387660"/>
              </a:xfrm>
              <a:solidFill>
                <a:schemeClr val="bg2">
                  <a:lumMod val="75000"/>
                </a:schemeClr>
              </a:solidFill>
            </p:grpSpPr>
            <p:grpSp>
              <p:nvGrpSpPr>
                <p:cNvPr id="713" name="Group 712">
                  <a:extLst>
                    <a:ext uri="{FF2B5EF4-FFF2-40B4-BE49-F238E27FC236}">
                      <a16:creationId xmlns:a16="http://schemas.microsoft.com/office/drawing/2014/main" id="{FC99350C-0DD0-AD12-4DC0-346558CFEE77}"/>
                    </a:ext>
                  </a:extLst>
                </p:cNvPr>
                <p:cNvGrpSpPr/>
                <p:nvPr/>
              </p:nvGrpSpPr>
              <p:grpSpPr>
                <a:xfrm>
                  <a:off x="8799061" y="4921715"/>
                  <a:ext cx="469257" cy="387660"/>
                  <a:chOff x="8791024" y="4914826"/>
                  <a:chExt cx="469257" cy="387660"/>
                </a:xfrm>
                <a:grpFill/>
              </p:grpSpPr>
              <p:sp>
                <p:nvSpPr>
                  <p:cNvPr id="717" name="Cube 716">
                    <a:extLst>
                      <a:ext uri="{FF2B5EF4-FFF2-40B4-BE49-F238E27FC236}">
                        <a16:creationId xmlns:a16="http://schemas.microsoft.com/office/drawing/2014/main" id="{741BA05F-DDD5-F606-294A-F16FC1834E2D}"/>
                      </a:ext>
                    </a:extLst>
                  </p:cNvPr>
                  <p:cNvSpPr/>
                  <p:nvPr/>
                </p:nvSpPr>
                <p:spPr>
                  <a:xfrm>
                    <a:off x="8791024" y="4916978"/>
                    <a:ext cx="469257" cy="378158"/>
                  </a:xfrm>
                  <a:prstGeom prst="cube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718" name="Straight Connector 717">
                    <a:extLst>
                      <a:ext uri="{FF2B5EF4-FFF2-40B4-BE49-F238E27FC236}">
                        <a16:creationId xmlns:a16="http://schemas.microsoft.com/office/drawing/2014/main" id="{9941D800-BC6D-92B4-F59F-6C866453AC78}"/>
                      </a:ext>
                    </a:extLst>
                  </p:cNvPr>
                  <p:cNvCxnSpPr>
                    <a:stCxn id="717" idx="2"/>
                    <a:endCxn id="717" idx="4"/>
                  </p:cNvCxnSpPr>
                  <p:nvPr/>
                </p:nvCxnSpPr>
                <p:spPr>
                  <a:xfrm>
                    <a:off x="8791024" y="5153327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9" name="Straight Connector 718">
                    <a:extLst>
                      <a:ext uri="{FF2B5EF4-FFF2-40B4-BE49-F238E27FC236}">
                        <a16:creationId xmlns:a16="http://schemas.microsoft.com/office/drawing/2014/main" id="{97D22C52-5E96-78A2-AEF4-C72ED2AF37BA}"/>
                      </a:ext>
                    </a:extLst>
                  </p:cNvPr>
                  <p:cNvCxnSpPr/>
                  <p:nvPr/>
                </p:nvCxnSpPr>
                <p:spPr>
                  <a:xfrm>
                    <a:off x="8791024" y="5215605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0" name="Straight Connector 719">
                    <a:extLst>
                      <a:ext uri="{FF2B5EF4-FFF2-40B4-BE49-F238E27FC236}">
                        <a16:creationId xmlns:a16="http://schemas.microsoft.com/office/drawing/2014/main" id="{FE853ED2-33DB-A052-4267-C9EBE9DC4E77}"/>
                      </a:ext>
                    </a:extLst>
                  </p:cNvPr>
                  <p:cNvCxnSpPr/>
                  <p:nvPr/>
                </p:nvCxnSpPr>
                <p:spPr>
                  <a:xfrm>
                    <a:off x="8792094" y="5083946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1" name="Straight Connector 720">
                    <a:extLst>
                      <a:ext uri="{FF2B5EF4-FFF2-40B4-BE49-F238E27FC236}">
                        <a16:creationId xmlns:a16="http://schemas.microsoft.com/office/drawing/2014/main" id="{6F19247D-E2B8-246B-779C-B69795FDC7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6039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2" name="Straight Connector 721">
                    <a:extLst>
                      <a:ext uri="{FF2B5EF4-FFF2-40B4-BE49-F238E27FC236}">
                        <a16:creationId xmlns:a16="http://schemas.microsoft.com/office/drawing/2014/main" id="{93694433-9CB7-5114-D84C-10DD6C00AA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318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3" name="Straight Connector 722">
                    <a:extLst>
                      <a:ext uri="{FF2B5EF4-FFF2-40B4-BE49-F238E27FC236}">
                        <a16:creationId xmlns:a16="http://schemas.microsoft.com/office/drawing/2014/main" id="{AAC2F71C-C3A0-6973-2721-E2D0F95A52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1684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4" name="Straight Connector 723">
                    <a:extLst>
                      <a:ext uri="{FF2B5EF4-FFF2-40B4-BE49-F238E27FC236}">
                        <a16:creationId xmlns:a16="http://schemas.microsoft.com/office/drawing/2014/main" id="{D36C72C9-3922-F234-469E-DC7C8B75B6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842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5" name="Straight Connector 724">
                    <a:extLst>
                      <a:ext uri="{FF2B5EF4-FFF2-40B4-BE49-F238E27FC236}">
                        <a16:creationId xmlns:a16="http://schemas.microsoft.com/office/drawing/2014/main" id="{61561F2C-148D-0AE2-FA86-B7C67AE0B7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854915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6" name="Straight Connector 725">
                    <a:extLst>
                      <a:ext uri="{FF2B5EF4-FFF2-40B4-BE49-F238E27FC236}">
                        <a16:creationId xmlns:a16="http://schemas.microsoft.com/office/drawing/2014/main" id="{1BDBEFD2-8516-8983-F271-5CA9FF2436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29103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7" name="Straight Connector 726">
                    <a:extLst>
                      <a:ext uri="{FF2B5EF4-FFF2-40B4-BE49-F238E27FC236}">
                        <a16:creationId xmlns:a16="http://schemas.microsoft.com/office/drawing/2014/main" id="{A2F465A8-3F9B-11BA-8B25-06026AA957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13206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8" name="Straight Connector 727">
                    <a:extLst>
                      <a:ext uri="{FF2B5EF4-FFF2-40B4-BE49-F238E27FC236}">
                        <a16:creationId xmlns:a16="http://schemas.microsoft.com/office/drawing/2014/main" id="{759EFE32-EF6D-A68E-B40D-549B9B5053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80593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9" name="Straight Connector 728">
                    <a:extLst>
                      <a:ext uri="{FF2B5EF4-FFF2-40B4-BE49-F238E27FC236}">
                        <a16:creationId xmlns:a16="http://schemas.microsoft.com/office/drawing/2014/main" id="{899CBE4A-2AB2-F25D-96D4-428E7DFAD16E}"/>
                      </a:ext>
                    </a:extLst>
                  </p:cNvPr>
                  <p:cNvCxnSpPr/>
                  <p:nvPr/>
                </p:nvCxnSpPr>
                <p:spPr>
                  <a:xfrm>
                    <a:off x="8825847" y="4986314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0" name="Straight Connector 729">
                    <a:extLst>
                      <a:ext uri="{FF2B5EF4-FFF2-40B4-BE49-F238E27FC236}">
                        <a16:creationId xmlns:a16="http://schemas.microsoft.com/office/drawing/2014/main" id="{9F8A7E60-4202-DB7F-8916-5655B7D37E55}"/>
                      </a:ext>
                    </a:extLst>
                  </p:cNvPr>
                  <p:cNvCxnSpPr/>
                  <p:nvPr/>
                </p:nvCxnSpPr>
                <p:spPr>
                  <a:xfrm>
                    <a:off x="8854915" y="4954700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1" name="Straight Connector 730">
                    <a:extLst>
                      <a:ext uri="{FF2B5EF4-FFF2-40B4-BE49-F238E27FC236}">
                        <a16:creationId xmlns:a16="http://schemas.microsoft.com/office/drawing/2014/main" id="{C24CFAF0-D041-28D5-796A-E931D58FCF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97201" y="4986224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2" name="Straight Connector 731">
                    <a:extLst>
                      <a:ext uri="{FF2B5EF4-FFF2-40B4-BE49-F238E27FC236}">
                        <a16:creationId xmlns:a16="http://schemas.microsoft.com/office/drawing/2014/main" id="{2753EA69-2B7D-015A-65D0-E64615DFC9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29633" y="4954700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14" name="Straight Connector 713">
                  <a:extLst>
                    <a:ext uri="{FF2B5EF4-FFF2-40B4-BE49-F238E27FC236}">
                      <a16:creationId xmlns:a16="http://schemas.microsoft.com/office/drawing/2014/main" id="{3C926D3C-7078-226E-D25F-57C101567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06023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5" name="Straight Connector 714">
                  <a:extLst>
                    <a:ext uri="{FF2B5EF4-FFF2-40B4-BE49-F238E27FC236}">
                      <a16:creationId xmlns:a16="http://schemas.microsoft.com/office/drawing/2014/main" id="{00E78E21-DADB-93D4-6EFF-11956F324E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12522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6" name="Straight Connector 715">
                  <a:extLst>
                    <a:ext uri="{FF2B5EF4-FFF2-40B4-BE49-F238E27FC236}">
                      <a16:creationId xmlns:a16="http://schemas.microsoft.com/office/drawing/2014/main" id="{4856CA76-5490-3813-FF20-2599857CAA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6812" y="4993723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9" name="Straight Arrow Connector 558">
                <a:extLst>
                  <a:ext uri="{FF2B5EF4-FFF2-40B4-BE49-F238E27FC236}">
                    <a16:creationId xmlns:a16="http://schemas.microsoft.com/office/drawing/2014/main" id="{0BD3D97C-0A25-DC26-31CA-2ED44898D8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9011" y="5304007"/>
                <a:ext cx="1775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0" name="TextBox 559">
                <a:extLst>
                  <a:ext uri="{FF2B5EF4-FFF2-40B4-BE49-F238E27FC236}">
                    <a16:creationId xmlns:a16="http://schemas.microsoft.com/office/drawing/2014/main" id="{E79704C2-9D2B-A013-2B58-A764EDBEFEC2}"/>
                  </a:ext>
                </a:extLst>
              </p:cNvPr>
              <p:cNvSpPr txBox="1"/>
              <p:nvPr/>
            </p:nvSpPr>
            <p:spPr>
              <a:xfrm>
                <a:off x="7324393" y="4682014"/>
                <a:ext cx="552641" cy="536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1000" dirty="0"/>
                  <a:t>α</a:t>
                </a:r>
                <a:r>
                  <a:rPr lang="en-US" sz="1000" dirty="0"/>
                  <a:t>⊙ X</a:t>
                </a:r>
                <a:r>
                  <a:rPr lang="en-US" sz="1000" baseline="30000" dirty="0"/>
                  <a:t>(1)</a:t>
                </a:r>
              </a:p>
              <a:p>
                <a:endParaRPr lang="en-US" sz="1000" dirty="0"/>
              </a:p>
              <a:p>
                <a:endParaRPr lang="en-US" sz="1000" dirty="0"/>
              </a:p>
            </p:txBody>
          </p:sp>
          <p:sp>
            <p:nvSpPr>
              <p:cNvPr id="561" name="TextBox 560">
                <a:extLst>
                  <a:ext uri="{FF2B5EF4-FFF2-40B4-BE49-F238E27FC236}">
                    <a16:creationId xmlns:a16="http://schemas.microsoft.com/office/drawing/2014/main" id="{341A1E20-D5CE-67B5-49FA-CBD533C2E40F}"/>
                  </a:ext>
                </a:extLst>
              </p:cNvPr>
              <p:cNvSpPr txBox="1"/>
              <p:nvPr/>
            </p:nvSpPr>
            <p:spPr>
              <a:xfrm>
                <a:off x="7414143" y="4816963"/>
                <a:ext cx="746569" cy="320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(NXC)</a:t>
                </a:r>
                <a:endParaRPr lang="en-US" dirty="0"/>
              </a:p>
            </p:txBody>
          </p:sp>
          <p:grpSp>
            <p:nvGrpSpPr>
              <p:cNvPr id="562" name="Group 561">
                <a:extLst>
                  <a:ext uri="{FF2B5EF4-FFF2-40B4-BE49-F238E27FC236}">
                    <a16:creationId xmlns:a16="http://schemas.microsoft.com/office/drawing/2014/main" id="{6AA10B61-EA6E-3509-517A-9F0805ADDE5F}"/>
                  </a:ext>
                </a:extLst>
              </p:cNvPr>
              <p:cNvGrpSpPr/>
              <p:nvPr/>
            </p:nvGrpSpPr>
            <p:grpSpPr>
              <a:xfrm>
                <a:off x="8174080" y="5087435"/>
                <a:ext cx="477023" cy="357225"/>
                <a:chOff x="8799061" y="4921715"/>
                <a:chExt cx="469257" cy="387660"/>
              </a:xfrm>
              <a:gradFill>
                <a:gsLst>
                  <a:gs pos="22000">
                    <a:schemeClr val="accent2"/>
                  </a:gs>
                  <a:gs pos="55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>
                      <a:lumMod val="50000"/>
                    </a:schemeClr>
                  </a:gs>
                  <a:gs pos="67000">
                    <a:schemeClr val="accent2">
                      <a:lumMod val="75000"/>
                    </a:schemeClr>
                  </a:gs>
                </a:gsLst>
                <a:path path="rect">
                  <a:fillToRect l="100000" t="100000"/>
                </a:path>
              </a:gradFill>
            </p:grpSpPr>
            <p:grpSp>
              <p:nvGrpSpPr>
                <p:cNvPr id="693" name="Group 692">
                  <a:extLst>
                    <a:ext uri="{FF2B5EF4-FFF2-40B4-BE49-F238E27FC236}">
                      <a16:creationId xmlns:a16="http://schemas.microsoft.com/office/drawing/2014/main" id="{61A58B4A-B923-CE3F-015F-8909F705083B}"/>
                    </a:ext>
                  </a:extLst>
                </p:cNvPr>
                <p:cNvGrpSpPr/>
                <p:nvPr/>
              </p:nvGrpSpPr>
              <p:grpSpPr>
                <a:xfrm>
                  <a:off x="8799061" y="4921715"/>
                  <a:ext cx="469257" cy="387660"/>
                  <a:chOff x="8791024" y="4914826"/>
                  <a:chExt cx="469257" cy="387660"/>
                </a:xfrm>
                <a:grpFill/>
              </p:grpSpPr>
              <p:sp>
                <p:nvSpPr>
                  <p:cNvPr id="697" name="Cube 696">
                    <a:extLst>
                      <a:ext uri="{FF2B5EF4-FFF2-40B4-BE49-F238E27FC236}">
                        <a16:creationId xmlns:a16="http://schemas.microsoft.com/office/drawing/2014/main" id="{0A69F6B2-A6FE-5D9F-1BBD-543047563E4E}"/>
                      </a:ext>
                    </a:extLst>
                  </p:cNvPr>
                  <p:cNvSpPr/>
                  <p:nvPr/>
                </p:nvSpPr>
                <p:spPr>
                  <a:xfrm>
                    <a:off x="8791024" y="4916978"/>
                    <a:ext cx="469257" cy="378158"/>
                  </a:xfrm>
                  <a:prstGeom prst="cube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98" name="Straight Connector 697">
                    <a:extLst>
                      <a:ext uri="{FF2B5EF4-FFF2-40B4-BE49-F238E27FC236}">
                        <a16:creationId xmlns:a16="http://schemas.microsoft.com/office/drawing/2014/main" id="{3141111F-541E-44CB-8209-95694A80BF68}"/>
                      </a:ext>
                    </a:extLst>
                  </p:cNvPr>
                  <p:cNvCxnSpPr>
                    <a:stCxn id="697" idx="2"/>
                    <a:endCxn id="697" idx="4"/>
                  </p:cNvCxnSpPr>
                  <p:nvPr/>
                </p:nvCxnSpPr>
                <p:spPr>
                  <a:xfrm>
                    <a:off x="8791024" y="5153327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9" name="Straight Connector 698">
                    <a:extLst>
                      <a:ext uri="{FF2B5EF4-FFF2-40B4-BE49-F238E27FC236}">
                        <a16:creationId xmlns:a16="http://schemas.microsoft.com/office/drawing/2014/main" id="{15294846-EB8D-DB5A-5128-E9B921B49B49}"/>
                      </a:ext>
                    </a:extLst>
                  </p:cNvPr>
                  <p:cNvCxnSpPr/>
                  <p:nvPr/>
                </p:nvCxnSpPr>
                <p:spPr>
                  <a:xfrm>
                    <a:off x="8791024" y="5215605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0" name="Straight Connector 699">
                    <a:extLst>
                      <a:ext uri="{FF2B5EF4-FFF2-40B4-BE49-F238E27FC236}">
                        <a16:creationId xmlns:a16="http://schemas.microsoft.com/office/drawing/2014/main" id="{99FAE4A7-3406-8920-B159-628689C3DC27}"/>
                      </a:ext>
                    </a:extLst>
                  </p:cNvPr>
                  <p:cNvCxnSpPr/>
                  <p:nvPr/>
                </p:nvCxnSpPr>
                <p:spPr>
                  <a:xfrm>
                    <a:off x="8792094" y="5083946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1" name="Straight Connector 700">
                    <a:extLst>
                      <a:ext uri="{FF2B5EF4-FFF2-40B4-BE49-F238E27FC236}">
                        <a16:creationId xmlns:a16="http://schemas.microsoft.com/office/drawing/2014/main" id="{CDF9B2C6-D998-F9E1-97DB-BA3D5643B7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6039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2" name="Straight Connector 701">
                    <a:extLst>
                      <a:ext uri="{FF2B5EF4-FFF2-40B4-BE49-F238E27FC236}">
                        <a16:creationId xmlns:a16="http://schemas.microsoft.com/office/drawing/2014/main" id="{AF414EFE-48A2-1579-3096-9D8204D975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318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3" name="Straight Connector 702">
                    <a:extLst>
                      <a:ext uri="{FF2B5EF4-FFF2-40B4-BE49-F238E27FC236}">
                        <a16:creationId xmlns:a16="http://schemas.microsoft.com/office/drawing/2014/main" id="{C22157C5-2DBE-51B7-1F5A-B038162BAE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1684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4" name="Straight Connector 703">
                    <a:extLst>
                      <a:ext uri="{FF2B5EF4-FFF2-40B4-BE49-F238E27FC236}">
                        <a16:creationId xmlns:a16="http://schemas.microsoft.com/office/drawing/2014/main" id="{DF9F8B14-DF16-AD24-63B0-4488ECFF1D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842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5" name="Straight Connector 704">
                    <a:extLst>
                      <a:ext uri="{FF2B5EF4-FFF2-40B4-BE49-F238E27FC236}">
                        <a16:creationId xmlns:a16="http://schemas.microsoft.com/office/drawing/2014/main" id="{50675368-4972-BD51-B216-5BD2324CA6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854915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6" name="Straight Connector 705">
                    <a:extLst>
                      <a:ext uri="{FF2B5EF4-FFF2-40B4-BE49-F238E27FC236}">
                        <a16:creationId xmlns:a16="http://schemas.microsoft.com/office/drawing/2014/main" id="{194544CA-086F-9BF9-F18C-4640D8AEA1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29103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7" name="Straight Connector 706">
                    <a:extLst>
                      <a:ext uri="{FF2B5EF4-FFF2-40B4-BE49-F238E27FC236}">
                        <a16:creationId xmlns:a16="http://schemas.microsoft.com/office/drawing/2014/main" id="{F28AD0DF-0FD2-49D2-0784-0D09EAD7C9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13206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8" name="Straight Connector 707">
                    <a:extLst>
                      <a:ext uri="{FF2B5EF4-FFF2-40B4-BE49-F238E27FC236}">
                        <a16:creationId xmlns:a16="http://schemas.microsoft.com/office/drawing/2014/main" id="{FF51BFF7-7A31-72BA-C808-0034C3FE6D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80593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9" name="Straight Connector 708">
                    <a:extLst>
                      <a:ext uri="{FF2B5EF4-FFF2-40B4-BE49-F238E27FC236}">
                        <a16:creationId xmlns:a16="http://schemas.microsoft.com/office/drawing/2014/main" id="{A570C047-ACC6-68A6-CE42-68F3FD39F71F}"/>
                      </a:ext>
                    </a:extLst>
                  </p:cNvPr>
                  <p:cNvCxnSpPr/>
                  <p:nvPr/>
                </p:nvCxnSpPr>
                <p:spPr>
                  <a:xfrm>
                    <a:off x="8825847" y="4986314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0" name="Straight Connector 709">
                    <a:extLst>
                      <a:ext uri="{FF2B5EF4-FFF2-40B4-BE49-F238E27FC236}">
                        <a16:creationId xmlns:a16="http://schemas.microsoft.com/office/drawing/2014/main" id="{81C9AD88-0B84-324C-2FCE-EBB6CE76A11E}"/>
                      </a:ext>
                    </a:extLst>
                  </p:cNvPr>
                  <p:cNvCxnSpPr/>
                  <p:nvPr/>
                </p:nvCxnSpPr>
                <p:spPr>
                  <a:xfrm>
                    <a:off x="8854915" y="4954700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1" name="Straight Connector 710">
                    <a:extLst>
                      <a:ext uri="{FF2B5EF4-FFF2-40B4-BE49-F238E27FC236}">
                        <a16:creationId xmlns:a16="http://schemas.microsoft.com/office/drawing/2014/main" id="{279449E0-79D5-82DE-9672-1BE67E0D0A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97201" y="4986224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2" name="Straight Connector 711">
                    <a:extLst>
                      <a:ext uri="{FF2B5EF4-FFF2-40B4-BE49-F238E27FC236}">
                        <a16:creationId xmlns:a16="http://schemas.microsoft.com/office/drawing/2014/main" id="{BEEC98AD-B74E-41B3-3145-630BD3DED0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29633" y="4954700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94" name="Straight Connector 693">
                  <a:extLst>
                    <a:ext uri="{FF2B5EF4-FFF2-40B4-BE49-F238E27FC236}">
                      <a16:creationId xmlns:a16="http://schemas.microsoft.com/office/drawing/2014/main" id="{A95E7A9B-5989-9866-04A2-414CF01B9C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06023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5" name="Straight Connector 694">
                  <a:extLst>
                    <a:ext uri="{FF2B5EF4-FFF2-40B4-BE49-F238E27FC236}">
                      <a16:creationId xmlns:a16="http://schemas.microsoft.com/office/drawing/2014/main" id="{84AAA8EB-F25D-A0AE-D14F-5694406242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12522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6" name="Straight Connector 695">
                  <a:extLst>
                    <a:ext uri="{FF2B5EF4-FFF2-40B4-BE49-F238E27FC236}">
                      <a16:creationId xmlns:a16="http://schemas.microsoft.com/office/drawing/2014/main" id="{FE200CD2-E62E-BB8B-FD08-2163EE31D6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6812" y="4993723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3" name="TextBox 562">
                <a:extLst>
                  <a:ext uri="{FF2B5EF4-FFF2-40B4-BE49-F238E27FC236}">
                    <a16:creationId xmlns:a16="http://schemas.microsoft.com/office/drawing/2014/main" id="{9E79730A-9BA4-5168-E082-626C7B9607E7}"/>
                  </a:ext>
                </a:extLst>
              </p:cNvPr>
              <p:cNvSpPr txBox="1"/>
              <p:nvPr/>
            </p:nvSpPr>
            <p:spPr>
              <a:xfrm>
                <a:off x="8230414" y="4738984"/>
                <a:ext cx="475495" cy="320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H</a:t>
                </a:r>
                <a:r>
                  <a:rPr lang="en-US" sz="1000" baseline="30000" dirty="0"/>
                  <a:t>T</a:t>
                </a:r>
              </a:p>
            </p:txBody>
          </p:sp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4AAE79EA-95E6-AEC9-FA29-89B9C68CB43A}"/>
                  </a:ext>
                </a:extLst>
              </p:cNvPr>
              <p:cNvSpPr txBox="1"/>
              <p:nvPr/>
            </p:nvSpPr>
            <p:spPr>
              <a:xfrm>
                <a:off x="8185957" y="4858763"/>
                <a:ext cx="726674" cy="320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</a:t>
                </a:r>
                <a:r>
                  <a:rPr lang="en-US" sz="1000" dirty="0" err="1"/>
                  <a:t>KxN</a:t>
                </a:r>
                <a:r>
                  <a:rPr lang="en-US" sz="1000" dirty="0"/>
                  <a:t>)</a:t>
                </a:r>
              </a:p>
            </p:txBody>
          </p:sp>
          <p:grpSp>
            <p:nvGrpSpPr>
              <p:cNvPr id="565" name="Group 564">
                <a:extLst>
                  <a:ext uri="{FF2B5EF4-FFF2-40B4-BE49-F238E27FC236}">
                    <a16:creationId xmlns:a16="http://schemas.microsoft.com/office/drawing/2014/main" id="{DC2943C6-69A3-0819-5FAB-F0F93FB4738C}"/>
                  </a:ext>
                </a:extLst>
              </p:cNvPr>
              <p:cNvGrpSpPr/>
              <p:nvPr/>
            </p:nvGrpSpPr>
            <p:grpSpPr>
              <a:xfrm>
                <a:off x="8913904" y="5049930"/>
                <a:ext cx="709713" cy="632687"/>
                <a:chOff x="9525000" y="1598085"/>
                <a:chExt cx="457465" cy="400110"/>
              </a:xfrm>
            </p:grpSpPr>
            <p:sp>
              <p:nvSpPr>
                <p:cNvPr id="691" name="Rectangle 690">
                  <a:extLst>
                    <a:ext uri="{FF2B5EF4-FFF2-40B4-BE49-F238E27FC236}">
                      <a16:creationId xmlns:a16="http://schemas.microsoft.com/office/drawing/2014/main" id="{B9914401-004E-2418-169D-C249AC327A4A}"/>
                    </a:ext>
                  </a:extLst>
                </p:cNvPr>
                <p:cNvSpPr/>
                <p:nvPr/>
              </p:nvSpPr>
              <p:spPr>
                <a:xfrm>
                  <a:off x="9525000" y="1611994"/>
                  <a:ext cx="323850" cy="31052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92" name="TextBox 691">
                  <a:extLst>
                    <a:ext uri="{FF2B5EF4-FFF2-40B4-BE49-F238E27FC236}">
                      <a16:creationId xmlns:a16="http://schemas.microsoft.com/office/drawing/2014/main" id="{5EAB3F32-C45B-BFAF-3162-BB732AB08357}"/>
                    </a:ext>
                  </a:extLst>
                </p:cNvPr>
                <p:cNvSpPr txBox="1"/>
                <p:nvPr/>
              </p:nvSpPr>
              <p:spPr>
                <a:xfrm>
                  <a:off x="9530097" y="1598085"/>
                  <a:ext cx="45236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i="1" dirty="0"/>
                    <a:t>/D</a:t>
                  </a:r>
                  <a:r>
                    <a:rPr lang="en-US" sz="1000" i="1" baseline="-25000" dirty="0"/>
                    <a:t>e</a:t>
                  </a:r>
                </a:p>
                <a:p>
                  <a:r>
                    <a:rPr lang="en-US" sz="1000" i="1" dirty="0"/>
                    <a:t>(</a:t>
                  </a:r>
                  <a:r>
                    <a:rPr lang="en-US" sz="1000" i="1" dirty="0" err="1"/>
                    <a:t>KxK</a:t>
                  </a:r>
                  <a:r>
                    <a:rPr lang="en-US" sz="1000" i="1" dirty="0"/>
                    <a:t>)</a:t>
                  </a:r>
                </a:p>
              </p:txBody>
            </p:sp>
          </p:grpSp>
          <p:grpSp>
            <p:nvGrpSpPr>
              <p:cNvPr id="566" name="Group 565">
                <a:extLst>
                  <a:ext uri="{FF2B5EF4-FFF2-40B4-BE49-F238E27FC236}">
                    <a16:creationId xmlns:a16="http://schemas.microsoft.com/office/drawing/2014/main" id="{E6467D52-08B9-0ACC-FDD6-36AA4EAD1EB4}"/>
                  </a:ext>
                </a:extLst>
              </p:cNvPr>
              <p:cNvGrpSpPr/>
              <p:nvPr/>
            </p:nvGrpSpPr>
            <p:grpSpPr>
              <a:xfrm>
                <a:off x="8580357" y="4431728"/>
                <a:ext cx="1761685" cy="320157"/>
                <a:chOff x="9664700" y="1407354"/>
                <a:chExt cx="1135544" cy="246221"/>
              </a:xfrm>
            </p:grpSpPr>
            <p:sp>
              <p:nvSpPr>
                <p:cNvPr id="689" name="Rectangle 688">
                  <a:extLst>
                    <a:ext uri="{FF2B5EF4-FFF2-40B4-BE49-F238E27FC236}">
                      <a16:creationId xmlns:a16="http://schemas.microsoft.com/office/drawing/2014/main" id="{DF132078-6100-35EC-C456-87B10D90ECC2}"/>
                    </a:ext>
                  </a:extLst>
                </p:cNvPr>
                <p:cNvSpPr/>
                <p:nvPr/>
              </p:nvSpPr>
              <p:spPr>
                <a:xfrm flipV="1">
                  <a:off x="9664700" y="1429979"/>
                  <a:ext cx="783844" cy="182014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90" name="TextBox 689">
                  <a:extLst>
                    <a:ext uri="{FF2B5EF4-FFF2-40B4-BE49-F238E27FC236}">
                      <a16:creationId xmlns:a16="http://schemas.microsoft.com/office/drawing/2014/main" id="{258EEA5B-E0C1-61E5-0ED0-8FF05A960F89}"/>
                    </a:ext>
                  </a:extLst>
                </p:cNvPr>
                <p:cNvSpPr txBox="1"/>
                <p:nvPr/>
              </p:nvSpPr>
              <p:spPr>
                <a:xfrm>
                  <a:off x="9752189" y="1407354"/>
                  <a:ext cx="104805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i="1" dirty="0"/>
                    <a:t>D</a:t>
                  </a:r>
                  <a:r>
                    <a:rPr lang="en-US" sz="1000" i="1" baseline="-25000" dirty="0"/>
                    <a:t>e</a:t>
                  </a:r>
                  <a:r>
                    <a:rPr lang="en-US" sz="1000" dirty="0"/>
                    <a:t>=</a:t>
                  </a:r>
                  <a:r>
                    <a:rPr lang="en-US" sz="1000" dirty="0" err="1"/>
                    <a:t>diag</a:t>
                  </a:r>
                  <a:r>
                    <a:rPr lang="en-US" sz="1000" dirty="0"/>
                    <a:t>(H</a:t>
                  </a:r>
                  <a:r>
                    <a:rPr lang="en-US" sz="1000" baseline="30000" dirty="0"/>
                    <a:t>T</a:t>
                  </a:r>
                  <a:r>
                    <a:rPr lang="en-US" sz="1000" dirty="0"/>
                    <a:t>.1N)</a:t>
                  </a:r>
                </a:p>
              </p:txBody>
            </p:sp>
          </p:grpSp>
          <p:grpSp>
            <p:nvGrpSpPr>
              <p:cNvPr id="567" name="Group 566">
                <a:extLst>
                  <a:ext uri="{FF2B5EF4-FFF2-40B4-BE49-F238E27FC236}">
                    <a16:creationId xmlns:a16="http://schemas.microsoft.com/office/drawing/2014/main" id="{66548827-D156-9102-6B59-6BF0308BF706}"/>
                  </a:ext>
                </a:extLst>
              </p:cNvPr>
              <p:cNvGrpSpPr/>
              <p:nvPr/>
            </p:nvGrpSpPr>
            <p:grpSpPr>
              <a:xfrm>
                <a:off x="9673143" y="5065573"/>
                <a:ext cx="477023" cy="357225"/>
                <a:chOff x="8799061" y="4921715"/>
                <a:chExt cx="469257" cy="387660"/>
              </a:xfrm>
              <a:gradFill>
                <a:gsLst>
                  <a:gs pos="22000">
                    <a:srgbClr val="7030A0"/>
                  </a:gs>
                  <a:gs pos="55000">
                    <a:srgbClr val="7030A0"/>
                  </a:gs>
                  <a:gs pos="100000">
                    <a:srgbClr val="F2EBE6"/>
                  </a:gs>
                  <a:gs pos="67000">
                    <a:srgbClr val="7030A0"/>
                  </a:gs>
                </a:gsLst>
                <a:path path="rect">
                  <a:fillToRect l="100000" t="100000"/>
                </a:path>
              </a:gradFill>
            </p:grpSpPr>
            <p:grpSp>
              <p:nvGrpSpPr>
                <p:cNvPr id="669" name="Group 668">
                  <a:extLst>
                    <a:ext uri="{FF2B5EF4-FFF2-40B4-BE49-F238E27FC236}">
                      <a16:creationId xmlns:a16="http://schemas.microsoft.com/office/drawing/2014/main" id="{DA6F2782-89A6-48FA-0BAB-F4D21AC8D60D}"/>
                    </a:ext>
                  </a:extLst>
                </p:cNvPr>
                <p:cNvGrpSpPr/>
                <p:nvPr/>
              </p:nvGrpSpPr>
              <p:grpSpPr>
                <a:xfrm>
                  <a:off x="8799061" y="4921715"/>
                  <a:ext cx="469257" cy="387660"/>
                  <a:chOff x="8791024" y="4914826"/>
                  <a:chExt cx="469257" cy="387660"/>
                </a:xfrm>
                <a:grpFill/>
              </p:grpSpPr>
              <p:sp>
                <p:nvSpPr>
                  <p:cNvPr id="673" name="Cube 672">
                    <a:extLst>
                      <a:ext uri="{FF2B5EF4-FFF2-40B4-BE49-F238E27FC236}">
                        <a16:creationId xmlns:a16="http://schemas.microsoft.com/office/drawing/2014/main" id="{BD670E7A-DC1F-B2C5-5FF2-756CCAD6F8B6}"/>
                      </a:ext>
                    </a:extLst>
                  </p:cNvPr>
                  <p:cNvSpPr/>
                  <p:nvPr/>
                </p:nvSpPr>
                <p:spPr>
                  <a:xfrm>
                    <a:off x="8791024" y="4916978"/>
                    <a:ext cx="469257" cy="378158"/>
                  </a:xfrm>
                  <a:prstGeom prst="cube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74" name="Straight Connector 673">
                    <a:extLst>
                      <a:ext uri="{FF2B5EF4-FFF2-40B4-BE49-F238E27FC236}">
                        <a16:creationId xmlns:a16="http://schemas.microsoft.com/office/drawing/2014/main" id="{14BA59CA-6D0C-902C-B9BB-77AE15D179FA}"/>
                      </a:ext>
                    </a:extLst>
                  </p:cNvPr>
                  <p:cNvCxnSpPr>
                    <a:stCxn id="673" idx="2"/>
                    <a:endCxn id="673" idx="4"/>
                  </p:cNvCxnSpPr>
                  <p:nvPr/>
                </p:nvCxnSpPr>
                <p:spPr>
                  <a:xfrm>
                    <a:off x="8791024" y="5153327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5" name="Straight Connector 674">
                    <a:extLst>
                      <a:ext uri="{FF2B5EF4-FFF2-40B4-BE49-F238E27FC236}">
                        <a16:creationId xmlns:a16="http://schemas.microsoft.com/office/drawing/2014/main" id="{F570CC6E-CEF5-B47C-3690-C2326DAD39CE}"/>
                      </a:ext>
                    </a:extLst>
                  </p:cNvPr>
                  <p:cNvCxnSpPr/>
                  <p:nvPr/>
                </p:nvCxnSpPr>
                <p:spPr>
                  <a:xfrm>
                    <a:off x="8791024" y="5215605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6" name="Straight Connector 675">
                    <a:extLst>
                      <a:ext uri="{FF2B5EF4-FFF2-40B4-BE49-F238E27FC236}">
                        <a16:creationId xmlns:a16="http://schemas.microsoft.com/office/drawing/2014/main" id="{F0E5B296-9AEC-8470-9206-EEAF54D4CA15}"/>
                      </a:ext>
                    </a:extLst>
                  </p:cNvPr>
                  <p:cNvCxnSpPr/>
                  <p:nvPr/>
                </p:nvCxnSpPr>
                <p:spPr>
                  <a:xfrm>
                    <a:off x="8792094" y="5083946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7" name="Straight Connector 676">
                    <a:extLst>
                      <a:ext uri="{FF2B5EF4-FFF2-40B4-BE49-F238E27FC236}">
                        <a16:creationId xmlns:a16="http://schemas.microsoft.com/office/drawing/2014/main" id="{19ED5484-2AFD-C2C6-88E2-2E74126957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6039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8" name="Straight Connector 677">
                    <a:extLst>
                      <a:ext uri="{FF2B5EF4-FFF2-40B4-BE49-F238E27FC236}">
                        <a16:creationId xmlns:a16="http://schemas.microsoft.com/office/drawing/2014/main" id="{6FFE6ED4-83B2-33C7-6E4F-9CF8BE35A7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318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9" name="Straight Connector 678">
                    <a:extLst>
                      <a:ext uri="{FF2B5EF4-FFF2-40B4-BE49-F238E27FC236}">
                        <a16:creationId xmlns:a16="http://schemas.microsoft.com/office/drawing/2014/main" id="{BF171759-A97D-57EC-A343-0BDC69E3BC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1684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0" name="Straight Connector 679">
                    <a:extLst>
                      <a:ext uri="{FF2B5EF4-FFF2-40B4-BE49-F238E27FC236}">
                        <a16:creationId xmlns:a16="http://schemas.microsoft.com/office/drawing/2014/main" id="{E6E57940-AFE4-4DC1-6DFA-9B5D092E3E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842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1" name="Straight Connector 680">
                    <a:extLst>
                      <a:ext uri="{FF2B5EF4-FFF2-40B4-BE49-F238E27FC236}">
                        <a16:creationId xmlns:a16="http://schemas.microsoft.com/office/drawing/2014/main" id="{93C6710E-4B80-3BD5-2654-B86A8B573F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854915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2" name="Straight Connector 681">
                    <a:extLst>
                      <a:ext uri="{FF2B5EF4-FFF2-40B4-BE49-F238E27FC236}">
                        <a16:creationId xmlns:a16="http://schemas.microsoft.com/office/drawing/2014/main" id="{F6EA4938-17ED-9A5A-B6DA-564A910572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29103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3" name="Straight Connector 682">
                    <a:extLst>
                      <a:ext uri="{FF2B5EF4-FFF2-40B4-BE49-F238E27FC236}">
                        <a16:creationId xmlns:a16="http://schemas.microsoft.com/office/drawing/2014/main" id="{2FCEAE07-51FD-1DC6-0DD3-2841B2F998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13206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4" name="Straight Connector 683">
                    <a:extLst>
                      <a:ext uri="{FF2B5EF4-FFF2-40B4-BE49-F238E27FC236}">
                        <a16:creationId xmlns:a16="http://schemas.microsoft.com/office/drawing/2014/main" id="{5E583913-E820-11DD-E37F-684EDB0B02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80593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5" name="Straight Connector 684">
                    <a:extLst>
                      <a:ext uri="{FF2B5EF4-FFF2-40B4-BE49-F238E27FC236}">
                        <a16:creationId xmlns:a16="http://schemas.microsoft.com/office/drawing/2014/main" id="{089D45DA-5B83-3506-A7D2-9E5CBE5A96C8}"/>
                      </a:ext>
                    </a:extLst>
                  </p:cNvPr>
                  <p:cNvCxnSpPr/>
                  <p:nvPr/>
                </p:nvCxnSpPr>
                <p:spPr>
                  <a:xfrm>
                    <a:off x="8825847" y="4986314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6" name="Straight Connector 685">
                    <a:extLst>
                      <a:ext uri="{FF2B5EF4-FFF2-40B4-BE49-F238E27FC236}">
                        <a16:creationId xmlns:a16="http://schemas.microsoft.com/office/drawing/2014/main" id="{6D5DE067-E852-DD57-00A3-4F40D3BE8E0F}"/>
                      </a:ext>
                    </a:extLst>
                  </p:cNvPr>
                  <p:cNvCxnSpPr/>
                  <p:nvPr/>
                </p:nvCxnSpPr>
                <p:spPr>
                  <a:xfrm>
                    <a:off x="8854915" y="4954700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7" name="Straight Connector 686">
                    <a:extLst>
                      <a:ext uri="{FF2B5EF4-FFF2-40B4-BE49-F238E27FC236}">
                        <a16:creationId xmlns:a16="http://schemas.microsoft.com/office/drawing/2014/main" id="{09063979-F059-917D-4962-AE5C7C6081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97201" y="4986224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8" name="Straight Connector 687">
                    <a:extLst>
                      <a:ext uri="{FF2B5EF4-FFF2-40B4-BE49-F238E27FC236}">
                        <a16:creationId xmlns:a16="http://schemas.microsoft.com/office/drawing/2014/main" id="{558A4B00-2CDD-9B7B-3822-9E4AD1B98A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29633" y="4954700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70" name="Straight Connector 669">
                  <a:extLst>
                    <a:ext uri="{FF2B5EF4-FFF2-40B4-BE49-F238E27FC236}">
                      <a16:creationId xmlns:a16="http://schemas.microsoft.com/office/drawing/2014/main" id="{360B170E-F576-BFC2-29B4-DEB7D9547A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06023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1" name="Straight Connector 670">
                  <a:extLst>
                    <a:ext uri="{FF2B5EF4-FFF2-40B4-BE49-F238E27FC236}">
                      <a16:creationId xmlns:a16="http://schemas.microsoft.com/office/drawing/2014/main" id="{EEA46608-6367-0B49-FCA1-58EA956DA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12522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2" name="Straight Connector 671">
                  <a:extLst>
                    <a:ext uri="{FF2B5EF4-FFF2-40B4-BE49-F238E27FC236}">
                      <a16:creationId xmlns:a16="http://schemas.microsoft.com/office/drawing/2014/main" id="{C95F3A1E-92E9-F89F-2919-516D4AE6F0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6812" y="4993723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68" name="Straight Arrow Connector 567">
                <a:extLst>
                  <a:ext uri="{FF2B5EF4-FFF2-40B4-BE49-F238E27FC236}">
                    <a16:creationId xmlns:a16="http://schemas.microsoft.com/office/drawing/2014/main" id="{79D803FD-4045-9479-7DD8-210A285F95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7538" y="5520543"/>
                <a:ext cx="90092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Arrow Connector 568">
                <a:extLst>
                  <a:ext uri="{FF2B5EF4-FFF2-40B4-BE49-F238E27FC236}">
                    <a16:creationId xmlns:a16="http://schemas.microsoft.com/office/drawing/2014/main" id="{BD66147C-049C-0670-230E-1576AEFC7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9428" y="5253014"/>
                <a:ext cx="24982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0" name="TextBox 569">
                <a:extLst>
                  <a:ext uri="{FF2B5EF4-FFF2-40B4-BE49-F238E27FC236}">
                    <a16:creationId xmlns:a16="http://schemas.microsoft.com/office/drawing/2014/main" id="{DD8C77F1-FDEA-187C-42FA-D3E37968667E}"/>
                  </a:ext>
                </a:extLst>
              </p:cNvPr>
              <p:cNvSpPr txBox="1"/>
              <p:nvPr/>
            </p:nvSpPr>
            <p:spPr>
              <a:xfrm>
                <a:off x="9707556" y="4797463"/>
                <a:ext cx="1122588" cy="245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F</a:t>
                </a:r>
                <a:r>
                  <a:rPr lang="en-US" sz="1050" baseline="-25000" dirty="0"/>
                  <a:t> </a:t>
                </a:r>
                <a:r>
                  <a:rPr lang="en-US" sz="1050" baseline="-25000" dirty="0" err="1"/>
                  <a:t>hyp</a:t>
                </a:r>
                <a:r>
                  <a:rPr lang="en-US" sz="1050" baseline="30000" dirty="0"/>
                  <a:t>(2)</a:t>
                </a:r>
                <a:endParaRPr lang="en-US" sz="1050" baseline="-25000" dirty="0"/>
              </a:p>
            </p:txBody>
          </p:sp>
          <p:sp>
            <p:nvSpPr>
              <p:cNvPr id="571" name="TextBox 570">
                <a:extLst>
                  <a:ext uri="{FF2B5EF4-FFF2-40B4-BE49-F238E27FC236}">
                    <a16:creationId xmlns:a16="http://schemas.microsoft.com/office/drawing/2014/main" id="{D996E947-CF3A-6C3B-5EBA-B76CBEC1F9F3}"/>
                  </a:ext>
                </a:extLst>
              </p:cNvPr>
              <p:cNvSpPr txBox="1"/>
              <p:nvPr/>
            </p:nvSpPr>
            <p:spPr>
              <a:xfrm>
                <a:off x="9959398" y="5346941"/>
                <a:ext cx="704290" cy="320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</a:t>
                </a:r>
                <a:r>
                  <a:rPr lang="en-US" sz="1000" dirty="0" err="1"/>
                  <a:t>KxC</a:t>
                </a:r>
                <a:r>
                  <a:rPr lang="en-US" sz="1000" dirty="0"/>
                  <a:t>)</a:t>
                </a:r>
              </a:p>
            </p:txBody>
          </p:sp>
          <p:grpSp>
            <p:nvGrpSpPr>
              <p:cNvPr id="572" name="Group 571">
                <a:extLst>
                  <a:ext uri="{FF2B5EF4-FFF2-40B4-BE49-F238E27FC236}">
                    <a16:creationId xmlns:a16="http://schemas.microsoft.com/office/drawing/2014/main" id="{361C82DE-994B-FBBA-D01C-EEF290B410CD}"/>
                  </a:ext>
                </a:extLst>
              </p:cNvPr>
              <p:cNvGrpSpPr/>
              <p:nvPr/>
            </p:nvGrpSpPr>
            <p:grpSpPr>
              <a:xfrm>
                <a:off x="7873597" y="5138445"/>
                <a:ext cx="278408" cy="253984"/>
                <a:chOff x="8180098" y="5433462"/>
                <a:chExt cx="294331" cy="296333"/>
              </a:xfrm>
            </p:grpSpPr>
            <p:sp>
              <p:nvSpPr>
                <p:cNvPr id="667" name="Oval 666">
                  <a:extLst>
                    <a:ext uri="{FF2B5EF4-FFF2-40B4-BE49-F238E27FC236}">
                      <a16:creationId xmlns:a16="http://schemas.microsoft.com/office/drawing/2014/main" id="{C6825467-8026-156E-030E-3C03A3E5F17C}"/>
                    </a:ext>
                  </a:extLst>
                </p:cNvPr>
                <p:cNvSpPr/>
                <p:nvPr/>
              </p:nvSpPr>
              <p:spPr>
                <a:xfrm>
                  <a:off x="8180098" y="5433462"/>
                  <a:ext cx="294331" cy="29633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8" name="Multiplication Sign 667">
                  <a:extLst>
                    <a:ext uri="{FF2B5EF4-FFF2-40B4-BE49-F238E27FC236}">
                      <a16:creationId xmlns:a16="http://schemas.microsoft.com/office/drawing/2014/main" id="{F1D88104-1C8D-7D43-4E71-01AB35828E6E}"/>
                    </a:ext>
                  </a:extLst>
                </p:cNvPr>
                <p:cNvSpPr/>
                <p:nvPr/>
              </p:nvSpPr>
              <p:spPr>
                <a:xfrm>
                  <a:off x="8213106" y="5433752"/>
                  <a:ext cx="246322" cy="295751"/>
                </a:xfrm>
                <a:prstGeom prst="mathMultiply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573" name="Straight Arrow Connector 572">
                <a:extLst>
                  <a:ext uri="{FF2B5EF4-FFF2-40B4-BE49-F238E27FC236}">
                    <a16:creationId xmlns:a16="http://schemas.microsoft.com/office/drawing/2014/main" id="{C37128A2-2FA9-E3FC-192B-56D5D0C4DE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40547" y="4718495"/>
                <a:ext cx="8318" cy="2585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4" name="Group 573">
                <a:extLst>
                  <a:ext uri="{FF2B5EF4-FFF2-40B4-BE49-F238E27FC236}">
                    <a16:creationId xmlns:a16="http://schemas.microsoft.com/office/drawing/2014/main" id="{4AE048EA-2C5B-2C06-B1FD-372D07367489}"/>
                  </a:ext>
                </a:extLst>
              </p:cNvPr>
              <p:cNvGrpSpPr/>
              <p:nvPr/>
            </p:nvGrpSpPr>
            <p:grpSpPr>
              <a:xfrm>
                <a:off x="10172340" y="5075279"/>
                <a:ext cx="278408" cy="253984"/>
                <a:chOff x="8180098" y="5433462"/>
                <a:chExt cx="294331" cy="296333"/>
              </a:xfrm>
            </p:grpSpPr>
            <p:sp>
              <p:nvSpPr>
                <p:cNvPr id="665" name="Oval 664">
                  <a:extLst>
                    <a:ext uri="{FF2B5EF4-FFF2-40B4-BE49-F238E27FC236}">
                      <a16:creationId xmlns:a16="http://schemas.microsoft.com/office/drawing/2014/main" id="{62B4B3B8-79B3-5A76-9F13-6ADEBD8C67E7}"/>
                    </a:ext>
                  </a:extLst>
                </p:cNvPr>
                <p:cNvSpPr/>
                <p:nvPr/>
              </p:nvSpPr>
              <p:spPr>
                <a:xfrm>
                  <a:off x="8180098" y="5433462"/>
                  <a:ext cx="294331" cy="29633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66" name="Multiplication Sign 665">
                  <a:extLst>
                    <a:ext uri="{FF2B5EF4-FFF2-40B4-BE49-F238E27FC236}">
                      <a16:creationId xmlns:a16="http://schemas.microsoft.com/office/drawing/2014/main" id="{197735E5-11CB-54E7-BCB8-DE9A6F42DBB9}"/>
                    </a:ext>
                  </a:extLst>
                </p:cNvPr>
                <p:cNvSpPr/>
                <p:nvPr/>
              </p:nvSpPr>
              <p:spPr>
                <a:xfrm>
                  <a:off x="8213106" y="5433752"/>
                  <a:ext cx="246322" cy="295751"/>
                </a:xfrm>
                <a:prstGeom prst="mathMultiply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5" name="Group 574">
                <a:extLst>
                  <a:ext uri="{FF2B5EF4-FFF2-40B4-BE49-F238E27FC236}">
                    <a16:creationId xmlns:a16="http://schemas.microsoft.com/office/drawing/2014/main" id="{ED61E445-6758-C35A-800B-374741B47042}"/>
                  </a:ext>
                </a:extLst>
              </p:cNvPr>
              <p:cNvGrpSpPr/>
              <p:nvPr/>
            </p:nvGrpSpPr>
            <p:grpSpPr>
              <a:xfrm>
                <a:off x="10472128" y="5043882"/>
                <a:ext cx="477023" cy="357225"/>
                <a:chOff x="8799061" y="4921715"/>
                <a:chExt cx="469257" cy="387660"/>
              </a:xfrm>
              <a:gradFill>
                <a:gsLst>
                  <a:gs pos="22000">
                    <a:srgbClr val="FF0000"/>
                  </a:gs>
                  <a:gs pos="55000">
                    <a:schemeClr val="accent4">
                      <a:lumMod val="60000"/>
                      <a:lumOff val="40000"/>
                    </a:schemeClr>
                  </a:gs>
                  <a:gs pos="100000">
                    <a:srgbClr val="FF0000"/>
                  </a:gs>
                  <a:gs pos="67000">
                    <a:srgbClr val="FFC000"/>
                  </a:gs>
                </a:gsLst>
                <a:path path="rect">
                  <a:fillToRect l="100000" t="100000"/>
                </a:path>
              </a:gradFill>
            </p:grpSpPr>
            <p:grpSp>
              <p:nvGrpSpPr>
                <p:cNvPr id="645" name="Group 644">
                  <a:extLst>
                    <a:ext uri="{FF2B5EF4-FFF2-40B4-BE49-F238E27FC236}">
                      <a16:creationId xmlns:a16="http://schemas.microsoft.com/office/drawing/2014/main" id="{897F4582-F275-9987-BA53-754F5726743B}"/>
                    </a:ext>
                  </a:extLst>
                </p:cNvPr>
                <p:cNvGrpSpPr/>
                <p:nvPr/>
              </p:nvGrpSpPr>
              <p:grpSpPr>
                <a:xfrm>
                  <a:off x="8799061" y="4921715"/>
                  <a:ext cx="469257" cy="387660"/>
                  <a:chOff x="8791024" y="4914826"/>
                  <a:chExt cx="469257" cy="387660"/>
                </a:xfrm>
                <a:grpFill/>
              </p:grpSpPr>
              <p:sp>
                <p:nvSpPr>
                  <p:cNvPr id="649" name="Cube 648">
                    <a:extLst>
                      <a:ext uri="{FF2B5EF4-FFF2-40B4-BE49-F238E27FC236}">
                        <a16:creationId xmlns:a16="http://schemas.microsoft.com/office/drawing/2014/main" id="{01182736-DD7C-4CAC-0697-0D2AA12BC506}"/>
                      </a:ext>
                    </a:extLst>
                  </p:cNvPr>
                  <p:cNvSpPr/>
                  <p:nvPr/>
                </p:nvSpPr>
                <p:spPr>
                  <a:xfrm>
                    <a:off x="8791024" y="4916978"/>
                    <a:ext cx="469257" cy="378158"/>
                  </a:xfrm>
                  <a:prstGeom prst="cube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50" name="Straight Connector 649">
                    <a:extLst>
                      <a:ext uri="{FF2B5EF4-FFF2-40B4-BE49-F238E27FC236}">
                        <a16:creationId xmlns:a16="http://schemas.microsoft.com/office/drawing/2014/main" id="{8A79D108-A768-6C43-5D2E-E5DF50D0E073}"/>
                      </a:ext>
                    </a:extLst>
                  </p:cNvPr>
                  <p:cNvCxnSpPr>
                    <a:stCxn id="649" idx="2"/>
                    <a:endCxn id="649" idx="4"/>
                  </p:cNvCxnSpPr>
                  <p:nvPr/>
                </p:nvCxnSpPr>
                <p:spPr>
                  <a:xfrm>
                    <a:off x="8791024" y="5153327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1" name="Straight Connector 650">
                    <a:extLst>
                      <a:ext uri="{FF2B5EF4-FFF2-40B4-BE49-F238E27FC236}">
                        <a16:creationId xmlns:a16="http://schemas.microsoft.com/office/drawing/2014/main" id="{C06B78B7-6C6A-AC37-44D1-46226632C9F0}"/>
                      </a:ext>
                    </a:extLst>
                  </p:cNvPr>
                  <p:cNvCxnSpPr/>
                  <p:nvPr/>
                </p:nvCxnSpPr>
                <p:spPr>
                  <a:xfrm>
                    <a:off x="8791024" y="5215605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2" name="Straight Connector 651">
                    <a:extLst>
                      <a:ext uri="{FF2B5EF4-FFF2-40B4-BE49-F238E27FC236}">
                        <a16:creationId xmlns:a16="http://schemas.microsoft.com/office/drawing/2014/main" id="{7BED0225-C6B6-3041-1455-6BF4A220CD2F}"/>
                      </a:ext>
                    </a:extLst>
                  </p:cNvPr>
                  <p:cNvCxnSpPr/>
                  <p:nvPr/>
                </p:nvCxnSpPr>
                <p:spPr>
                  <a:xfrm>
                    <a:off x="8792094" y="5083946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3" name="Straight Connector 652">
                    <a:extLst>
                      <a:ext uri="{FF2B5EF4-FFF2-40B4-BE49-F238E27FC236}">
                        <a16:creationId xmlns:a16="http://schemas.microsoft.com/office/drawing/2014/main" id="{FE5E7725-CB2E-84AC-1388-F3217AC734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6039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4" name="Straight Connector 653">
                    <a:extLst>
                      <a:ext uri="{FF2B5EF4-FFF2-40B4-BE49-F238E27FC236}">
                        <a16:creationId xmlns:a16="http://schemas.microsoft.com/office/drawing/2014/main" id="{8F159790-51B7-2965-5BDF-5E4D5DA7AD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318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5" name="Straight Connector 654">
                    <a:extLst>
                      <a:ext uri="{FF2B5EF4-FFF2-40B4-BE49-F238E27FC236}">
                        <a16:creationId xmlns:a16="http://schemas.microsoft.com/office/drawing/2014/main" id="{82F7AF2E-41C8-9949-D3F1-22A7F3F056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1684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6" name="Straight Connector 655">
                    <a:extLst>
                      <a:ext uri="{FF2B5EF4-FFF2-40B4-BE49-F238E27FC236}">
                        <a16:creationId xmlns:a16="http://schemas.microsoft.com/office/drawing/2014/main" id="{69B3B5B3-9289-6EBD-332D-F8D5094E3F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842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7" name="Straight Connector 656">
                    <a:extLst>
                      <a:ext uri="{FF2B5EF4-FFF2-40B4-BE49-F238E27FC236}">
                        <a16:creationId xmlns:a16="http://schemas.microsoft.com/office/drawing/2014/main" id="{60832BEF-9BE3-A99C-04BE-A71FECD179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854915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8" name="Straight Connector 657">
                    <a:extLst>
                      <a:ext uri="{FF2B5EF4-FFF2-40B4-BE49-F238E27FC236}">
                        <a16:creationId xmlns:a16="http://schemas.microsoft.com/office/drawing/2014/main" id="{63642BCA-91F5-B770-1652-A8453BA5C4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29103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9" name="Straight Connector 658">
                    <a:extLst>
                      <a:ext uri="{FF2B5EF4-FFF2-40B4-BE49-F238E27FC236}">
                        <a16:creationId xmlns:a16="http://schemas.microsoft.com/office/drawing/2014/main" id="{E1037295-C6D1-FA98-EDD0-AC7A85CCC9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13206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0" name="Straight Connector 659">
                    <a:extLst>
                      <a:ext uri="{FF2B5EF4-FFF2-40B4-BE49-F238E27FC236}">
                        <a16:creationId xmlns:a16="http://schemas.microsoft.com/office/drawing/2014/main" id="{8FA64978-61B6-1DDF-783D-42A0A20CD2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80593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1" name="Straight Connector 660">
                    <a:extLst>
                      <a:ext uri="{FF2B5EF4-FFF2-40B4-BE49-F238E27FC236}">
                        <a16:creationId xmlns:a16="http://schemas.microsoft.com/office/drawing/2014/main" id="{DF3DA750-CA68-6415-D326-05D3F8D8CAAF}"/>
                      </a:ext>
                    </a:extLst>
                  </p:cNvPr>
                  <p:cNvCxnSpPr/>
                  <p:nvPr/>
                </p:nvCxnSpPr>
                <p:spPr>
                  <a:xfrm>
                    <a:off x="8825847" y="4986314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2" name="Straight Connector 661">
                    <a:extLst>
                      <a:ext uri="{FF2B5EF4-FFF2-40B4-BE49-F238E27FC236}">
                        <a16:creationId xmlns:a16="http://schemas.microsoft.com/office/drawing/2014/main" id="{BEB0FE87-FAC3-9CE3-7A72-6779DF758CBC}"/>
                      </a:ext>
                    </a:extLst>
                  </p:cNvPr>
                  <p:cNvCxnSpPr/>
                  <p:nvPr/>
                </p:nvCxnSpPr>
                <p:spPr>
                  <a:xfrm>
                    <a:off x="8854915" y="4954700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3" name="Straight Connector 662">
                    <a:extLst>
                      <a:ext uri="{FF2B5EF4-FFF2-40B4-BE49-F238E27FC236}">
                        <a16:creationId xmlns:a16="http://schemas.microsoft.com/office/drawing/2014/main" id="{3C28F93B-CEBD-6033-7664-093B606E5C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97201" y="4986224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4" name="Straight Connector 663">
                    <a:extLst>
                      <a:ext uri="{FF2B5EF4-FFF2-40B4-BE49-F238E27FC236}">
                        <a16:creationId xmlns:a16="http://schemas.microsoft.com/office/drawing/2014/main" id="{2EB82F8F-5F9F-C3EA-5377-768595AFDC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29633" y="4954700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46" name="Straight Connector 645">
                  <a:extLst>
                    <a:ext uri="{FF2B5EF4-FFF2-40B4-BE49-F238E27FC236}">
                      <a16:creationId xmlns:a16="http://schemas.microsoft.com/office/drawing/2014/main" id="{3B7A4CFF-E961-C80E-48CD-5799DB3EDD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06023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Straight Connector 646">
                  <a:extLst>
                    <a:ext uri="{FF2B5EF4-FFF2-40B4-BE49-F238E27FC236}">
                      <a16:creationId xmlns:a16="http://schemas.microsoft.com/office/drawing/2014/main" id="{AB01ADD4-6DBA-1697-E16A-6DDF78FF87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12522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Straight Connector 647">
                  <a:extLst>
                    <a:ext uri="{FF2B5EF4-FFF2-40B4-BE49-F238E27FC236}">
                      <a16:creationId xmlns:a16="http://schemas.microsoft.com/office/drawing/2014/main" id="{C5385875-7486-8971-EBAA-17FD432907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6812" y="4993723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6" name="TextBox 575">
                <a:extLst>
                  <a:ext uri="{FF2B5EF4-FFF2-40B4-BE49-F238E27FC236}">
                    <a16:creationId xmlns:a16="http://schemas.microsoft.com/office/drawing/2014/main" id="{DBD07F87-398D-92AB-89D9-06DDF493557C}"/>
                  </a:ext>
                </a:extLst>
              </p:cNvPr>
              <p:cNvSpPr txBox="1"/>
              <p:nvPr/>
            </p:nvSpPr>
            <p:spPr>
              <a:xfrm>
                <a:off x="10454332" y="4682806"/>
                <a:ext cx="449559" cy="387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H</a:t>
                </a:r>
              </a:p>
              <a:p>
                <a:pPr algn="ctr"/>
                <a:r>
                  <a:rPr lang="en-US" sz="1000" dirty="0"/>
                  <a:t>(</a:t>
                </a:r>
                <a:r>
                  <a:rPr lang="en-US" sz="1000" dirty="0" err="1"/>
                  <a:t>NxK</a:t>
                </a:r>
                <a:r>
                  <a:rPr lang="en-US" sz="1000" dirty="0"/>
                  <a:t>)</a:t>
                </a:r>
              </a:p>
            </p:txBody>
          </p:sp>
          <p:cxnSp>
            <p:nvCxnSpPr>
              <p:cNvPr id="577" name="Straight Arrow Connector 576">
                <a:extLst>
                  <a:ext uri="{FF2B5EF4-FFF2-40B4-BE49-F238E27FC236}">
                    <a16:creationId xmlns:a16="http://schemas.microsoft.com/office/drawing/2014/main" id="{1FB8DB92-B854-FC3D-7859-CFCD72014F58}"/>
                  </a:ext>
                </a:extLst>
              </p:cNvPr>
              <p:cNvCxnSpPr>
                <a:stCxn id="649" idx="5"/>
              </p:cNvCxnSpPr>
              <p:nvPr/>
            </p:nvCxnSpPr>
            <p:spPr>
              <a:xfrm flipV="1">
                <a:off x="10949152" y="5173817"/>
                <a:ext cx="217727" cy="27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8" name="Group 577">
                <a:extLst>
                  <a:ext uri="{FF2B5EF4-FFF2-40B4-BE49-F238E27FC236}">
                    <a16:creationId xmlns:a16="http://schemas.microsoft.com/office/drawing/2014/main" id="{7FE305DB-D9B3-ECF5-AE3C-D855D19B671B}"/>
                  </a:ext>
                </a:extLst>
              </p:cNvPr>
              <p:cNvGrpSpPr/>
              <p:nvPr/>
            </p:nvGrpSpPr>
            <p:grpSpPr>
              <a:xfrm>
                <a:off x="11181540" y="5033019"/>
                <a:ext cx="477023" cy="357225"/>
                <a:chOff x="8799061" y="4921715"/>
                <a:chExt cx="469257" cy="387660"/>
              </a:xfrm>
              <a:gradFill>
                <a:gsLst>
                  <a:gs pos="22000">
                    <a:srgbClr val="7030A0"/>
                  </a:gs>
                  <a:gs pos="55000">
                    <a:schemeClr val="bg1"/>
                  </a:gs>
                  <a:gs pos="100000">
                    <a:srgbClr val="FF00FF"/>
                  </a:gs>
                  <a:gs pos="67000">
                    <a:srgbClr val="FF00FF"/>
                  </a:gs>
                </a:gsLst>
                <a:path path="rect">
                  <a:fillToRect l="100000" t="100000"/>
                </a:path>
              </a:gradFill>
            </p:grpSpPr>
            <p:grpSp>
              <p:nvGrpSpPr>
                <p:cNvPr id="625" name="Group 624">
                  <a:extLst>
                    <a:ext uri="{FF2B5EF4-FFF2-40B4-BE49-F238E27FC236}">
                      <a16:creationId xmlns:a16="http://schemas.microsoft.com/office/drawing/2014/main" id="{2F85B390-B320-6656-A7D3-2C48D7A83C45}"/>
                    </a:ext>
                  </a:extLst>
                </p:cNvPr>
                <p:cNvGrpSpPr/>
                <p:nvPr/>
              </p:nvGrpSpPr>
              <p:grpSpPr>
                <a:xfrm>
                  <a:off x="8799061" y="4921715"/>
                  <a:ext cx="469257" cy="387660"/>
                  <a:chOff x="8791024" y="4914826"/>
                  <a:chExt cx="469257" cy="387660"/>
                </a:xfrm>
                <a:grpFill/>
              </p:grpSpPr>
              <p:sp>
                <p:nvSpPr>
                  <p:cNvPr id="629" name="Cube 628">
                    <a:extLst>
                      <a:ext uri="{FF2B5EF4-FFF2-40B4-BE49-F238E27FC236}">
                        <a16:creationId xmlns:a16="http://schemas.microsoft.com/office/drawing/2014/main" id="{56F1CF0A-4AAB-F54A-CFD8-3308CD3D16B1}"/>
                      </a:ext>
                    </a:extLst>
                  </p:cNvPr>
                  <p:cNvSpPr/>
                  <p:nvPr/>
                </p:nvSpPr>
                <p:spPr>
                  <a:xfrm>
                    <a:off x="8791024" y="4916978"/>
                    <a:ext cx="469257" cy="378158"/>
                  </a:xfrm>
                  <a:prstGeom prst="cub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30" name="Straight Connector 629">
                    <a:extLst>
                      <a:ext uri="{FF2B5EF4-FFF2-40B4-BE49-F238E27FC236}">
                        <a16:creationId xmlns:a16="http://schemas.microsoft.com/office/drawing/2014/main" id="{A4A685DF-8929-CEA7-AF15-8572A59528F9}"/>
                      </a:ext>
                    </a:extLst>
                  </p:cNvPr>
                  <p:cNvCxnSpPr>
                    <a:stCxn id="629" idx="2"/>
                    <a:endCxn id="629" idx="4"/>
                  </p:cNvCxnSpPr>
                  <p:nvPr/>
                </p:nvCxnSpPr>
                <p:spPr>
                  <a:xfrm>
                    <a:off x="8791024" y="5153327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1" name="Straight Connector 630">
                    <a:extLst>
                      <a:ext uri="{FF2B5EF4-FFF2-40B4-BE49-F238E27FC236}">
                        <a16:creationId xmlns:a16="http://schemas.microsoft.com/office/drawing/2014/main" id="{2E7B62C9-C9B2-178E-C1A5-962E25D1E3FD}"/>
                      </a:ext>
                    </a:extLst>
                  </p:cNvPr>
                  <p:cNvCxnSpPr/>
                  <p:nvPr/>
                </p:nvCxnSpPr>
                <p:spPr>
                  <a:xfrm>
                    <a:off x="8791024" y="5215605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2" name="Straight Connector 631">
                    <a:extLst>
                      <a:ext uri="{FF2B5EF4-FFF2-40B4-BE49-F238E27FC236}">
                        <a16:creationId xmlns:a16="http://schemas.microsoft.com/office/drawing/2014/main" id="{E9BDF0C8-F93C-391D-D7BE-658177852E1C}"/>
                      </a:ext>
                    </a:extLst>
                  </p:cNvPr>
                  <p:cNvCxnSpPr/>
                  <p:nvPr/>
                </p:nvCxnSpPr>
                <p:spPr>
                  <a:xfrm>
                    <a:off x="8792094" y="5083946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3" name="Straight Connector 632">
                    <a:extLst>
                      <a:ext uri="{FF2B5EF4-FFF2-40B4-BE49-F238E27FC236}">
                        <a16:creationId xmlns:a16="http://schemas.microsoft.com/office/drawing/2014/main" id="{809D5538-27A5-B784-B8BA-FC27BD626D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6039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4" name="Straight Connector 633">
                    <a:extLst>
                      <a:ext uri="{FF2B5EF4-FFF2-40B4-BE49-F238E27FC236}">
                        <a16:creationId xmlns:a16="http://schemas.microsoft.com/office/drawing/2014/main" id="{BC75DC98-D14F-2360-91A9-E5E789D7F5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318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5" name="Straight Connector 634">
                    <a:extLst>
                      <a:ext uri="{FF2B5EF4-FFF2-40B4-BE49-F238E27FC236}">
                        <a16:creationId xmlns:a16="http://schemas.microsoft.com/office/drawing/2014/main" id="{F9C83544-45F2-AE50-6935-B5B1F25446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1684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6" name="Straight Connector 635">
                    <a:extLst>
                      <a:ext uri="{FF2B5EF4-FFF2-40B4-BE49-F238E27FC236}">
                        <a16:creationId xmlns:a16="http://schemas.microsoft.com/office/drawing/2014/main" id="{1489C529-005A-41DC-4371-9A54E046B8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842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7" name="Straight Connector 636">
                    <a:extLst>
                      <a:ext uri="{FF2B5EF4-FFF2-40B4-BE49-F238E27FC236}">
                        <a16:creationId xmlns:a16="http://schemas.microsoft.com/office/drawing/2014/main" id="{B359B288-5950-83B7-452A-9277B34023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854915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8" name="Straight Connector 637">
                    <a:extLst>
                      <a:ext uri="{FF2B5EF4-FFF2-40B4-BE49-F238E27FC236}">
                        <a16:creationId xmlns:a16="http://schemas.microsoft.com/office/drawing/2014/main" id="{59A6E5D5-4EBF-6FEF-5FE1-BEEA9C8EDF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29103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9" name="Straight Connector 638">
                    <a:extLst>
                      <a:ext uri="{FF2B5EF4-FFF2-40B4-BE49-F238E27FC236}">
                        <a16:creationId xmlns:a16="http://schemas.microsoft.com/office/drawing/2014/main" id="{5386860D-CBE2-B434-0200-FD05FC3773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13206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0" name="Straight Connector 639">
                    <a:extLst>
                      <a:ext uri="{FF2B5EF4-FFF2-40B4-BE49-F238E27FC236}">
                        <a16:creationId xmlns:a16="http://schemas.microsoft.com/office/drawing/2014/main" id="{66B57E59-3E71-9487-477E-B3567C5DDA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80593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1" name="Straight Connector 640">
                    <a:extLst>
                      <a:ext uri="{FF2B5EF4-FFF2-40B4-BE49-F238E27FC236}">
                        <a16:creationId xmlns:a16="http://schemas.microsoft.com/office/drawing/2014/main" id="{82237BDA-3B41-3E7A-DAC8-E780FA35E940}"/>
                      </a:ext>
                    </a:extLst>
                  </p:cNvPr>
                  <p:cNvCxnSpPr/>
                  <p:nvPr/>
                </p:nvCxnSpPr>
                <p:spPr>
                  <a:xfrm>
                    <a:off x="8825847" y="4986314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2" name="Straight Connector 641">
                    <a:extLst>
                      <a:ext uri="{FF2B5EF4-FFF2-40B4-BE49-F238E27FC236}">
                        <a16:creationId xmlns:a16="http://schemas.microsoft.com/office/drawing/2014/main" id="{0A4B34ED-ACE8-A04A-2223-4C64ED27F546}"/>
                      </a:ext>
                    </a:extLst>
                  </p:cNvPr>
                  <p:cNvCxnSpPr/>
                  <p:nvPr/>
                </p:nvCxnSpPr>
                <p:spPr>
                  <a:xfrm>
                    <a:off x="8854915" y="4954700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3" name="Straight Connector 642">
                    <a:extLst>
                      <a:ext uri="{FF2B5EF4-FFF2-40B4-BE49-F238E27FC236}">
                        <a16:creationId xmlns:a16="http://schemas.microsoft.com/office/drawing/2014/main" id="{FF3DE969-FE22-514A-8349-C702DD91B5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97201" y="4986224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4" name="Straight Connector 643">
                    <a:extLst>
                      <a:ext uri="{FF2B5EF4-FFF2-40B4-BE49-F238E27FC236}">
                        <a16:creationId xmlns:a16="http://schemas.microsoft.com/office/drawing/2014/main" id="{71209EA0-E051-DF41-44A0-D9B9DB0ADA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29633" y="4954700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26" name="Straight Connector 625">
                  <a:extLst>
                    <a:ext uri="{FF2B5EF4-FFF2-40B4-BE49-F238E27FC236}">
                      <a16:creationId xmlns:a16="http://schemas.microsoft.com/office/drawing/2014/main" id="{9086D8D6-9A1B-C557-280C-1CB5D5F6AB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06023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Connector 626">
                  <a:extLst>
                    <a:ext uri="{FF2B5EF4-FFF2-40B4-BE49-F238E27FC236}">
                      <a16:creationId xmlns:a16="http://schemas.microsoft.com/office/drawing/2014/main" id="{3E8EF248-34CD-1B79-38B4-784675310A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12522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Connector 627">
                  <a:extLst>
                    <a:ext uri="{FF2B5EF4-FFF2-40B4-BE49-F238E27FC236}">
                      <a16:creationId xmlns:a16="http://schemas.microsoft.com/office/drawing/2014/main" id="{84F3A308-6AFE-35AB-658A-D7E4264AB2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6812" y="4993723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9" name="TextBox 578">
                <a:extLst>
                  <a:ext uri="{FF2B5EF4-FFF2-40B4-BE49-F238E27FC236}">
                    <a16:creationId xmlns:a16="http://schemas.microsoft.com/office/drawing/2014/main" id="{FB92225E-CE0B-023B-AEB0-53A32273E415}"/>
                  </a:ext>
                </a:extLst>
              </p:cNvPr>
              <p:cNvSpPr txBox="1"/>
              <p:nvPr/>
            </p:nvSpPr>
            <p:spPr>
              <a:xfrm>
                <a:off x="11328141" y="4686321"/>
                <a:ext cx="324938" cy="238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Z</a:t>
                </a:r>
                <a:r>
                  <a:rPr lang="en-US" sz="1000" baseline="30000" dirty="0"/>
                  <a:t>(2)</a:t>
                </a:r>
              </a:p>
            </p:txBody>
          </p:sp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D1F4E322-BB88-1BFF-0631-1F9A1DF6E080}"/>
                  </a:ext>
                </a:extLst>
              </p:cNvPr>
              <p:cNvSpPr txBox="1"/>
              <p:nvPr/>
            </p:nvSpPr>
            <p:spPr>
              <a:xfrm>
                <a:off x="11271343" y="4802767"/>
                <a:ext cx="451097" cy="238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</a:t>
                </a:r>
                <a:r>
                  <a:rPr lang="en-US" sz="1000" dirty="0" err="1"/>
                  <a:t>NxC</a:t>
                </a:r>
                <a:r>
                  <a:rPr lang="en-US" sz="1000" dirty="0"/>
                  <a:t>)</a:t>
                </a:r>
              </a:p>
            </p:txBody>
          </p:sp>
          <p:sp>
            <p:nvSpPr>
              <p:cNvPr id="581" name="Rectangle: Rounded Corners 580">
                <a:extLst>
                  <a:ext uri="{FF2B5EF4-FFF2-40B4-BE49-F238E27FC236}">
                    <a16:creationId xmlns:a16="http://schemas.microsoft.com/office/drawing/2014/main" id="{3708D8D9-8615-A350-83CE-1C29BDA42936}"/>
                  </a:ext>
                </a:extLst>
              </p:cNvPr>
              <p:cNvSpPr/>
              <p:nvPr/>
            </p:nvSpPr>
            <p:spPr>
              <a:xfrm>
                <a:off x="11101057" y="5963146"/>
                <a:ext cx="548515" cy="397355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TextBox 581">
                <a:extLst>
                  <a:ext uri="{FF2B5EF4-FFF2-40B4-BE49-F238E27FC236}">
                    <a16:creationId xmlns:a16="http://schemas.microsoft.com/office/drawing/2014/main" id="{873AEEA4-9FDC-FF0A-28BE-47FC2CE46459}"/>
                  </a:ext>
                </a:extLst>
              </p:cNvPr>
              <p:cNvSpPr txBox="1"/>
              <p:nvPr/>
            </p:nvSpPr>
            <p:spPr>
              <a:xfrm>
                <a:off x="11218073" y="5936338"/>
                <a:ext cx="371093" cy="3573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baseline="-25000" dirty="0"/>
                  <a:t>2</a:t>
                </a:r>
              </a:p>
            </p:txBody>
          </p:sp>
          <p:grpSp>
            <p:nvGrpSpPr>
              <p:cNvPr id="583" name="Group 582">
                <a:extLst>
                  <a:ext uri="{FF2B5EF4-FFF2-40B4-BE49-F238E27FC236}">
                    <a16:creationId xmlns:a16="http://schemas.microsoft.com/office/drawing/2014/main" id="{57D6C1E8-1285-7364-01AF-17C8DC9166C2}"/>
                  </a:ext>
                </a:extLst>
              </p:cNvPr>
              <p:cNvGrpSpPr/>
              <p:nvPr/>
            </p:nvGrpSpPr>
            <p:grpSpPr>
              <a:xfrm>
                <a:off x="11273550" y="5540647"/>
                <a:ext cx="278408" cy="253984"/>
                <a:chOff x="8180098" y="5433462"/>
                <a:chExt cx="294331" cy="296333"/>
              </a:xfrm>
            </p:grpSpPr>
            <p:sp>
              <p:nvSpPr>
                <p:cNvPr id="623" name="Oval 622">
                  <a:extLst>
                    <a:ext uri="{FF2B5EF4-FFF2-40B4-BE49-F238E27FC236}">
                      <a16:creationId xmlns:a16="http://schemas.microsoft.com/office/drawing/2014/main" id="{03791FFA-7F77-1E76-3EF9-C4E43D97FDBC}"/>
                    </a:ext>
                  </a:extLst>
                </p:cNvPr>
                <p:cNvSpPr/>
                <p:nvPr/>
              </p:nvSpPr>
              <p:spPr>
                <a:xfrm>
                  <a:off x="8180098" y="5433462"/>
                  <a:ext cx="294331" cy="29633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4" name="Multiplication Sign 623">
                  <a:extLst>
                    <a:ext uri="{FF2B5EF4-FFF2-40B4-BE49-F238E27FC236}">
                      <a16:creationId xmlns:a16="http://schemas.microsoft.com/office/drawing/2014/main" id="{2DDDA641-C08C-E127-66FC-5CF693B8E933}"/>
                    </a:ext>
                  </a:extLst>
                </p:cNvPr>
                <p:cNvSpPr/>
                <p:nvPr/>
              </p:nvSpPr>
              <p:spPr>
                <a:xfrm>
                  <a:off x="8213106" y="5433752"/>
                  <a:ext cx="246322" cy="295751"/>
                </a:xfrm>
                <a:prstGeom prst="mathMultiply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4" name="Group 583">
                <a:extLst>
                  <a:ext uri="{FF2B5EF4-FFF2-40B4-BE49-F238E27FC236}">
                    <a16:creationId xmlns:a16="http://schemas.microsoft.com/office/drawing/2014/main" id="{F603AEC2-2439-689F-90BD-462452472D1C}"/>
                  </a:ext>
                </a:extLst>
              </p:cNvPr>
              <p:cNvGrpSpPr/>
              <p:nvPr/>
            </p:nvGrpSpPr>
            <p:grpSpPr>
              <a:xfrm>
                <a:off x="8912630" y="5633076"/>
                <a:ext cx="1781630" cy="408772"/>
                <a:chOff x="9186166" y="2650978"/>
                <a:chExt cx="1856289" cy="422471"/>
              </a:xfrm>
            </p:grpSpPr>
            <p:sp>
              <p:nvSpPr>
                <p:cNvPr id="617" name="Rectangle: Rounded Corners 616">
                  <a:extLst>
                    <a:ext uri="{FF2B5EF4-FFF2-40B4-BE49-F238E27FC236}">
                      <a16:creationId xmlns:a16="http://schemas.microsoft.com/office/drawing/2014/main" id="{F6921462-AC32-38FA-929A-5E4F674440B8}"/>
                    </a:ext>
                  </a:extLst>
                </p:cNvPr>
                <p:cNvSpPr/>
                <p:nvPr/>
              </p:nvSpPr>
              <p:spPr>
                <a:xfrm>
                  <a:off x="10470955" y="2650978"/>
                  <a:ext cx="571500" cy="400276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i="1" dirty="0" err="1">
                      <a:solidFill>
                        <a:schemeClr val="tx1"/>
                      </a:solidFill>
                    </a:rPr>
                    <a:t>ReLU</a:t>
                  </a:r>
                  <a:endParaRPr lang="en-US" sz="1200" i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618" name="Group 617">
                  <a:extLst>
                    <a:ext uri="{FF2B5EF4-FFF2-40B4-BE49-F238E27FC236}">
                      <a16:creationId xmlns:a16="http://schemas.microsoft.com/office/drawing/2014/main" id="{2A986210-92FF-722E-F541-0B50B6096B4B}"/>
                    </a:ext>
                  </a:extLst>
                </p:cNvPr>
                <p:cNvGrpSpPr/>
                <p:nvPr/>
              </p:nvGrpSpPr>
              <p:grpSpPr>
                <a:xfrm>
                  <a:off x="9932894" y="2704806"/>
                  <a:ext cx="294331" cy="296333"/>
                  <a:chOff x="9434285" y="5890481"/>
                  <a:chExt cx="547229" cy="545511"/>
                </a:xfrm>
              </p:grpSpPr>
              <p:sp>
                <p:nvSpPr>
                  <p:cNvPr id="621" name="Oval 620">
                    <a:extLst>
                      <a:ext uri="{FF2B5EF4-FFF2-40B4-BE49-F238E27FC236}">
                        <a16:creationId xmlns:a16="http://schemas.microsoft.com/office/drawing/2014/main" id="{DB18667D-C540-2813-D3C0-7BC7F4716E3D}"/>
                      </a:ext>
                    </a:extLst>
                  </p:cNvPr>
                  <p:cNvSpPr/>
                  <p:nvPr/>
                </p:nvSpPr>
                <p:spPr>
                  <a:xfrm>
                    <a:off x="9434285" y="5890481"/>
                    <a:ext cx="547229" cy="545511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2" name="Plus Sign 621">
                    <a:extLst>
                      <a:ext uri="{FF2B5EF4-FFF2-40B4-BE49-F238E27FC236}">
                        <a16:creationId xmlns:a16="http://schemas.microsoft.com/office/drawing/2014/main" id="{23D09F8B-8563-5130-32B6-F37D6D8AF3E2}"/>
                      </a:ext>
                    </a:extLst>
                  </p:cNvPr>
                  <p:cNvSpPr/>
                  <p:nvPr/>
                </p:nvSpPr>
                <p:spPr>
                  <a:xfrm>
                    <a:off x="9434285" y="5913828"/>
                    <a:ext cx="541747" cy="498816"/>
                  </a:xfrm>
                  <a:prstGeom prst="mathPlus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619" name="Straight Arrow Connector 618">
                  <a:extLst>
                    <a:ext uri="{FF2B5EF4-FFF2-40B4-BE49-F238E27FC236}">
                      <a16:creationId xmlns:a16="http://schemas.microsoft.com/office/drawing/2014/main" id="{B0E8DE2C-4C96-031E-0E2F-0F0DFE1C46BD}"/>
                    </a:ext>
                  </a:extLst>
                </p:cNvPr>
                <p:cNvCxnSpPr>
                  <a:stCxn id="617" idx="1"/>
                  <a:endCxn id="621" idx="6"/>
                </p:cNvCxnSpPr>
                <p:nvPr/>
              </p:nvCxnSpPr>
              <p:spPr>
                <a:xfrm flipH="1">
                  <a:off x="10227225" y="2851116"/>
                  <a:ext cx="243730" cy="18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0" name="Rectangle: Rounded Corners 619">
                      <a:extLst>
                        <a:ext uri="{FF2B5EF4-FFF2-40B4-BE49-F238E27FC236}">
                          <a16:creationId xmlns:a16="http://schemas.microsoft.com/office/drawing/2014/main" id="{15ED9CF6-876A-CF3E-D950-2D5DBCFA99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86166" y="2673173"/>
                      <a:ext cx="571500" cy="400276"/>
                    </a:xfrm>
                    <a:prstGeom prst="roundRect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m:rPr>
                                <m:nor/>
                              </m:rPr>
                              <a:rPr lang="en-US" sz="1200" i="0" dirty="0" smtClean="0">
                                <a:solidFill>
                                  <a:schemeClr val="tx1"/>
                                </a:solidFill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1200" i="0" baseline="30000" dirty="0" smtClean="0">
                                <a:solidFill>
                                  <a:schemeClr val="tx1"/>
                                </a:solidFill>
                              </a:rPr>
                              <m:t>(1)</m:t>
                            </m:r>
                          </m:oMath>
                        </m:oMathPara>
                      </a14:m>
                      <a:endParaRPr lang="en-US" sz="1200" baseline="30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0" name="Rectangle: Rounded Corners 619">
                      <a:extLst>
                        <a:ext uri="{FF2B5EF4-FFF2-40B4-BE49-F238E27FC236}">
                          <a16:creationId xmlns:a16="http://schemas.microsoft.com/office/drawing/2014/main" id="{15ED9CF6-876A-CF3E-D950-2D5DBCFA991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86166" y="2673173"/>
                      <a:ext cx="571500" cy="400276"/>
                    </a:xfrm>
                    <a:prstGeom prst="round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85" name="Straight Connector 584">
                <a:extLst>
                  <a:ext uri="{FF2B5EF4-FFF2-40B4-BE49-F238E27FC236}">
                    <a16:creationId xmlns:a16="http://schemas.microsoft.com/office/drawing/2014/main" id="{C95EF564-F9D0-198D-4A13-7BE720CE7B86}"/>
                  </a:ext>
                </a:extLst>
              </p:cNvPr>
              <p:cNvCxnSpPr>
                <a:cxnSpLocks/>
                <a:stCxn id="667" idx="4"/>
              </p:cNvCxnSpPr>
              <p:nvPr/>
            </p:nvCxnSpPr>
            <p:spPr>
              <a:xfrm>
                <a:off x="8012802" y="5392429"/>
                <a:ext cx="0" cy="12811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Straight Arrow Connector 585">
                <a:extLst>
                  <a:ext uri="{FF2B5EF4-FFF2-40B4-BE49-F238E27FC236}">
                    <a16:creationId xmlns:a16="http://schemas.microsoft.com/office/drawing/2014/main" id="{94785F3C-3B2D-3F04-0452-9EFF0B3F7F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93598" y="5357993"/>
                <a:ext cx="0" cy="1826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Arrow Connector 586">
                <a:extLst>
                  <a:ext uri="{FF2B5EF4-FFF2-40B4-BE49-F238E27FC236}">
                    <a16:creationId xmlns:a16="http://schemas.microsoft.com/office/drawing/2014/main" id="{AD649682-51D8-C91E-A256-3B6983CBDF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08225" y="5790515"/>
                <a:ext cx="0" cy="1601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Straight Arrow Connector 587">
                <a:extLst>
                  <a:ext uri="{FF2B5EF4-FFF2-40B4-BE49-F238E27FC236}">
                    <a16:creationId xmlns:a16="http://schemas.microsoft.com/office/drawing/2014/main" id="{6859FE74-66D9-7253-D08B-E67FE965F0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76872" y="5760883"/>
                <a:ext cx="64625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Straight Arrow Connector 588">
                <a:extLst>
                  <a:ext uri="{FF2B5EF4-FFF2-40B4-BE49-F238E27FC236}">
                    <a16:creationId xmlns:a16="http://schemas.microsoft.com/office/drawing/2014/main" id="{47B9E5B8-5887-A779-EB49-17CEDF721C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39204" y="5842775"/>
                <a:ext cx="19183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Straight Arrow Connector 589">
                <a:extLst>
                  <a:ext uri="{FF2B5EF4-FFF2-40B4-BE49-F238E27FC236}">
                    <a16:creationId xmlns:a16="http://schemas.microsoft.com/office/drawing/2014/main" id="{2469EE69-DE98-FF75-E329-B996F35382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92512" y="5950673"/>
                <a:ext cx="0" cy="2122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1" name="Rectangle: Rounded Corners 590">
                <a:extLst>
                  <a:ext uri="{FF2B5EF4-FFF2-40B4-BE49-F238E27FC236}">
                    <a16:creationId xmlns:a16="http://schemas.microsoft.com/office/drawing/2014/main" id="{641D05CF-1E77-6B63-F1FB-F42D09326B2F}"/>
                  </a:ext>
                </a:extLst>
              </p:cNvPr>
              <p:cNvSpPr/>
              <p:nvPr/>
            </p:nvSpPr>
            <p:spPr>
              <a:xfrm>
                <a:off x="9531409" y="6139139"/>
                <a:ext cx="548515" cy="387297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i="1" dirty="0">
                    <a:solidFill>
                      <a:schemeClr val="tx1"/>
                    </a:solidFill>
                  </a:rPr>
                  <a:t>LN</a:t>
                </a:r>
              </a:p>
            </p:txBody>
          </p:sp>
          <p:grpSp>
            <p:nvGrpSpPr>
              <p:cNvPr id="592" name="Group 591">
                <a:extLst>
                  <a:ext uri="{FF2B5EF4-FFF2-40B4-BE49-F238E27FC236}">
                    <a16:creationId xmlns:a16="http://schemas.microsoft.com/office/drawing/2014/main" id="{498D7C1A-DDA5-B6AC-FE1E-7899B7E8B44E}"/>
                  </a:ext>
                </a:extLst>
              </p:cNvPr>
              <p:cNvGrpSpPr/>
              <p:nvPr/>
            </p:nvGrpSpPr>
            <p:grpSpPr>
              <a:xfrm>
                <a:off x="8324011" y="6198491"/>
                <a:ext cx="477023" cy="357225"/>
                <a:chOff x="8799061" y="4921715"/>
                <a:chExt cx="469257" cy="387660"/>
              </a:xfrm>
              <a:gradFill>
                <a:gsLst>
                  <a:gs pos="22000">
                    <a:srgbClr val="7030A0"/>
                  </a:gs>
                  <a:gs pos="39457">
                    <a:srgbClr val="BC9ED2"/>
                  </a:gs>
                  <a:gs pos="55000">
                    <a:schemeClr val="bg1"/>
                  </a:gs>
                  <a:gs pos="9174">
                    <a:schemeClr val="accent5">
                      <a:lumMod val="60000"/>
                      <a:lumOff val="40000"/>
                    </a:schemeClr>
                  </a:gs>
                  <a:gs pos="87145">
                    <a:schemeClr val="accent4">
                      <a:lumMod val="20000"/>
                      <a:lumOff val="80000"/>
                    </a:schemeClr>
                  </a:gs>
                  <a:gs pos="61472">
                    <a:schemeClr val="accent2">
                      <a:lumMod val="20000"/>
                      <a:lumOff val="80000"/>
                    </a:schemeClr>
                  </a:gs>
                  <a:gs pos="76150">
                    <a:srgbClr val="FF87FF"/>
                  </a:gs>
                  <a:gs pos="100000">
                    <a:srgbClr val="FF00FF"/>
                  </a:gs>
                </a:gsLst>
                <a:path path="rect">
                  <a:fillToRect l="100000" t="100000"/>
                </a:path>
              </a:gradFill>
            </p:grpSpPr>
            <p:grpSp>
              <p:nvGrpSpPr>
                <p:cNvPr id="597" name="Group 596">
                  <a:extLst>
                    <a:ext uri="{FF2B5EF4-FFF2-40B4-BE49-F238E27FC236}">
                      <a16:creationId xmlns:a16="http://schemas.microsoft.com/office/drawing/2014/main" id="{001633C1-4BF9-8FC5-9848-2335EDD9414F}"/>
                    </a:ext>
                  </a:extLst>
                </p:cNvPr>
                <p:cNvGrpSpPr/>
                <p:nvPr/>
              </p:nvGrpSpPr>
              <p:grpSpPr>
                <a:xfrm>
                  <a:off x="8799061" y="4921715"/>
                  <a:ext cx="469257" cy="387660"/>
                  <a:chOff x="8791024" y="4914826"/>
                  <a:chExt cx="469257" cy="387660"/>
                </a:xfrm>
                <a:grpFill/>
              </p:grpSpPr>
              <p:sp>
                <p:nvSpPr>
                  <p:cNvPr id="601" name="Cube 600">
                    <a:extLst>
                      <a:ext uri="{FF2B5EF4-FFF2-40B4-BE49-F238E27FC236}">
                        <a16:creationId xmlns:a16="http://schemas.microsoft.com/office/drawing/2014/main" id="{FC42236B-CAE9-5383-A8CF-F03044E38A4D}"/>
                      </a:ext>
                    </a:extLst>
                  </p:cNvPr>
                  <p:cNvSpPr/>
                  <p:nvPr/>
                </p:nvSpPr>
                <p:spPr>
                  <a:xfrm>
                    <a:off x="8791024" y="4916978"/>
                    <a:ext cx="469257" cy="378158"/>
                  </a:xfrm>
                  <a:prstGeom prst="cub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02" name="Straight Connector 601">
                    <a:extLst>
                      <a:ext uri="{FF2B5EF4-FFF2-40B4-BE49-F238E27FC236}">
                        <a16:creationId xmlns:a16="http://schemas.microsoft.com/office/drawing/2014/main" id="{910BF809-0DE8-700D-235F-BEBDA85848D0}"/>
                      </a:ext>
                    </a:extLst>
                  </p:cNvPr>
                  <p:cNvCxnSpPr>
                    <a:stCxn id="601" idx="2"/>
                    <a:endCxn id="601" idx="4"/>
                  </p:cNvCxnSpPr>
                  <p:nvPr/>
                </p:nvCxnSpPr>
                <p:spPr>
                  <a:xfrm>
                    <a:off x="8791024" y="5153327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3" name="Straight Connector 602">
                    <a:extLst>
                      <a:ext uri="{FF2B5EF4-FFF2-40B4-BE49-F238E27FC236}">
                        <a16:creationId xmlns:a16="http://schemas.microsoft.com/office/drawing/2014/main" id="{8CBBA589-9DB1-4B31-660B-695E08AC2A4E}"/>
                      </a:ext>
                    </a:extLst>
                  </p:cNvPr>
                  <p:cNvCxnSpPr/>
                  <p:nvPr/>
                </p:nvCxnSpPr>
                <p:spPr>
                  <a:xfrm>
                    <a:off x="8791024" y="5215605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4" name="Straight Connector 603">
                    <a:extLst>
                      <a:ext uri="{FF2B5EF4-FFF2-40B4-BE49-F238E27FC236}">
                        <a16:creationId xmlns:a16="http://schemas.microsoft.com/office/drawing/2014/main" id="{FFBC5B60-9F78-71D9-0AE0-89C2534643D0}"/>
                      </a:ext>
                    </a:extLst>
                  </p:cNvPr>
                  <p:cNvCxnSpPr/>
                  <p:nvPr/>
                </p:nvCxnSpPr>
                <p:spPr>
                  <a:xfrm>
                    <a:off x="8792094" y="5083946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5" name="Straight Connector 604">
                    <a:extLst>
                      <a:ext uri="{FF2B5EF4-FFF2-40B4-BE49-F238E27FC236}">
                        <a16:creationId xmlns:a16="http://schemas.microsoft.com/office/drawing/2014/main" id="{3186B426-E446-A249-FDA6-CDB2955198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6039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6" name="Straight Connector 605">
                    <a:extLst>
                      <a:ext uri="{FF2B5EF4-FFF2-40B4-BE49-F238E27FC236}">
                        <a16:creationId xmlns:a16="http://schemas.microsoft.com/office/drawing/2014/main" id="{7DF5BE0A-8888-B3EC-F526-777068155B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318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7" name="Straight Connector 606">
                    <a:extLst>
                      <a:ext uri="{FF2B5EF4-FFF2-40B4-BE49-F238E27FC236}">
                        <a16:creationId xmlns:a16="http://schemas.microsoft.com/office/drawing/2014/main" id="{1DE5C268-527F-B7B3-52EE-1D8F938520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1684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8" name="Straight Connector 607">
                    <a:extLst>
                      <a:ext uri="{FF2B5EF4-FFF2-40B4-BE49-F238E27FC236}">
                        <a16:creationId xmlns:a16="http://schemas.microsoft.com/office/drawing/2014/main" id="{5BE05392-A78F-A0D7-81E3-E926BFA72C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842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9" name="Straight Connector 608">
                    <a:extLst>
                      <a:ext uri="{FF2B5EF4-FFF2-40B4-BE49-F238E27FC236}">
                        <a16:creationId xmlns:a16="http://schemas.microsoft.com/office/drawing/2014/main" id="{E8F16C30-0AA2-F750-1206-312EAD92EF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854915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0" name="Straight Connector 609">
                    <a:extLst>
                      <a:ext uri="{FF2B5EF4-FFF2-40B4-BE49-F238E27FC236}">
                        <a16:creationId xmlns:a16="http://schemas.microsoft.com/office/drawing/2014/main" id="{EDFDA44F-E2F0-D9F9-81FC-F1793C08A1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29103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1" name="Straight Connector 610">
                    <a:extLst>
                      <a:ext uri="{FF2B5EF4-FFF2-40B4-BE49-F238E27FC236}">
                        <a16:creationId xmlns:a16="http://schemas.microsoft.com/office/drawing/2014/main" id="{2C5D8506-FE4F-BB76-5618-84BB3EEBC1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13206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2" name="Straight Connector 611">
                    <a:extLst>
                      <a:ext uri="{FF2B5EF4-FFF2-40B4-BE49-F238E27FC236}">
                        <a16:creationId xmlns:a16="http://schemas.microsoft.com/office/drawing/2014/main" id="{A0003A2E-8575-FFF5-9AAE-B5B5603455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80593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3" name="Straight Connector 612">
                    <a:extLst>
                      <a:ext uri="{FF2B5EF4-FFF2-40B4-BE49-F238E27FC236}">
                        <a16:creationId xmlns:a16="http://schemas.microsoft.com/office/drawing/2014/main" id="{B56E8248-E386-9F07-9BA6-934393A8906E}"/>
                      </a:ext>
                    </a:extLst>
                  </p:cNvPr>
                  <p:cNvCxnSpPr/>
                  <p:nvPr/>
                </p:nvCxnSpPr>
                <p:spPr>
                  <a:xfrm>
                    <a:off x="8825847" y="4986314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4" name="Straight Connector 613">
                    <a:extLst>
                      <a:ext uri="{FF2B5EF4-FFF2-40B4-BE49-F238E27FC236}">
                        <a16:creationId xmlns:a16="http://schemas.microsoft.com/office/drawing/2014/main" id="{0EDE3E00-5B3A-778D-6E75-AF62C98A329C}"/>
                      </a:ext>
                    </a:extLst>
                  </p:cNvPr>
                  <p:cNvCxnSpPr/>
                  <p:nvPr/>
                </p:nvCxnSpPr>
                <p:spPr>
                  <a:xfrm>
                    <a:off x="8854915" y="4954700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5" name="Straight Connector 614">
                    <a:extLst>
                      <a:ext uri="{FF2B5EF4-FFF2-40B4-BE49-F238E27FC236}">
                        <a16:creationId xmlns:a16="http://schemas.microsoft.com/office/drawing/2014/main" id="{CE4D8723-FDE9-5073-6BC4-C04D18F08B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97201" y="4986224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6" name="Straight Connector 615">
                    <a:extLst>
                      <a:ext uri="{FF2B5EF4-FFF2-40B4-BE49-F238E27FC236}">
                        <a16:creationId xmlns:a16="http://schemas.microsoft.com/office/drawing/2014/main" id="{ABBE9076-A591-1B10-375C-8E2C649839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29633" y="4954700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98" name="Straight Connector 597">
                  <a:extLst>
                    <a:ext uri="{FF2B5EF4-FFF2-40B4-BE49-F238E27FC236}">
                      <a16:creationId xmlns:a16="http://schemas.microsoft.com/office/drawing/2014/main" id="{8002F7D8-662E-8329-DEAA-0879A0192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06023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Straight Connector 598">
                  <a:extLst>
                    <a:ext uri="{FF2B5EF4-FFF2-40B4-BE49-F238E27FC236}">
                      <a16:creationId xmlns:a16="http://schemas.microsoft.com/office/drawing/2014/main" id="{3FF34A05-6381-774B-C3DD-9F9B48E4B2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12522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0" name="Straight Connector 599">
                  <a:extLst>
                    <a:ext uri="{FF2B5EF4-FFF2-40B4-BE49-F238E27FC236}">
                      <a16:creationId xmlns:a16="http://schemas.microsoft.com/office/drawing/2014/main" id="{D7208560-8131-6825-E3DD-D58E9E3581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6812" y="4993723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3" name="TextBox 592">
                <a:extLst>
                  <a:ext uri="{FF2B5EF4-FFF2-40B4-BE49-F238E27FC236}">
                    <a16:creationId xmlns:a16="http://schemas.microsoft.com/office/drawing/2014/main" id="{BE1EB6E8-E8DA-2E32-7315-44C2141BF6D1}"/>
                  </a:ext>
                </a:extLst>
              </p:cNvPr>
              <p:cNvSpPr txBox="1"/>
              <p:nvPr/>
            </p:nvSpPr>
            <p:spPr>
              <a:xfrm>
                <a:off x="8373111" y="5903365"/>
                <a:ext cx="484945" cy="238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Z</a:t>
                </a:r>
                <a:r>
                  <a:rPr lang="en-US" sz="1000" baseline="30000" dirty="0"/>
                  <a:t>(hyper)</a:t>
                </a:r>
              </a:p>
            </p:txBody>
          </p:sp>
          <p:sp>
            <p:nvSpPr>
              <p:cNvPr id="594" name="TextBox 593">
                <a:extLst>
                  <a:ext uri="{FF2B5EF4-FFF2-40B4-BE49-F238E27FC236}">
                    <a16:creationId xmlns:a16="http://schemas.microsoft.com/office/drawing/2014/main" id="{2C016BB6-B582-EEC9-AB2D-2F166F63F443}"/>
                  </a:ext>
                </a:extLst>
              </p:cNvPr>
              <p:cNvSpPr txBox="1"/>
              <p:nvPr/>
            </p:nvSpPr>
            <p:spPr>
              <a:xfrm>
                <a:off x="8323991" y="5995898"/>
                <a:ext cx="451097" cy="238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</a:t>
                </a:r>
                <a:r>
                  <a:rPr lang="en-US" sz="1000" dirty="0" err="1"/>
                  <a:t>NxC</a:t>
                </a:r>
                <a:r>
                  <a:rPr lang="en-US" sz="1000" dirty="0"/>
                  <a:t>)</a:t>
                </a:r>
              </a:p>
            </p:txBody>
          </p:sp>
          <p:cxnSp>
            <p:nvCxnSpPr>
              <p:cNvPr id="595" name="Straight Arrow Connector 594">
                <a:extLst>
                  <a:ext uri="{FF2B5EF4-FFF2-40B4-BE49-F238E27FC236}">
                    <a16:creationId xmlns:a16="http://schemas.microsoft.com/office/drawing/2014/main" id="{F5D8923E-C518-1A2A-CEAD-84186CF201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59752" y="6332788"/>
                <a:ext cx="61877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6" name="TextBox 595">
                <a:extLst>
                  <a:ext uri="{FF2B5EF4-FFF2-40B4-BE49-F238E27FC236}">
                    <a16:creationId xmlns:a16="http://schemas.microsoft.com/office/drawing/2014/main" id="{BBD15C7C-ED94-1E38-CA25-F851CB768439}"/>
                  </a:ext>
                </a:extLst>
              </p:cNvPr>
              <p:cNvSpPr txBox="1"/>
              <p:nvPr/>
            </p:nvSpPr>
            <p:spPr>
              <a:xfrm>
                <a:off x="10454332" y="3973267"/>
                <a:ext cx="830807" cy="3573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Layer 2</a:t>
                </a:r>
              </a:p>
            </p:txBody>
          </p:sp>
          <p:sp>
            <p:nvSpPr>
              <p:cNvPr id="746" name="TextBox 745">
                <a:extLst>
                  <a:ext uri="{FF2B5EF4-FFF2-40B4-BE49-F238E27FC236}">
                    <a16:creationId xmlns:a16="http://schemas.microsoft.com/office/drawing/2014/main" id="{FC5FDD0A-CEA0-6A11-7CE5-583C3C41C1EF}"/>
                  </a:ext>
                </a:extLst>
              </p:cNvPr>
              <p:cNvSpPr txBox="1"/>
              <p:nvPr/>
            </p:nvSpPr>
            <p:spPr>
              <a:xfrm>
                <a:off x="7097484" y="3974037"/>
                <a:ext cx="332631" cy="238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X</a:t>
                </a:r>
                <a:r>
                  <a:rPr lang="en-US" sz="1000" baseline="30000" dirty="0"/>
                  <a:t>(1)</a:t>
                </a:r>
              </a:p>
            </p:txBody>
          </p:sp>
          <p:sp>
            <p:nvSpPr>
              <p:cNvPr id="747" name="TextBox 746">
                <a:extLst>
                  <a:ext uri="{FF2B5EF4-FFF2-40B4-BE49-F238E27FC236}">
                    <a16:creationId xmlns:a16="http://schemas.microsoft.com/office/drawing/2014/main" id="{75EE2FD6-6EAC-6EAC-A3F4-9BF5158F93AC}"/>
                  </a:ext>
                </a:extLst>
              </p:cNvPr>
              <p:cNvSpPr txBox="1"/>
              <p:nvPr/>
            </p:nvSpPr>
            <p:spPr>
              <a:xfrm>
                <a:off x="8845417" y="5863849"/>
                <a:ext cx="669569" cy="238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(Residual)</a:t>
                </a:r>
              </a:p>
            </p:txBody>
          </p:sp>
          <p:sp>
            <p:nvSpPr>
              <p:cNvPr id="749" name="TextBox 748">
                <a:extLst>
                  <a:ext uri="{FF2B5EF4-FFF2-40B4-BE49-F238E27FC236}">
                    <a16:creationId xmlns:a16="http://schemas.microsoft.com/office/drawing/2014/main" id="{1AD4BD1B-3ADD-F77B-82E2-426B4EF0BCFD}"/>
                  </a:ext>
                </a:extLst>
              </p:cNvPr>
              <p:cNvSpPr txBox="1"/>
              <p:nvPr/>
            </p:nvSpPr>
            <p:spPr>
              <a:xfrm>
                <a:off x="8845417" y="2964017"/>
                <a:ext cx="669569" cy="238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(Residual)</a:t>
                </a:r>
              </a:p>
            </p:txBody>
          </p:sp>
        </p:grpSp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49A0B348-6550-979D-E0DE-6E9C335E1A14}"/>
                </a:ext>
              </a:extLst>
            </p:cNvPr>
            <p:cNvCxnSpPr/>
            <p:nvPr/>
          </p:nvCxnSpPr>
          <p:spPr>
            <a:xfrm>
              <a:off x="6145167" y="2927075"/>
              <a:ext cx="4325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Arrow Connector 491">
              <a:extLst>
                <a:ext uri="{FF2B5EF4-FFF2-40B4-BE49-F238E27FC236}">
                  <a16:creationId xmlns:a16="http://schemas.microsoft.com/office/drawing/2014/main" id="{F6955E28-D8FD-43BE-8B17-9B8E93F31856}"/>
                </a:ext>
              </a:extLst>
            </p:cNvPr>
            <p:cNvCxnSpPr>
              <a:cxnSpLocks/>
            </p:cNvCxnSpPr>
            <p:nvPr/>
          </p:nvCxnSpPr>
          <p:spPr>
            <a:xfrm>
              <a:off x="8449050" y="3768822"/>
              <a:ext cx="0" cy="2092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653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3EEDD2-913E-7619-7C9E-1DE5AD2D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8" y="131762"/>
            <a:ext cx="10515600" cy="549275"/>
          </a:xfrm>
          <a:prstGeom prst="roundRect">
            <a:avLst/>
          </a:prstGeom>
          <a:solidFill>
            <a:srgbClr val="FB7D7D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Displacement-Aware Forensic GIN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A22951C-C3BB-5A3F-367D-DE0EBE107F0F}"/>
              </a:ext>
            </a:extLst>
          </p:cNvPr>
          <p:cNvGrpSpPr/>
          <p:nvPr/>
        </p:nvGrpSpPr>
        <p:grpSpPr>
          <a:xfrm>
            <a:off x="138546" y="1308339"/>
            <a:ext cx="11914908" cy="4710413"/>
            <a:chOff x="138546" y="1308339"/>
            <a:chExt cx="11914908" cy="4710413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8202ECD-3FCA-5B5B-95E1-D9D6D1D44472}"/>
                </a:ext>
              </a:extLst>
            </p:cNvPr>
            <p:cNvGrpSpPr/>
            <p:nvPr/>
          </p:nvGrpSpPr>
          <p:grpSpPr>
            <a:xfrm>
              <a:off x="138546" y="2466109"/>
              <a:ext cx="1526923" cy="2701636"/>
              <a:chOff x="138546" y="2466109"/>
              <a:chExt cx="1526923" cy="2701636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22468B9-38A1-CF1F-B03F-39E982EE8681}"/>
                  </a:ext>
                </a:extLst>
              </p:cNvPr>
              <p:cNvSpPr/>
              <p:nvPr/>
            </p:nvSpPr>
            <p:spPr>
              <a:xfrm>
                <a:off x="138546" y="2466109"/>
                <a:ext cx="1526923" cy="270163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3E694DE-6976-16B2-352C-02C08DD8AB71}"/>
                  </a:ext>
                </a:extLst>
              </p:cNvPr>
              <p:cNvGrpSpPr/>
              <p:nvPr/>
            </p:nvGrpSpPr>
            <p:grpSpPr>
              <a:xfrm>
                <a:off x="614305" y="3059804"/>
                <a:ext cx="497013" cy="369196"/>
                <a:chOff x="8799061" y="4921715"/>
                <a:chExt cx="469257" cy="387660"/>
              </a:xfrm>
              <a:gradFill>
                <a:gsLst>
                  <a:gs pos="22000">
                    <a:srgbClr val="7030A0"/>
                  </a:gs>
                  <a:gs pos="39457">
                    <a:srgbClr val="BC9ED2"/>
                  </a:gs>
                  <a:gs pos="55000">
                    <a:schemeClr val="bg1"/>
                  </a:gs>
                  <a:gs pos="9174">
                    <a:schemeClr val="accent5">
                      <a:lumMod val="60000"/>
                      <a:lumOff val="40000"/>
                    </a:schemeClr>
                  </a:gs>
                  <a:gs pos="87145">
                    <a:schemeClr val="accent4">
                      <a:lumMod val="20000"/>
                      <a:lumOff val="80000"/>
                    </a:schemeClr>
                  </a:gs>
                  <a:gs pos="61472">
                    <a:schemeClr val="accent2">
                      <a:lumMod val="20000"/>
                      <a:lumOff val="80000"/>
                    </a:schemeClr>
                  </a:gs>
                  <a:gs pos="76150">
                    <a:srgbClr val="FF87FF"/>
                  </a:gs>
                  <a:gs pos="100000">
                    <a:srgbClr val="FF00FF"/>
                  </a:gs>
                </a:gsLst>
                <a:path path="rect">
                  <a:fillToRect l="100000" t="100000"/>
                </a:path>
              </a:gradFill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961EE476-B611-3185-8ED2-12FAF2CBEB1A}"/>
                    </a:ext>
                  </a:extLst>
                </p:cNvPr>
                <p:cNvGrpSpPr/>
                <p:nvPr/>
              </p:nvGrpSpPr>
              <p:grpSpPr>
                <a:xfrm>
                  <a:off x="8799061" y="4921715"/>
                  <a:ext cx="469257" cy="387660"/>
                  <a:chOff x="8791024" y="4914826"/>
                  <a:chExt cx="469257" cy="387660"/>
                </a:xfrm>
                <a:grpFill/>
              </p:grpSpPr>
              <p:sp>
                <p:nvSpPr>
                  <p:cNvPr id="26" name="Cube 25">
                    <a:extLst>
                      <a:ext uri="{FF2B5EF4-FFF2-40B4-BE49-F238E27FC236}">
                        <a16:creationId xmlns:a16="http://schemas.microsoft.com/office/drawing/2014/main" id="{45DC29E0-2B5C-3B53-D906-6528257A5CB0}"/>
                      </a:ext>
                    </a:extLst>
                  </p:cNvPr>
                  <p:cNvSpPr/>
                  <p:nvPr/>
                </p:nvSpPr>
                <p:spPr>
                  <a:xfrm>
                    <a:off x="8791024" y="4916978"/>
                    <a:ext cx="469257" cy="378158"/>
                  </a:xfrm>
                  <a:prstGeom prst="cub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5E899661-2B0B-A9D2-15DE-D4AE091A1D83}"/>
                      </a:ext>
                    </a:extLst>
                  </p:cNvPr>
                  <p:cNvCxnSpPr>
                    <a:stCxn id="26" idx="2"/>
                    <a:endCxn id="26" idx="4"/>
                  </p:cNvCxnSpPr>
                  <p:nvPr/>
                </p:nvCxnSpPr>
                <p:spPr>
                  <a:xfrm>
                    <a:off x="8791024" y="5153327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C63425DE-D41D-DB1D-A528-E7D583AAD5AC}"/>
                      </a:ext>
                    </a:extLst>
                  </p:cNvPr>
                  <p:cNvCxnSpPr/>
                  <p:nvPr/>
                </p:nvCxnSpPr>
                <p:spPr>
                  <a:xfrm>
                    <a:off x="8791024" y="5215605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3BB77299-037B-30D5-4B6C-21AA98A0C044}"/>
                      </a:ext>
                    </a:extLst>
                  </p:cNvPr>
                  <p:cNvCxnSpPr/>
                  <p:nvPr/>
                </p:nvCxnSpPr>
                <p:spPr>
                  <a:xfrm>
                    <a:off x="8792094" y="5083946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E96CBA11-09A5-7F6E-7A24-BCE65974E4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6039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79F8D2A0-C7B5-9848-840A-95B5E130C2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318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71413949-279A-ED74-BE70-B75FEB291B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16841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E1198FC2-EDAF-4C15-B9B9-C1AD432A5F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84229" y="5004136"/>
                    <a:ext cx="0" cy="29835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C94ED7E2-EFAC-3800-9BBE-4BC613EF2C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854915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419C4787-5739-7ACF-C72C-1A40C0F06D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29103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04E9CCFC-44FE-C5FF-526B-473A041E81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13206" y="4914826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CFC84268-3C10-DAD2-D8A9-EDBB4A22C3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80593" y="4916978"/>
                    <a:ext cx="94539" cy="9454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A0F0C67D-B303-ADFE-0131-5948677E2B71}"/>
                      </a:ext>
                    </a:extLst>
                  </p:cNvPr>
                  <p:cNvCxnSpPr/>
                  <p:nvPr/>
                </p:nvCxnSpPr>
                <p:spPr>
                  <a:xfrm>
                    <a:off x="8825847" y="4986314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80B446D5-9776-29AF-3F19-16AFB671C5F0}"/>
                      </a:ext>
                    </a:extLst>
                  </p:cNvPr>
                  <p:cNvCxnSpPr/>
                  <p:nvPr/>
                </p:nvCxnSpPr>
                <p:spPr>
                  <a:xfrm>
                    <a:off x="8854915" y="4954700"/>
                    <a:ext cx="374718" cy="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20D79AEA-655C-FDD7-F6D6-94A4FE287A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97201" y="4986224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0FA32100-96AB-CA49-8288-29EC231FE6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29633" y="4954700"/>
                    <a:ext cx="0" cy="284210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9BE746D3-C0C0-DB1B-E760-ED7AEDE6D3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06023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55081FC-AD0B-376C-9AD0-E108A07D95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5742" y="5125220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B13F116-4BCF-65C7-5CB4-534282DF1C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66812" y="4993723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8974DA3-075B-771B-45FD-EF16AD241889}"/>
                  </a:ext>
                </a:extLst>
              </p:cNvPr>
              <p:cNvSpPr txBox="1"/>
              <p:nvPr/>
            </p:nvSpPr>
            <p:spPr>
              <a:xfrm>
                <a:off x="580306" y="2848152"/>
                <a:ext cx="50526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Z</a:t>
                </a:r>
                <a:r>
                  <a:rPr lang="en-US" sz="1000" baseline="30000" dirty="0"/>
                  <a:t>(hyper)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7ADF040-721E-30C7-4578-2470C8657C53}"/>
                  </a:ext>
                </a:extLst>
              </p:cNvPr>
              <p:cNvSpPr txBox="1"/>
              <p:nvPr/>
            </p:nvSpPr>
            <p:spPr>
              <a:xfrm>
                <a:off x="591683" y="3374932"/>
                <a:ext cx="47000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(</a:t>
                </a:r>
                <a:r>
                  <a:rPr lang="en-US" sz="1000" dirty="0" err="1"/>
                  <a:t>NxC</a:t>
                </a:r>
                <a:r>
                  <a:rPr lang="en-US" sz="1000" dirty="0"/>
                  <a:t>)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B4AE30-3995-4428-479A-CCEBB80BC4E1}"/>
                  </a:ext>
                </a:extLst>
              </p:cNvPr>
              <p:cNvSpPr txBox="1"/>
              <p:nvPr/>
            </p:nvSpPr>
            <p:spPr>
              <a:xfrm>
                <a:off x="176535" y="2507629"/>
                <a:ext cx="14889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Input from HGNN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ADE9FCF-DD93-40C5-4F00-9931E1A6A852}"/>
                  </a:ext>
                </a:extLst>
              </p:cNvPr>
              <p:cNvSpPr txBox="1"/>
              <p:nvPr/>
            </p:nvSpPr>
            <p:spPr>
              <a:xfrm>
                <a:off x="301690" y="3607214"/>
                <a:ext cx="10958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Node Features</a:t>
                </a: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603E8E9-0B93-6B23-A0E6-22B42FC64924}"/>
                  </a:ext>
                </a:extLst>
              </p:cNvPr>
              <p:cNvGrpSpPr/>
              <p:nvPr/>
            </p:nvGrpSpPr>
            <p:grpSpPr>
              <a:xfrm>
                <a:off x="247773" y="4160260"/>
                <a:ext cx="1346458" cy="914400"/>
                <a:chOff x="782812" y="5929745"/>
                <a:chExt cx="1346458" cy="914400"/>
              </a:xfrm>
            </p:grpSpPr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4F2873F2-A65B-3D36-149E-0784E3805937}"/>
                    </a:ext>
                  </a:extLst>
                </p:cNvPr>
                <p:cNvSpPr/>
                <p:nvPr/>
              </p:nvSpPr>
              <p:spPr>
                <a:xfrm>
                  <a:off x="810615" y="5929745"/>
                  <a:ext cx="1251979" cy="914400"/>
                </a:xfrm>
                <a:prstGeom prst="round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091C353-77AE-237F-D321-747C67CB9955}"/>
                    </a:ext>
                  </a:extLst>
                </p:cNvPr>
                <p:cNvSpPr txBox="1"/>
                <p:nvPr/>
              </p:nvSpPr>
              <p:spPr>
                <a:xfrm>
                  <a:off x="782812" y="6017613"/>
                  <a:ext cx="1346458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i="1" dirty="0"/>
                    <a:t>N nodes</a:t>
                  </a:r>
                </a:p>
                <a:p>
                  <a:pPr algn="ctr"/>
                  <a:r>
                    <a:rPr lang="en-US" sz="1400" i="1" dirty="0"/>
                    <a:t>(16x16 patches)</a:t>
                  </a:r>
                </a:p>
                <a:p>
                  <a:pPr algn="ctr"/>
                  <a:r>
                    <a:rPr lang="en-US" sz="1400" i="1" dirty="0"/>
                    <a:t>C feature dim</a:t>
                  </a: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60E6060-3E54-DC20-65CA-731EDA1F44A2}"/>
                </a:ext>
              </a:extLst>
            </p:cNvPr>
            <p:cNvGrpSpPr/>
            <p:nvPr/>
          </p:nvGrpSpPr>
          <p:grpSpPr>
            <a:xfrm>
              <a:off x="1955462" y="1957374"/>
              <a:ext cx="1893916" cy="3719105"/>
              <a:chOff x="1886543" y="1267687"/>
              <a:chExt cx="1893916" cy="3719105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648C9E87-3609-A7EF-2317-62B884F3DEA7}"/>
                  </a:ext>
                </a:extLst>
              </p:cNvPr>
              <p:cNvSpPr/>
              <p:nvPr/>
            </p:nvSpPr>
            <p:spPr>
              <a:xfrm>
                <a:off x="1932169" y="1267687"/>
                <a:ext cx="1783365" cy="371910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B635AD1-920B-B9BA-244E-8B9160F8D0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27793" y="1949643"/>
                <a:ext cx="1008488" cy="711874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7E10C6-F6CB-7152-81E8-4F6080BA8E2A}"/>
                  </a:ext>
                </a:extLst>
              </p:cNvPr>
              <p:cNvSpPr txBox="1"/>
              <p:nvPr/>
            </p:nvSpPr>
            <p:spPr>
              <a:xfrm>
                <a:off x="1886543" y="1419684"/>
                <a:ext cx="189391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Correspondence Graph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6367C3-C7D3-8292-9F8A-21E561F68CB8}"/>
                  </a:ext>
                </a:extLst>
              </p:cNvPr>
              <p:cNvSpPr txBox="1"/>
              <p:nvPr/>
            </p:nvSpPr>
            <p:spPr>
              <a:xfrm>
                <a:off x="2021602" y="2661517"/>
                <a:ext cx="16644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Cosine Similarity Matrix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488CD8-7F96-8597-59AE-D04A9552A910}"/>
                  </a:ext>
                </a:extLst>
              </p:cNvPr>
              <p:cNvSpPr txBox="1"/>
              <p:nvPr/>
            </p:nvSpPr>
            <p:spPr>
              <a:xfrm>
                <a:off x="2042600" y="3360428"/>
                <a:ext cx="14790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Top-K neighbor K=10</a:t>
                </a: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E0CBB8D2-4F37-7B72-4461-29F807DED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6682" y="3692232"/>
                <a:ext cx="1554270" cy="1211533"/>
              </a:xfrm>
              <a:prstGeom prst="rect">
                <a:avLst/>
              </a:prstGeom>
            </p:spPr>
          </p:pic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4B362B1-39BB-0B38-DC52-AE1C7691A3C6}"/>
                  </a:ext>
                </a:extLst>
              </p:cNvPr>
              <p:cNvCxnSpPr/>
              <p:nvPr/>
            </p:nvCxnSpPr>
            <p:spPr>
              <a:xfrm>
                <a:off x="2782130" y="2917527"/>
                <a:ext cx="0" cy="4382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E7F68A0-D50B-8E60-A197-4ADAF343EC01}"/>
                </a:ext>
              </a:extLst>
            </p:cNvPr>
            <p:cNvGrpSpPr/>
            <p:nvPr/>
          </p:nvGrpSpPr>
          <p:grpSpPr>
            <a:xfrm>
              <a:off x="4169908" y="1331088"/>
              <a:ext cx="2301968" cy="4594229"/>
              <a:chOff x="4228779" y="1327796"/>
              <a:chExt cx="2301968" cy="4594229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8EE99EEA-74E5-F72E-CBFA-6791127B9C62}"/>
                  </a:ext>
                </a:extLst>
              </p:cNvPr>
              <p:cNvSpPr/>
              <p:nvPr/>
            </p:nvSpPr>
            <p:spPr>
              <a:xfrm>
                <a:off x="4228779" y="1327796"/>
                <a:ext cx="2301968" cy="459422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6441810-3109-9CB1-EFE0-CD45B963266D}"/>
                  </a:ext>
                </a:extLst>
              </p:cNvPr>
              <p:cNvSpPr txBox="1"/>
              <p:nvPr/>
            </p:nvSpPr>
            <p:spPr>
              <a:xfrm>
                <a:off x="4293704" y="1599346"/>
                <a:ext cx="20247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Dominant Displacement </a:t>
                </a:r>
              </a:p>
              <a:p>
                <a:pPr algn="ctr"/>
                <a:r>
                  <a:rPr lang="en-US" sz="1400" b="1" dirty="0"/>
                  <a:t>Estimation</a:t>
                </a: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B8E30707-CDF2-3B16-E627-EEE9AE930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8135" y="2238181"/>
                <a:ext cx="2141226" cy="1274363"/>
              </a:xfrm>
              <a:prstGeom prst="rect">
                <a:avLst/>
              </a:prstGeom>
            </p:spPr>
          </p:pic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C169440-69FC-F7D5-769A-1676ED470438}"/>
                  </a:ext>
                </a:extLst>
              </p:cNvPr>
              <p:cNvSpPr txBox="1"/>
              <p:nvPr/>
            </p:nvSpPr>
            <p:spPr>
              <a:xfrm>
                <a:off x="4289306" y="3526393"/>
                <a:ext cx="19917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Displacement of edges </a:t>
                </a:r>
                <a:r>
                  <a:rPr lang="en-US" sz="1200" dirty="0" err="1"/>
                  <a:t>n</a:t>
                </a:r>
                <a:r>
                  <a:rPr lang="en-US" sz="1200" dirty="0" err="1">
                    <a:sym typeface="Wingdings" panose="05000000000000000000" pitchFamily="2" charset="2"/>
                  </a:rPr>
                  <a:t>m</a:t>
                </a:r>
                <a:endParaRPr lang="en-US" sz="1200" dirty="0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9F9A125B-B49C-51DB-9AFF-2A2D8F4A62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09150" y="4268657"/>
                <a:ext cx="2141226" cy="1436269"/>
              </a:xfrm>
              <a:prstGeom prst="rect">
                <a:avLst/>
              </a:prstGeom>
            </p:spPr>
          </p:pic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DDEC2657-7A0C-4794-5350-3588EA75C0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6096" y="3745144"/>
                <a:ext cx="0" cy="4328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CE58CB2-DB0F-5F07-F0E5-D33981BE420D}"/>
                </a:ext>
              </a:extLst>
            </p:cNvPr>
            <p:cNvGrpSpPr/>
            <p:nvPr/>
          </p:nvGrpSpPr>
          <p:grpSpPr>
            <a:xfrm>
              <a:off x="6838332" y="1331088"/>
              <a:ext cx="2600998" cy="4687664"/>
              <a:chOff x="6909853" y="1308339"/>
              <a:chExt cx="2600998" cy="4687664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140B8BEE-0335-2286-84B2-F45DF63AF51C}"/>
                  </a:ext>
                </a:extLst>
              </p:cNvPr>
              <p:cNvSpPr/>
              <p:nvPr/>
            </p:nvSpPr>
            <p:spPr>
              <a:xfrm>
                <a:off x="6909853" y="1308339"/>
                <a:ext cx="2600998" cy="468766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8B1AF23F-225F-261D-AE82-04EE457E8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93960" y="2070780"/>
                <a:ext cx="2441766" cy="1746146"/>
              </a:xfrm>
              <a:prstGeom prst="rect">
                <a:avLst/>
              </a:prstGeom>
            </p:spPr>
          </p:pic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A99E7B71-377E-E704-B55A-FE0B0B7B591D}"/>
                  </a:ext>
                </a:extLst>
              </p:cNvPr>
              <p:cNvGrpSpPr/>
              <p:nvPr/>
            </p:nvGrpSpPr>
            <p:grpSpPr>
              <a:xfrm>
                <a:off x="7217669" y="4380554"/>
                <a:ext cx="2104359" cy="1378428"/>
                <a:chOff x="7158172" y="4104920"/>
                <a:chExt cx="2104359" cy="1378428"/>
              </a:xfrm>
            </p:grpSpPr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CB3EC553-5161-38A9-F5CB-1C712D9195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91656" y="4418827"/>
                  <a:ext cx="1837392" cy="1064521"/>
                </a:xfrm>
                <a:prstGeom prst="rect">
                  <a:avLst/>
                </a:prstGeom>
              </p:spPr>
            </p:pic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3A7E0A-9836-F596-7C78-7A89C2626BE6}"/>
                    </a:ext>
                  </a:extLst>
                </p:cNvPr>
                <p:cNvSpPr txBox="1"/>
                <p:nvPr/>
              </p:nvSpPr>
              <p:spPr>
                <a:xfrm>
                  <a:off x="7158172" y="4104920"/>
                  <a:ext cx="21043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Weighted Adjacency </a:t>
                  </a:r>
                  <a:r>
                    <a:rPr lang="en-US" sz="1200" dirty="0" err="1"/>
                    <a:t>Martix</a:t>
                  </a:r>
                  <a:r>
                    <a:rPr lang="en-US" sz="1200" dirty="0"/>
                    <a:t> </a:t>
                  </a:r>
                  <a:r>
                    <a:rPr lang="en-US" sz="1200" i="1" dirty="0"/>
                    <a:t>A</a:t>
                  </a:r>
                  <a:r>
                    <a:rPr lang="en-US" sz="1200" i="1" baseline="-25000" dirty="0"/>
                    <a:t>w</a:t>
                  </a:r>
                  <a:endParaRPr lang="en-US" sz="1200" i="1" dirty="0"/>
                </a:p>
              </p:txBody>
            </p:sp>
          </p:grp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43069C8-D850-30AA-AA13-22EBB232C475}"/>
                  </a:ext>
                </a:extLst>
              </p:cNvPr>
              <p:cNvSpPr txBox="1"/>
              <p:nvPr/>
            </p:nvSpPr>
            <p:spPr>
              <a:xfrm>
                <a:off x="7258130" y="1443479"/>
                <a:ext cx="20638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Displacement Consistent </a:t>
                </a:r>
              </a:p>
              <a:p>
                <a:pPr algn="ctr"/>
                <a:r>
                  <a:rPr lang="en-US" sz="1400" b="1" dirty="0"/>
                  <a:t>Edge -Weighting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1030894C-C8AE-8CCA-03B2-23F43FFA2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70639" y="3884213"/>
                <a:ext cx="0" cy="4328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55138A1-397F-FC8C-C41E-D8BC8F96B921}"/>
                </a:ext>
              </a:extLst>
            </p:cNvPr>
            <p:cNvGrpSpPr/>
            <p:nvPr/>
          </p:nvGrpSpPr>
          <p:grpSpPr>
            <a:xfrm>
              <a:off x="9822872" y="1308339"/>
              <a:ext cx="2230582" cy="4687664"/>
              <a:chOff x="9822872" y="1308339"/>
              <a:chExt cx="2230582" cy="4687664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614A7A3F-DD09-6413-4680-E1847AE957CA}"/>
                  </a:ext>
                </a:extLst>
              </p:cNvPr>
              <p:cNvSpPr/>
              <p:nvPr/>
            </p:nvSpPr>
            <p:spPr>
              <a:xfrm>
                <a:off x="9822872" y="1308339"/>
                <a:ext cx="2230582" cy="468766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AAF5265-0F46-3D3F-6A34-989B3CEC7D04}"/>
                  </a:ext>
                </a:extLst>
              </p:cNvPr>
              <p:cNvSpPr txBox="1"/>
              <p:nvPr/>
            </p:nvSpPr>
            <p:spPr>
              <a:xfrm>
                <a:off x="9904001" y="1551200"/>
                <a:ext cx="20683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Forensic GIN Propagation</a:t>
                </a:r>
              </a:p>
            </p:txBody>
          </p:sp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FAD0F2D0-EFF8-CC2C-8BAF-3351C85065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39175" y="1957374"/>
                <a:ext cx="2005052" cy="3719106"/>
              </a:xfrm>
              <a:prstGeom prst="rect">
                <a:avLst/>
              </a:prstGeom>
            </p:spPr>
          </p:pic>
        </p:grp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C5EBF744-B645-31FE-808C-487FB8C45A0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469" y="3745713"/>
              <a:ext cx="3429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12B8E05-0DD9-80E7-6B83-D48A31A81580}"/>
                </a:ext>
              </a:extLst>
            </p:cNvPr>
            <p:cNvCxnSpPr>
              <a:cxnSpLocks/>
            </p:cNvCxnSpPr>
            <p:nvPr/>
          </p:nvCxnSpPr>
          <p:spPr>
            <a:xfrm>
              <a:off x="3826930" y="3710455"/>
              <a:ext cx="3429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9A2BD67-EACC-FE0B-03AA-48DDDB0ECA9C}"/>
                </a:ext>
              </a:extLst>
            </p:cNvPr>
            <p:cNvCxnSpPr>
              <a:cxnSpLocks/>
            </p:cNvCxnSpPr>
            <p:nvPr/>
          </p:nvCxnSpPr>
          <p:spPr>
            <a:xfrm>
              <a:off x="6471876" y="3670239"/>
              <a:ext cx="3429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B747F91-BB6C-8D8D-9B65-BBE6FAE105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9894" y="3697996"/>
              <a:ext cx="3429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859E21F5-DD25-8F37-5E52-C4AA83B2241B}"/>
              </a:ext>
            </a:extLst>
          </p:cNvPr>
          <p:cNvSpPr/>
          <p:nvPr/>
        </p:nvSpPr>
        <p:spPr>
          <a:xfrm>
            <a:off x="0" y="932683"/>
            <a:ext cx="12192000" cy="53538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8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0320-8A84-94BE-DB70-9867580C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-1"/>
            <a:ext cx="10515600" cy="900113"/>
          </a:xfrm>
        </p:spPr>
        <p:txBody>
          <a:bodyPr/>
          <a:lstStyle/>
          <a:p>
            <a:r>
              <a:rPr lang="en-US" dirty="0"/>
              <a:t>Adaptive Forensic Gate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C637E7-D7F5-7C7C-6963-9AE8BB3FC7E9}"/>
              </a:ext>
            </a:extLst>
          </p:cNvPr>
          <p:cNvSpPr/>
          <p:nvPr/>
        </p:nvSpPr>
        <p:spPr>
          <a:xfrm>
            <a:off x="247650" y="138112"/>
            <a:ext cx="5448300" cy="762000"/>
          </a:xfrm>
          <a:prstGeom prst="roundRect">
            <a:avLst/>
          </a:prstGeom>
          <a:solidFill>
            <a:srgbClr val="7030A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DD38E4AC-2563-9D74-747D-AB6B39E52616}"/>
              </a:ext>
            </a:extLst>
          </p:cNvPr>
          <p:cNvGrpSpPr/>
          <p:nvPr/>
        </p:nvGrpSpPr>
        <p:grpSpPr>
          <a:xfrm>
            <a:off x="0" y="1181100"/>
            <a:ext cx="12192000" cy="5538788"/>
            <a:chOff x="0" y="1181100"/>
            <a:chExt cx="12192000" cy="553878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774AF45-B212-8321-648B-87B1F92AE659}"/>
                </a:ext>
              </a:extLst>
            </p:cNvPr>
            <p:cNvSpPr/>
            <p:nvPr/>
          </p:nvSpPr>
          <p:spPr>
            <a:xfrm>
              <a:off x="1971532" y="1608425"/>
              <a:ext cx="10101193" cy="4750306"/>
            </a:xfrm>
            <a:prstGeom prst="roundRect">
              <a:avLst/>
            </a:prstGeom>
            <a:noFill/>
            <a:ln w="22225">
              <a:solidFill>
                <a:schemeClr val="accent4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C63A267-70A8-B90E-AC0E-A6E8F200A506}"/>
                </a:ext>
              </a:extLst>
            </p:cNvPr>
            <p:cNvCxnSpPr>
              <a:cxnSpLocks/>
            </p:cNvCxnSpPr>
            <p:nvPr/>
          </p:nvCxnSpPr>
          <p:spPr>
            <a:xfrm>
              <a:off x="4610100" y="1608425"/>
              <a:ext cx="0" cy="4750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594AE4C-2306-4711-5E22-2E8F7D5F0FA1}"/>
                </a:ext>
              </a:extLst>
            </p:cNvPr>
            <p:cNvCxnSpPr>
              <a:cxnSpLocks/>
            </p:cNvCxnSpPr>
            <p:nvPr/>
          </p:nvCxnSpPr>
          <p:spPr>
            <a:xfrm>
              <a:off x="6784833" y="1608425"/>
              <a:ext cx="0" cy="4750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D6DD557-D880-6DD2-092C-496DD416D016}"/>
                </a:ext>
              </a:extLst>
            </p:cNvPr>
            <p:cNvCxnSpPr>
              <a:cxnSpLocks/>
            </p:cNvCxnSpPr>
            <p:nvPr/>
          </p:nvCxnSpPr>
          <p:spPr>
            <a:xfrm>
              <a:off x="9240276" y="1638067"/>
              <a:ext cx="0" cy="4750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FF9E0F-B479-13E1-662D-E76D30CC2783}"/>
                </a:ext>
              </a:extLst>
            </p:cNvPr>
            <p:cNvSpPr/>
            <p:nvPr/>
          </p:nvSpPr>
          <p:spPr>
            <a:xfrm>
              <a:off x="247650" y="3215481"/>
              <a:ext cx="1523524" cy="15113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4A9A84-2440-F565-E2D5-77A58FF371ED}"/>
                </a:ext>
              </a:extLst>
            </p:cNvPr>
            <p:cNvSpPr/>
            <p:nvPr/>
          </p:nvSpPr>
          <p:spPr>
            <a:xfrm>
              <a:off x="247650" y="4847431"/>
              <a:ext cx="1523524" cy="15113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36F6295-B510-C3B3-5E7C-7D9813D94476}"/>
                </a:ext>
              </a:extLst>
            </p:cNvPr>
            <p:cNvGrpSpPr/>
            <p:nvPr/>
          </p:nvGrpSpPr>
          <p:grpSpPr>
            <a:xfrm>
              <a:off x="1065807" y="3859526"/>
              <a:ext cx="497013" cy="755650"/>
              <a:chOff x="8799061" y="4921715"/>
              <a:chExt cx="469257" cy="387660"/>
            </a:xfrm>
            <a:gradFill>
              <a:gsLst>
                <a:gs pos="60000">
                  <a:srgbClr val="FF0000"/>
                </a:gs>
                <a:gs pos="100000">
                  <a:srgbClr val="FF0000">
                    <a:alpha val="50000"/>
                    <a:lumMod val="50000"/>
                    <a:lumOff val="50000"/>
                  </a:srgbClr>
                </a:gs>
              </a:gsLst>
              <a:path path="rect">
                <a:fillToRect l="100000" t="100000"/>
              </a:path>
            </a:gradFill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F51C7EE-DEAA-8981-F572-5C0C28CCD20C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7D488A9C-988F-84E1-6DE0-117F6A64B236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54A6B93D-1EF0-B6F0-2D93-F3E99219B5BA}"/>
                    </a:ext>
                  </a:extLst>
                </p:cNvPr>
                <p:cNvCxnSpPr>
                  <a:stCxn id="41" idx="2"/>
                  <a:endCxn id="41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2D1A3A0-AB95-5270-0591-E616B86260EB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58E1548D-4DD7-D522-4633-55DBCFD06522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24653F06-D693-8A2B-78FD-7D54F3C113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65836F2-4DAC-11BD-3D19-8A92A982E8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5B2AB390-4A49-BD81-8904-CBC4B090F6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7D7703A7-3319-EF16-8B8E-4A5E7D37EE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31801A2F-F9EA-D4DB-628D-12A745D743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A5B2D2D2-AE21-859E-5B4B-C7EBE5A5AA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1B252A04-7888-E572-5EA5-8C7F3EF647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11C9AD76-F13E-E1CF-9F7D-E97B46E96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4C7B1B8C-7677-109F-4009-DFE3F0124BEA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EFBCEB9-C152-7236-8E44-AB9C18EC1C6E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7E498F0F-89CD-89A2-51EE-DFE2A4994D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93A7A901-B816-071F-D726-56EE201539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C72AB1C-B17D-FFED-D4B4-F5AA77A7D4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5A27417-F807-C97B-720E-4FCF9D8A3B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5B0A8C3-B83E-5D5F-8015-D7331B01E1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9F74F09-B2D3-0A75-5DC2-DACBED33B9FD}"/>
                </a:ext>
              </a:extLst>
            </p:cNvPr>
            <p:cNvGrpSpPr/>
            <p:nvPr/>
          </p:nvGrpSpPr>
          <p:grpSpPr>
            <a:xfrm>
              <a:off x="1083411" y="5398266"/>
              <a:ext cx="497013" cy="755650"/>
              <a:chOff x="8799061" y="4921715"/>
              <a:chExt cx="469257" cy="387660"/>
            </a:xfrm>
            <a:solidFill>
              <a:schemeClr val="tx2">
                <a:lumMod val="40000"/>
                <a:lumOff val="60000"/>
              </a:schemeClr>
            </a:solidFill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4559E5C9-652B-198F-B122-D1A4566D78F8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89AC80A9-DB99-E373-BC37-39B932F55E70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DFED9AD-1F8D-B28D-B330-D2D2F62E68FB}"/>
                    </a:ext>
                  </a:extLst>
                </p:cNvPr>
                <p:cNvCxnSpPr>
                  <a:stCxn id="62" idx="2"/>
                  <a:endCxn id="62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F88E3D8C-AC0C-5496-ED3B-1A41D09C02BF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8BCB9475-57B7-EC75-4CED-1BCE809E2E0D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32E39A9A-16FC-7939-5F72-3F7F053D9F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46611E7B-3957-AC4B-79EC-249C2C22A1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EFC7A2C7-0F55-D0A1-D71F-4A3B331AED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1DABFFA4-C128-5302-4ECF-DCF2B1447A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889B9BD9-E7C2-62D0-E766-599B8040E3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D06EBA8E-7BCD-B6F1-54C8-D5C8531F88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CA143F26-ABC9-A0C8-F615-8659CA8C2C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CDC9A917-D5C7-CD1D-CBF7-513EFC41F8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4813810D-F58E-650D-ED41-8E02CD637BF0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75A28CB3-F2EA-7727-6CAC-F36E2086160E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53D36D2-6753-676C-6C0C-9149FBBCCD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5BA04A06-C3DA-3A25-CE74-A4EA11B538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D14C33F-D67C-2FDF-D76C-B98624E3BB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9B0E5B35-AC69-1FFB-CB02-CC522FAF8E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B3AC48F2-771B-7890-CF9D-D31F875453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38F6F2-B2EB-FB9B-57A7-8871F2914E82}"/>
                </a:ext>
              </a:extLst>
            </p:cNvPr>
            <p:cNvSpPr/>
            <p:nvPr/>
          </p:nvSpPr>
          <p:spPr>
            <a:xfrm>
              <a:off x="249813" y="1571597"/>
              <a:ext cx="1509004" cy="15113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F54BCD4-EABC-225D-94DC-7776982376BE}"/>
                </a:ext>
              </a:extLst>
            </p:cNvPr>
            <p:cNvSpPr txBox="1"/>
            <p:nvPr/>
          </p:nvSpPr>
          <p:spPr>
            <a:xfrm>
              <a:off x="317633" y="1575506"/>
              <a:ext cx="15090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From Hypergraph</a:t>
              </a:r>
            </a:p>
            <a:p>
              <a:pPr algn="ctr"/>
              <a:r>
                <a:rPr lang="en-US" sz="1200" dirty="0"/>
                <a:t>(Group-level context)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69B69BE-9838-3EEB-686F-3AAA51003DE2}"/>
                </a:ext>
              </a:extLst>
            </p:cNvPr>
            <p:cNvSpPr txBox="1"/>
            <p:nvPr/>
          </p:nvSpPr>
          <p:spPr>
            <a:xfrm>
              <a:off x="302050" y="2519580"/>
              <a:ext cx="741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r>
                <a:rPr lang="en-US" baseline="30000" dirty="0"/>
                <a:t>(hyper)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D9655CE-FFFB-E920-3FAD-A2E9A2E363DB}"/>
                </a:ext>
              </a:extLst>
            </p:cNvPr>
            <p:cNvSpPr txBox="1"/>
            <p:nvPr/>
          </p:nvSpPr>
          <p:spPr>
            <a:xfrm>
              <a:off x="426375" y="2764391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9EDBBB3-B366-C06C-D8DD-B029653C991C}"/>
                </a:ext>
              </a:extLst>
            </p:cNvPr>
            <p:cNvSpPr txBox="1"/>
            <p:nvPr/>
          </p:nvSpPr>
          <p:spPr>
            <a:xfrm>
              <a:off x="434206" y="3193992"/>
              <a:ext cx="13369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From Forensic GIN</a:t>
              </a:r>
            </a:p>
            <a:p>
              <a:pPr algn="ctr"/>
              <a:r>
                <a:rPr lang="en-US" sz="1200" dirty="0"/>
                <a:t>(Pairwise</a:t>
              </a:r>
            </a:p>
            <a:p>
              <a:pPr algn="ctr"/>
              <a:r>
                <a:rPr lang="en-US" sz="1200" dirty="0"/>
                <a:t> Correspondence)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3C6740A-7F1D-066B-B6B9-CA9595957472}"/>
                </a:ext>
              </a:extLst>
            </p:cNvPr>
            <p:cNvSpPr txBox="1"/>
            <p:nvPr/>
          </p:nvSpPr>
          <p:spPr>
            <a:xfrm>
              <a:off x="2998330" y="3429000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r>
                <a:rPr lang="en-US" baseline="30000" dirty="0"/>
                <a:t>(GIN)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27A09BF-F614-A9E6-EF19-223FAAAD1272}"/>
                </a:ext>
              </a:extLst>
            </p:cNvPr>
            <p:cNvSpPr txBox="1"/>
            <p:nvPr/>
          </p:nvSpPr>
          <p:spPr>
            <a:xfrm>
              <a:off x="426211" y="5974726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D614002-0B39-F8BD-D2CE-318FE25352F9}"/>
                </a:ext>
              </a:extLst>
            </p:cNvPr>
            <p:cNvSpPr txBox="1"/>
            <p:nvPr/>
          </p:nvSpPr>
          <p:spPr>
            <a:xfrm>
              <a:off x="489777" y="4875488"/>
              <a:ext cx="1126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Normalized </a:t>
              </a:r>
            </a:p>
            <a:p>
              <a:pPr algn="ctr"/>
              <a:r>
                <a:rPr lang="en-US" sz="1200" dirty="0"/>
                <a:t>Fused Features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E6ABD54-0DC9-1A6A-F38F-BAD11CFAC745}"/>
                    </a:ext>
                  </a:extLst>
                </p:cNvPr>
                <p:cNvSpPr txBox="1"/>
                <p:nvPr/>
              </p:nvSpPr>
              <p:spPr>
                <a:xfrm>
                  <a:off x="376969" y="5640279"/>
                  <a:ext cx="7855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norm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E6ABD54-0DC9-1A6A-F38F-BAD11CFAC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969" y="5640279"/>
                  <a:ext cx="785536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645D686-DE31-6C9A-5C91-ED2D2CAB51D5}"/>
                </a:ext>
              </a:extLst>
            </p:cNvPr>
            <p:cNvSpPr txBox="1"/>
            <p:nvPr/>
          </p:nvSpPr>
          <p:spPr>
            <a:xfrm>
              <a:off x="488744" y="4338177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D7600F5-F889-60CE-544C-A610BF6EBA7F}"/>
                </a:ext>
              </a:extLst>
            </p:cNvPr>
            <p:cNvGrpSpPr/>
            <p:nvPr/>
          </p:nvGrpSpPr>
          <p:grpSpPr>
            <a:xfrm>
              <a:off x="2366703" y="2319447"/>
              <a:ext cx="497013" cy="755650"/>
              <a:chOff x="8799061" y="4921715"/>
              <a:chExt cx="469257" cy="387660"/>
            </a:xfrm>
            <a:gradFill>
              <a:gsLst>
                <a:gs pos="22000">
                  <a:srgbClr val="FF00FF"/>
                </a:gs>
                <a:gs pos="39457">
                  <a:srgbClr val="FF00FF"/>
                </a:gs>
                <a:gs pos="55000">
                  <a:srgbClr val="FF00FF"/>
                </a:gs>
                <a:gs pos="9174">
                  <a:srgbClr val="FF00FF"/>
                </a:gs>
                <a:gs pos="87145">
                  <a:srgbClr val="FF00FF"/>
                </a:gs>
                <a:gs pos="61472">
                  <a:srgbClr val="FF00FF"/>
                </a:gs>
                <a:gs pos="76150">
                  <a:srgbClr val="FF87FF"/>
                </a:gs>
                <a:gs pos="100000">
                  <a:srgbClr val="FF00FF"/>
                </a:gs>
              </a:gsLst>
              <a:path path="rect">
                <a:fillToRect l="100000" t="100000"/>
              </a:path>
            </a:gradFill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62B2A1F9-DCBB-2D64-B28F-DE91AF4C5352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119" name="Cube 118">
                  <a:extLst>
                    <a:ext uri="{FF2B5EF4-FFF2-40B4-BE49-F238E27FC236}">
                      <a16:creationId xmlns:a16="http://schemas.microsoft.com/office/drawing/2014/main" id="{234EE145-66F3-2030-24B3-31857D1686E8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722C5B8D-32E6-1346-355D-398786A46290}"/>
                    </a:ext>
                  </a:extLst>
                </p:cNvPr>
                <p:cNvCxnSpPr>
                  <a:stCxn id="119" idx="2"/>
                  <a:endCxn id="119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2D0EAAC9-9A8F-247F-96AD-B08CFDE4A763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76CAABF7-DA17-5BD5-6309-D3FAC023137F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1D95266E-8F30-B0DD-42D8-7DBFAF2B1B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2410AB25-BDD2-5897-D3A6-0D18C6E265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755EDA4D-8151-2D55-A619-0729598EFA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7742AEDA-7FFC-F111-78CE-44DA79CF15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5D4E2D4D-455A-9F01-219E-0906185256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0DAABF89-E6F7-3744-0411-3FD60D9EC6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EFF20B8A-8F9A-A8E6-907D-761C81DFD1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0FDE4F76-AB15-3A6E-5157-3A91F01EFC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ECE86915-AECF-071C-BBB2-56DB5ADC4053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641EA793-6BCD-124D-2129-0BD0042A9F59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2F99ACF1-6C33-5BE9-0718-4310CF90CC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1913D8AB-0078-A9B3-4900-214B5380D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C1C0447D-CCF8-6B12-E47C-C4118A733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F0838BF4-B78E-5244-47F1-DAEF6B8234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C433C0C8-63B7-5639-FEC3-0C3E1DB0CE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D054ADF0-07CD-56DA-AFBF-F8C56AB86061}"/>
                </a:ext>
              </a:extLst>
            </p:cNvPr>
            <p:cNvGrpSpPr/>
            <p:nvPr/>
          </p:nvGrpSpPr>
          <p:grpSpPr>
            <a:xfrm>
              <a:off x="2358281" y="4880240"/>
              <a:ext cx="497013" cy="755650"/>
              <a:chOff x="8799061" y="4921715"/>
              <a:chExt cx="469257" cy="387660"/>
            </a:xfrm>
            <a:solidFill>
              <a:schemeClr val="tx2">
                <a:lumMod val="40000"/>
                <a:lumOff val="60000"/>
              </a:schemeClr>
            </a:solidFill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82C8793C-D5F2-5A53-477D-75D56614F2E1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140" name="Cube 139">
                  <a:extLst>
                    <a:ext uri="{FF2B5EF4-FFF2-40B4-BE49-F238E27FC236}">
                      <a16:creationId xmlns:a16="http://schemas.microsoft.com/office/drawing/2014/main" id="{C861E661-26F8-0389-CA55-B6270F81AB2F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103C1876-4EEB-842C-61EB-C68109FD9F6A}"/>
                    </a:ext>
                  </a:extLst>
                </p:cNvPr>
                <p:cNvCxnSpPr>
                  <a:stCxn id="140" idx="2"/>
                  <a:endCxn id="140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E22D19A8-9D19-2FD7-5A1E-A8CDE86708BC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3FA678E2-3E67-A360-745C-5FC206FE91DE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F0554540-D516-C1C1-5C1A-1D18C366CD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95928269-1FBA-3FE9-4204-E61D805906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952398DD-2746-854E-A988-553B590EF3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C43CE497-5A95-0459-1FF2-D788C0292A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7323F991-A333-EB24-C977-0B423F6290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A6D77055-16E3-5C11-902E-4BEA3ABD4F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D22FDDC8-DB15-1311-29F8-8E22AA3279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9511F810-F081-71F8-8F45-39D58391F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F4001802-275B-FC6F-0C56-AD54E233BACA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F5D6F23A-6DA4-066F-67BE-DC2C12C6B956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2145D7B8-328B-53D1-ABB7-AA032AB37F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35CF4668-E8FF-A127-1373-0B1B9C76D6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6AACDFC7-92FE-8F8C-3FE8-938E5796A7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80C85C96-821E-2CB3-DD49-0EE240B3B6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A30A7903-3EBC-90EB-3CE3-22E873DC21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Right Brace 165">
              <a:extLst>
                <a:ext uri="{FF2B5EF4-FFF2-40B4-BE49-F238E27FC236}">
                  <a16:creationId xmlns:a16="http://schemas.microsoft.com/office/drawing/2014/main" id="{99EFFC8E-0B9A-6397-B0CF-1713451030FA}"/>
                </a:ext>
              </a:extLst>
            </p:cNvPr>
            <p:cNvSpPr/>
            <p:nvPr/>
          </p:nvSpPr>
          <p:spPr>
            <a:xfrm rot="10800000" flipH="1">
              <a:off x="2766173" y="2198201"/>
              <a:ext cx="446796" cy="349676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1C473423-8EC5-E02B-F736-CC69BFDE4839}"/>
                </a:ext>
              </a:extLst>
            </p:cNvPr>
            <p:cNvCxnSpPr/>
            <p:nvPr/>
          </p:nvCxnSpPr>
          <p:spPr>
            <a:xfrm>
              <a:off x="2362200" y="2201496"/>
              <a:ext cx="0" cy="3623449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0972E90C-37FF-8B80-B1FF-D7A01FE51608}"/>
                </a:ext>
              </a:extLst>
            </p:cNvPr>
            <p:cNvCxnSpPr/>
            <p:nvPr/>
          </p:nvCxnSpPr>
          <p:spPr>
            <a:xfrm>
              <a:off x="3655769" y="2201496"/>
              <a:ext cx="0" cy="3623449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3E4BF660-6BEF-0FA1-1814-2CCD4CF13659}"/>
                    </a:ext>
                  </a:extLst>
                </p:cNvPr>
                <p:cNvSpPr txBox="1"/>
                <p:nvPr/>
              </p:nvSpPr>
              <p:spPr>
                <a:xfrm>
                  <a:off x="2190751" y="5748591"/>
                  <a:ext cx="378459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/>
                    <a:t>gate_in</a:t>
                  </a:r>
                  <a:r>
                    <a:rPr lang="en-US" sz="1200" dirty="0"/>
                    <a:t>=</a:t>
                  </a:r>
                  <a:r>
                    <a:rPr lang="en-US" sz="1200" dirty="0" err="1"/>
                    <a:t>concat</a:t>
                  </a:r>
                  <a:r>
                    <a:rPr lang="en-US" sz="1200" dirty="0"/>
                    <a:t>(Z</a:t>
                  </a:r>
                  <a:r>
                    <a:rPr lang="en-US" sz="1200" baseline="30000" dirty="0"/>
                    <a:t>(GIN)</a:t>
                  </a:r>
                  <a:r>
                    <a:rPr lang="en-US" sz="1200" dirty="0"/>
                    <a:t>,Z</a:t>
                  </a:r>
                  <a:r>
                    <a:rPr lang="en-US" sz="1200" baseline="30000" dirty="0"/>
                    <a:t>(hyper)</a:t>
                  </a:r>
                  <a:r>
                    <a:rPr lang="en-US" sz="1200" dirty="0"/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 pitchFamily="18" charset="0"/>
                            </a:rPr>
                            <m:t>norm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3E4BF660-6BEF-0FA1-1814-2CCD4CF13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751" y="5748591"/>
                  <a:ext cx="3784599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CBD7A9B2-939F-9651-4860-D43DE024355D}"/>
                </a:ext>
              </a:extLst>
            </p:cNvPr>
            <p:cNvSpPr txBox="1"/>
            <p:nvPr/>
          </p:nvSpPr>
          <p:spPr>
            <a:xfrm>
              <a:off x="2995915" y="2280099"/>
              <a:ext cx="741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r>
                <a:rPr lang="en-US" baseline="30000" dirty="0"/>
                <a:t>(hyper)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05C8EB18-2B78-0AFD-EED9-3496FBA4C023}"/>
                </a:ext>
              </a:extLst>
            </p:cNvPr>
            <p:cNvSpPr txBox="1"/>
            <p:nvPr/>
          </p:nvSpPr>
          <p:spPr>
            <a:xfrm>
              <a:off x="444761" y="4097773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r>
                <a:rPr lang="en-US" baseline="30000" dirty="0"/>
                <a:t>(GIN)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1A658452-CA4B-DE48-FA5D-284D13546FEB}"/>
                    </a:ext>
                  </a:extLst>
                </p:cNvPr>
                <p:cNvSpPr txBox="1"/>
                <p:nvPr/>
              </p:nvSpPr>
              <p:spPr>
                <a:xfrm>
                  <a:off x="2981361" y="4662765"/>
                  <a:ext cx="7855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norm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1A658452-CA4B-DE48-FA5D-284D13546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1361" y="4662765"/>
                  <a:ext cx="78553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CCF81427-15B8-FFD6-A3A1-425EC17EFB85}"/>
                </a:ext>
              </a:extLst>
            </p:cNvPr>
            <p:cNvSpPr txBox="1"/>
            <p:nvPr/>
          </p:nvSpPr>
          <p:spPr>
            <a:xfrm>
              <a:off x="3108777" y="2511694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CC190314-46FA-CF04-2A66-E87E077B971E}"/>
                </a:ext>
              </a:extLst>
            </p:cNvPr>
            <p:cNvSpPr txBox="1"/>
            <p:nvPr/>
          </p:nvSpPr>
          <p:spPr>
            <a:xfrm>
              <a:off x="3129231" y="3627952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2421036E-D590-C0B9-4EDD-118ED65B66A8}"/>
                </a:ext>
              </a:extLst>
            </p:cNvPr>
            <p:cNvSpPr txBox="1"/>
            <p:nvPr/>
          </p:nvSpPr>
          <p:spPr>
            <a:xfrm>
              <a:off x="3118114" y="5073183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B2F71109-F99E-3FAA-7720-656EDE0F4CD1}"/>
                </a:ext>
              </a:extLst>
            </p:cNvPr>
            <p:cNvGrpSpPr/>
            <p:nvPr/>
          </p:nvGrpSpPr>
          <p:grpSpPr>
            <a:xfrm>
              <a:off x="3810668" y="2052557"/>
              <a:ext cx="535942" cy="1206534"/>
              <a:chOff x="6096000" y="2554505"/>
              <a:chExt cx="730247" cy="1210973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B03BBA37-5BEA-98A9-4742-9F8558EE89C3}"/>
                  </a:ext>
                </a:extLst>
              </p:cNvPr>
              <p:cNvSpPr/>
              <p:nvPr/>
            </p:nvSpPr>
            <p:spPr>
              <a:xfrm>
                <a:off x="6096004" y="2554505"/>
                <a:ext cx="723898" cy="1210973"/>
              </a:xfrm>
              <a:prstGeom prst="rect">
                <a:avLst/>
              </a:prstGeom>
              <a:solidFill>
                <a:srgbClr val="FF00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61AB6344-620A-DBA4-7BBA-F6B63EA0B801}"/>
                  </a:ext>
                </a:extLst>
              </p:cNvPr>
              <p:cNvCxnSpPr>
                <a:cxnSpLocks/>
                <a:stCxn id="237" idx="0"/>
                <a:endCxn id="237" idx="2"/>
              </p:cNvCxnSpPr>
              <p:nvPr/>
            </p:nvCxnSpPr>
            <p:spPr>
              <a:xfrm>
                <a:off x="6457949" y="2554505"/>
                <a:ext cx="0" cy="1210973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D916A2F1-E806-7DF6-D2E5-9108AD166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0349" y="2554505"/>
                <a:ext cx="0" cy="1210973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F4FA391F-C33A-F44A-1A37-0324028C0E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849" y="2581309"/>
                <a:ext cx="0" cy="1184169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EF5BF70D-C40F-1FE1-590C-F503335E4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753496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18F47765-B76E-975B-9E76-D4CBA2B0B1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923410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C2D626DC-3551-DAD5-11CD-5807E2CD2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082897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F0D5FBD9-831D-90BA-5E2D-60D68E523B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238477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E005E45B-2A34-E1C5-4838-5E41A64ACE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429000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25763CFD-B9DB-6A17-8F78-68878BAC9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2349" y="3627952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86532ED0-46E1-C471-798B-06535E8AC1E7}"/>
                </a:ext>
              </a:extLst>
            </p:cNvPr>
            <p:cNvGrpSpPr/>
            <p:nvPr/>
          </p:nvGrpSpPr>
          <p:grpSpPr>
            <a:xfrm>
              <a:off x="3810668" y="3253067"/>
              <a:ext cx="535942" cy="1211673"/>
              <a:chOff x="6096000" y="2549347"/>
              <a:chExt cx="730247" cy="1216131"/>
            </a:xfrm>
            <a:solidFill>
              <a:srgbClr val="FF0000">
                <a:alpha val="60000"/>
              </a:srgbClr>
            </a:solidFill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8CCD9D72-AC7A-ED12-3513-D7625F98F3E5}"/>
                  </a:ext>
                </a:extLst>
              </p:cNvPr>
              <p:cNvSpPr/>
              <p:nvPr/>
            </p:nvSpPr>
            <p:spPr>
              <a:xfrm>
                <a:off x="6096000" y="2554505"/>
                <a:ext cx="723898" cy="121097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762D96A1-9F00-2A3E-4227-8730CB91E739}"/>
                  </a:ext>
                </a:extLst>
              </p:cNvPr>
              <p:cNvCxnSpPr>
                <a:cxnSpLocks/>
                <a:stCxn id="255" idx="0"/>
                <a:endCxn id="255" idx="2"/>
              </p:cNvCxnSpPr>
              <p:nvPr/>
            </p:nvCxnSpPr>
            <p:spPr>
              <a:xfrm>
                <a:off x="6457949" y="2554505"/>
                <a:ext cx="0" cy="1210973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D0C52810-AED2-5BCD-E6DA-4B1209088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0349" y="2554505"/>
                <a:ext cx="0" cy="1210973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C683E2CF-A3EF-DACD-BC19-2F32491E6A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849" y="2549347"/>
                <a:ext cx="0" cy="1216131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386530AD-4D95-B738-51DE-7177692B42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753496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C549AEFE-027B-73D2-7FE7-EB5DAC4235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923410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B14F257B-9592-0E51-F248-F7B2E9C612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082897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D2C3FB10-4142-28CF-234C-F0ACBCDBB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238477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B4D0774F-0926-6369-E476-2D7200491D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429000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3F85D6BE-23BD-EC92-8023-466B5AB102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2349" y="3627952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263F6242-92CB-3598-E3EB-9F9C93A4D8AE}"/>
                </a:ext>
              </a:extLst>
            </p:cNvPr>
            <p:cNvGrpSpPr/>
            <p:nvPr/>
          </p:nvGrpSpPr>
          <p:grpSpPr>
            <a:xfrm>
              <a:off x="3810668" y="4467626"/>
              <a:ext cx="535942" cy="1211673"/>
              <a:chOff x="6096000" y="2549347"/>
              <a:chExt cx="730247" cy="1216131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B9ED6DF0-728F-B527-A503-15A31FEEE51A}"/>
                  </a:ext>
                </a:extLst>
              </p:cNvPr>
              <p:cNvSpPr/>
              <p:nvPr/>
            </p:nvSpPr>
            <p:spPr>
              <a:xfrm>
                <a:off x="6096000" y="2554505"/>
                <a:ext cx="723898" cy="121097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0978E757-850E-5C6C-5181-572BACE4BB1C}"/>
                  </a:ext>
                </a:extLst>
              </p:cNvPr>
              <p:cNvCxnSpPr>
                <a:cxnSpLocks/>
                <a:stCxn id="268" idx="0"/>
                <a:endCxn id="268" idx="2"/>
              </p:cNvCxnSpPr>
              <p:nvPr/>
            </p:nvCxnSpPr>
            <p:spPr>
              <a:xfrm>
                <a:off x="6457949" y="2554505"/>
                <a:ext cx="0" cy="1210973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84053250-5057-AB7F-F480-814F09BB89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0349" y="2554505"/>
                <a:ext cx="0" cy="1210973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571E3440-E892-BBE8-0762-3C81DB66B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849" y="2549347"/>
                <a:ext cx="0" cy="1216131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DA6FD37F-62F7-6816-22F1-285DF421E8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753496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29E364A6-81BB-8651-2085-B789FBE94D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923410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38687358-0104-7F40-E401-3B5C13C27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082897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BDC6AED1-BC1B-CE4F-4032-BB55E6343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238477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9689DD2F-42D9-7AC5-D8FA-8EEB18845C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429000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5C13AA09-11DC-1100-9829-C200D2DED2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2349" y="3627952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18D16B1D-7D4E-9656-4B88-D120B39C2892}"/>
                </a:ext>
              </a:extLst>
            </p:cNvPr>
            <p:cNvSpPr txBox="1"/>
            <p:nvPr/>
          </p:nvSpPr>
          <p:spPr>
            <a:xfrm>
              <a:off x="3242148" y="5974726"/>
              <a:ext cx="6046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(Nx3C)</a:t>
              </a:r>
            </a:p>
          </p:txBody>
        </p: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C9D6C933-D7EA-3290-8E7B-7EEA7FCA7115}"/>
                </a:ext>
              </a:extLst>
            </p:cNvPr>
            <p:cNvCxnSpPr/>
            <p:nvPr/>
          </p:nvCxnSpPr>
          <p:spPr>
            <a:xfrm>
              <a:off x="1616111" y="2589449"/>
              <a:ext cx="746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3D5ECAA9-EB1B-A737-FC31-D06FAA79E054}"/>
                </a:ext>
              </a:extLst>
            </p:cNvPr>
            <p:cNvCxnSpPr/>
            <p:nvPr/>
          </p:nvCxnSpPr>
          <p:spPr>
            <a:xfrm>
              <a:off x="1573266" y="4092029"/>
              <a:ext cx="746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37808559-DF25-CB35-A28A-FC646EB84569}"/>
                </a:ext>
              </a:extLst>
            </p:cNvPr>
            <p:cNvCxnSpPr/>
            <p:nvPr/>
          </p:nvCxnSpPr>
          <p:spPr>
            <a:xfrm>
              <a:off x="1616110" y="5503157"/>
              <a:ext cx="746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Arrow Connector 292">
              <a:extLst>
                <a:ext uri="{FF2B5EF4-FFF2-40B4-BE49-F238E27FC236}">
                  <a16:creationId xmlns:a16="http://schemas.microsoft.com/office/drawing/2014/main" id="{BE38FE83-BFEA-B908-21C8-F921DAD2B24B}"/>
                </a:ext>
              </a:extLst>
            </p:cNvPr>
            <p:cNvCxnSpPr>
              <a:cxnSpLocks/>
            </p:cNvCxnSpPr>
            <p:nvPr/>
          </p:nvCxnSpPr>
          <p:spPr>
            <a:xfrm>
              <a:off x="4444585" y="3627952"/>
              <a:ext cx="3310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1EF3A8C3-6AA7-00D0-6CDF-F41E93176917}"/>
                </a:ext>
              </a:extLst>
            </p:cNvPr>
            <p:cNvGrpSpPr/>
            <p:nvPr/>
          </p:nvGrpSpPr>
          <p:grpSpPr>
            <a:xfrm>
              <a:off x="4824706" y="2037171"/>
              <a:ext cx="535942" cy="1206534"/>
              <a:chOff x="6096000" y="2554505"/>
              <a:chExt cx="730247" cy="1210973"/>
            </a:xfrm>
          </p:grpSpPr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12E1A6B1-57E9-BDE4-A02B-4D4D06143122}"/>
                  </a:ext>
                </a:extLst>
              </p:cNvPr>
              <p:cNvSpPr/>
              <p:nvPr/>
            </p:nvSpPr>
            <p:spPr>
              <a:xfrm>
                <a:off x="6096004" y="2554505"/>
                <a:ext cx="723898" cy="1210973"/>
              </a:xfrm>
              <a:prstGeom prst="rect">
                <a:avLst/>
              </a:prstGeom>
              <a:solidFill>
                <a:srgbClr val="FF00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9E8A9303-90A9-EAE3-55F0-23B397CEA452}"/>
                  </a:ext>
                </a:extLst>
              </p:cNvPr>
              <p:cNvCxnSpPr>
                <a:cxnSpLocks/>
                <a:stCxn id="321" idx="0"/>
                <a:endCxn id="321" idx="2"/>
              </p:cNvCxnSpPr>
              <p:nvPr/>
            </p:nvCxnSpPr>
            <p:spPr>
              <a:xfrm>
                <a:off x="6457949" y="2554505"/>
                <a:ext cx="0" cy="1210973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88B641A4-E3EE-F9E1-D0EF-AC8475D5BD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0349" y="2554505"/>
                <a:ext cx="0" cy="1210973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F1EE10C3-6061-A20B-2CC1-815168342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849" y="2581309"/>
                <a:ext cx="0" cy="1184169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C5026CE6-F3E4-DC9C-107D-01C49311C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753496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41D59698-4621-F85D-65B7-24ECEA7D5D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923410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956472F8-3FD1-7EB6-F4D2-8F89B41F3F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082897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C7E377D8-E487-158C-018F-3B0BEB871D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238477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1B4C6636-D156-6247-FCF9-5BD766DB7B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429000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B1860DC-FBF1-C5D4-B06D-094F0517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2349" y="3627952"/>
                <a:ext cx="723898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5A07349D-3403-1817-70A3-581E8C063E9E}"/>
                </a:ext>
              </a:extLst>
            </p:cNvPr>
            <p:cNvGrpSpPr/>
            <p:nvPr/>
          </p:nvGrpSpPr>
          <p:grpSpPr>
            <a:xfrm>
              <a:off x="4824706" y="3237681"/>
              <a:ext cx="535942" cy="1211673"/>
              <a:chOff x="6096000" y="2549347"/>
              <a:chExt cx="730247" cy="1216131"/>
            </a:xfrm>
            <a:solidFill>
              <a:srgbClr val="FF0000">
                <a:alpha val="60000"/>
              </a:srgbClr>
            </a:solidFill>
          </p:grpSpPr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14DEDF38-470C-E2FD-0F13-83E2E9CE17C6}"/>
                  </a:ext>
                </a:extLst>
              </p:cNvPr>
              <p:cNvSpPr/>
              <p:nvPr/>
            </p:nvSpPr>
            <p:spPr>
              <a:xfrm>
                <a:off x="6096000" y="2554505"/>
                <a:ext cx="723898" cy="121097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E99411E5-52BF-A97F-5338-61936F5077FC}"/>
                  </a:ext>
                </a:extLst>
              </p:cNvPr>
              <p:cNvCxnSpPr>
                <a:cxnSpLocks/>
                <a:stCxn id="311" idx="0"/>
                <a:endCxn id="311" idx="2"/>
              </p:cNvCxnSpPr>
              <p:nvPr/>
            </p:nvCxnSpPr>
            <p:spPr>
              <a:xfrm>
                <a:off x="6457949" y="2554505"/>
                <a:ext cx="0" cy="1210973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11C134D2-C2E7-CAF2-5467-8FAA911C95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0349" y="2554505"/>
                <a:ext cx="0" cy="1210973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66899ECD-1C84-933B-B838-C5DBDBD1AD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849" y="2549347"/>
                <a:ext cx="0" cy="1216131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AB7BECB6-535D-85D7-9667-E8F61A40C8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753496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50A0A8B8-275A-22A7-9F36-536458A63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923410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FA092047-422D-D917-A112-1D6249DF59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082897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F71D1305-D87E-FA19-1E7C-7F57D37D53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238477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67270AE5-E920-77FE-73C5-059B7CD8B9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429000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2F12173B-2480-DE58-2593-AE5CAB62B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2349" y="3627952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C23C5864-1AFF-E68B-F891-087961C9A3CB}"/>
                </a:ext>
              </a:extLst>
            </p:cNvPr>
            <p:cNvGrpSpPr/>
            <p:nvPr/>
          </p:nvGrpSpPr>
          <p:grpSpPr>
            <a:xfrm>
              <a:off x="4824706" y="4452240"/>
              <a:ext cx="535942" cy="1211673"/>
              <a:chOff x="6096000" y="2549347"/>
              <a:chExt cx="730247" cy="1216131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55478D65-ED41-AC08-AE53-A4D943F56CA2}"/>
                  </a:ext>
                </a:extLst>
              </p:cNvPr>
              <p:cNvSpPr/>
              <p:nvPr/>
            </p:nvSpPr>
            <p:spPr>
              <a:xfrm>
                <a:off x="6096000" y="2554505"/>
                <a:ext cx="723898" cy="121097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4E84D42A-B5FA-A2A2-CED5-4A7AFCD3DA5B}"/>
                  </a:ext>
                </a:extLst>
              </p:cNvPr>
              <p:cNvCxnSpPr>
                <a:cxnSpLocks/>
                <a:stCxn id="301" idx="0"/>
                <a:endCxn id="301" idx="2"/>
              </p:cNvCxnSpPr>
              <p:nvPr/>
            </p:nvCxnSpPr>
            <p:spPr>
              <a:xfrm>
                <a:off x="6457949" y="2554505"/>
                <a:ext cx="0" cy="1210973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D475D094-9012-FAFD-FAF7-5A36477D63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0349" y="2554505"/>
                <a:ext cx="0" cy="1210973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5709D037-D123-5B1A-411E-A851524EAC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849" y="2549347"/>
                <a:ext cx="0" cy="1216131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81BBE6A7-017C-3BE1-C396-3DBC1E7545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753496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80409E93-5F59-D999-C8BD-9B4228B0B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923410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F12AC0E2-6401-8752-76D9-65D643FB63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082897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DDBD387C-8F5A-DB2B-739B-C999AAA37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238477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E48AB10B-C4BC-CA5F-4530-991BA90B6B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429000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291025F2-E115-08B6-8557-C2A883B81D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2349" y="3627952"/>
                <a:ext cx="723898" cy="0"/>
              </a:xfrm>
              <a:prstGeom prst="line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1" name="Rectangle: Rounded Corners 330">
              <a:extLst>
                <a:ext uri="{FF2B5EF4-FFF2-40B4-BE49-F238E27FC236}">
                  <a16:creationId xmlns:a16="http://schemas.microsoft.com/office/drawing/2014/main" id="{6481F14F-C0E2-C16E-2E14-90F5DAFFFA36}"/>
                </a:ext>
              </a:extLst>
            </p:cNvPr>
            <p:cNvSpPr/>
            <p:nvPr/>
          </p:nvSpPr>
          <p:spPr>
            <a:xfrm>
              <a:off x="5632318" y="2698942"/>
              <a:ext cx="914400" cy="69365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EA583C-7935-DD30-8716-CBE7A8BC4FEC}"/>
                </a:ext>
              </a:extLst>
            </p:cNvPr>
            <p:cNvSpPr txBox="1"/>
            <p:nvPr/>
          </p:nvSpPr>
          <p:spPr>
            <a:xfrm>
              <a:off x="5813078" y="2994622"/>
              <a:ext cx="6402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i="1" dirty="0" err="1"/>
                <a:t>W</a:t>
              </a:r>
              <a:r>
                <a:rPr lang="en-US" sz="1200" i="1" baseline="-25000" dirty="0" err="1"/>
                <a:t>g</a:t>
              </a:r>
              <a:r>
                <a:rPr lang="en-US" sz="1200" i="1" baseline="-25000" dirty="0"/>
                <a:t>, </a:t>
              </a:r>
              <a:r>
                <a:rPr lang="en-US" sz="1200" i="1" dirty="0" err="1"/>
                <a:t>b</a:t>
              </a:r>
              <a:r>
                <a:rPr lang="en-US" sz="1200" i="1" baseline="-25000" dirty="0" err="1"/>
                <a:t>g</a:t>
              </a:r>
              <a:r>
                <a:rPr lang="en-US" sz="1200" dirty="0"/>
                <a:t>)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D8C8027-4CE7-9645-B46C-508E822A57AC}"/>
                </a:ext>
              </a:extLst>
            </p:cNvPr>
            <p:cNvSpPr/>
            <p:nvPr/>
          </p:nvSpPr>
          <p:spPr>
            <a:xfrm>
              <a:off x="5632318" y="3675533"/>
              <a:ext cx="914400" cy="69365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BE4DC07-E15A-9314-0FE4-D4B8750835A8}"/>
                </a:ext>
              </a:extLst>
            </p:cNvPr>
            <p:cNvSpPr txBox="1"/>
            <p:nvPr/>
          </p:nvSpPr>
          <p:spPr>
            <a:xfrm>
              <a:off x="5819537" y="2745955"/>
              <a:ext cx="6351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Linear</a:t>
              </a: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C0ADA476-2290-ADBD-19B5-D9645D981EF8}"/>
                </a:ext>
              </a:extLst>
            </p:cNvPr>
            <p:cNvSpPr txBox="1"/>
            <p:nvPr/>
          </p:nvSpPr>
          <p:spPr>
            <a:xfrm>
              <a:off x="5712722" y="3837584"/>
              <a:ext cx="7665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Sigmoid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98EC84E8-E355-5179-E0F6-E336D937A2E0}"/>
                </a:ext>
              </a:extLst>
            </p:cNvPr>
            <p:cNvGrpSpPr/>
            <p:nvPr/>
          </p:nvGrpSpPr>
          <p:grpSpPr>
            <a:xfrm>
              <a:off x="5854700" y="4854723"/>
              <a:ext cx="469257" cy="387660"/>
              <a:chOff x="8799061" y="4921715"/>
              <a:chExt cx="469257" cy="387660"/>
            </a:xfrm>
            <a:solidFill>
              <a:schemeClr val="accent6">
                <a:lumMod val="40000"/>
                <a:lumOff val="60000"/>
              </a:schemeClr>
            </a:solidFill>
          </p:grpSpPr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FDB86C67-AC5C-2556-652D-EC93BCE312AF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163" name="Cube 162">
                  <a:extLst>
                    <a:ext uri="{FF2B5EF4-FFF2-40B4-BE49-F238E27FC236}">
                      <a16:creationId xmlns:a16="http://schemas.microsoft.com/office/drawing/2014/main" id="{B74FADE5-1C91-FEA4-017B-CB7EED56BD73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9FFD0CE9-A79D-FF6B-DCDF-95FC85A9EB50}"/>
                    </a:ext>
                  </a:extLst>
                </p:cNvPr>
                <p:cNvCxnSpPr>
                  <a:stCxn id="163" idx="2"/>
                  <a:endCxn id="163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6B5A6C00-C0F6-20AB-C374-F67846498F0D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53BBDFCF-F3F6-E32D-4959-3AFDCED4215B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F1F74CCA-1298-1ECC-FBFD-D84FFD7B99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63EB952A-CCD5-557F-A41D-10B58CC807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DB785E3E-E8A1-CC19-94B1-A86BFDE2BC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1A92AB6C-89C1-3D2F-AA9F-169B1AFA69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CC2C5389-A243-E8EB-9BE1-6D7EECD1FE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ABCA24A8-D55B-A081-F631-9A36C1FF44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F2EC7D24-9E76-35C9-4D17-53B5D7A01A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6FC14DCE-3354-2091-8653-C9FBF031F8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0E660F16-85F4-144F-CE8E-0F12A6460108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E3003862-326E-A158-7029-F27D565CA081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83528B76-E973-4AAA-AB3E-E7367D1908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D1B4FFBE-1C60-4878-17EC-096D2B3DC9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7158B6B1-EB88-52BD-3935-E339949C14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D0446427-63A7-123D-16AB-5E41CDDBAF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BB761F0E-B604-27E3-519A-259E7FF446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BDE2ED36-F9E9-AF48-4233-76AF32D0C31E}"/>
                </a:ext>
              </a:extLst>
            </p:cNvPr>
            <p:cNvCxnSpPr>
              <a:cxnSpLocks/>
            </p:cNvCxnSpPr>
            <p:nvPr/>
          </p:nvCxnSpPr>
          <p:spPr>
            <a:xfrm>
              <a:off x="5360060" y="2994622"/>
              <a:ext cx="2722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BD0595BD-42AC-AABE-308F-A610C0C477EC}"/>
                </a:ext>
              </a:extLst>
            </p:cNvPr>
            <p:cNvCxnSpPr>
              <a:cxnSpLocks/>
            </p:cNvCxnSpPr>
            <p:nvPr/>
          </p:nvCxnSpPr>
          <p:spPr>
            <a:xfrm>
              <a:off x="6094351" y="3424238"/>
              <a:ext cx="0" cy="251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4FE1040B-A1B7-FDEA-7EFB-A0C6AC7EC97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702" y="4369187"/>
              <a:ext cx="0" cy="4782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1BB02E07-096E-44AB-078D-48E2B217D2E9}"/>
                </a:ext>
              </a:extLst>
            </p:cNvPr>
            <p:cNvSpPr txBox="1"/>
            <p:nvPr/>
          </p:nvSpPr>
          <p:spPr>
            <a:xfrm>
              <a:off x="6237600" y="4608309"/>
              <a:ext cx="2696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g</a:t>
              </a:r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F535B163-FE69-76FB-239E-D095ABC02694}"/>
                </a:ext>
              </a:extLst>
            </p:cNvPr>
            <p:cNvGrpSpPr/>
            <p:nvPr/>
          </p:nvGrpSpPr>
          <p:grpSpPr>
            <a:xfrm>
              <a:off x="1091476" y="2300039"/>
              <a:ext cx="497013" cy="654044"/>
              <a:chOff x="8799061" y="4921715"/>
              <a:chExt cx="469257" cy="387660"/>
            </a:xfrm>
            <a:gradFill>
              <a:gsLst>
                <a:gs pos="22000">
                  <a:srgbClr val="7030A0"/>
                </a:gs>
                <a:gs pos="39457">
                  <a:srgbClr val="BC9ED2"/>
                </a:gs>
                <a:gs pos="55000">
                  <a:schemeClr val="bg1"/>
                </a:gs>
                <a:gs pos="9174">
                  <a:schemeClr val="accent5">
                    <a:lumMod val="60000"/>
                    <a:lumOff val="40000"/>
                  </a:schemeClr>
                </a:gs>
                <a:gs pos="87145">
                  <a:schemeClr val="accent4">
                    <a:lumMod val="20000"/>
                    <a:lumOff val="80000"/>
                  </a:schemeClr>
                </a:gs>
                <a:gs pos="61472">
                  <a:schemeClr val="accent2">
                    <a:lumMod val="20000"/>
                    <a:lumOff val="80000"/>
                  </a:schemeClr>
                </a:gs>
                <a:gs pos="76150">
                  <a:srgbClr val="FF87FF"/>
                </a:gs>
                <a:gs pos="100000">
                  <a:srgbClr val="FF00FF"/>
                </a:gs>
              </a:gsLst>
              <a:path path="rect">
                <a:fillToRect l="100000" t="100000"/>
              </a:path>
            </a:gradFill>
          </p:grpSpPr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id="{4F340099-D77C-2FA2-902B-D03318F1F590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223" name="Cube 222">
                  <a:extLst>
                    <a:ext uri="{FF2B5EF4-FFF2-40B4-BE49-F238E27FC236}">
                      <a16:creationId xmlns:a16="http://schemas.microsoft.com/office/drawing/2014/main" id="{D4CDE62E-FBEA-00F7-4E07-23526EEB99AC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426791DA-2A9E-319A-BDC7-98C52EC0D98A}"/>
                    </a:ext>
                  </a:extLst>
                </p:cNvPr>
                <p:cNvCxnSpPr>
                  <a:stCxn id="223" idx="2"/>
                  <a:endCxn id="223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C90112FE-6BDD-6F8B-3AFA-2BB63E2E1B1B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20F8CC4B-F996-177A-DC9B-09910F43A2E7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FAFBB4C9-094C-4729-8AA6-C63D129FF2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4EF5B937-5ED9-69B5-DAE9-E025165D53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4EFF599E-015A-067F-1BC9-30FF8432C1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20F8CDBE-EDCE-3B77-59ED-28B549B0DD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4AC3F6EA-CA35-993A-D613-912949E3E3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70592F96-DAD7-18C0-80E7-6D392A9B9A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08352452-445D-4726-D5D6-5FBEA0DBD2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98FB5B30-2CC1-AC9B-F03A-AF6265290C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0ABCE539-8225-5454-56DB-3DE9DBB111DF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FF4D622D-B5E7-FC8F-887F-716A59BF5AAC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B225F903-D4C6-8650-DF3C-02CD56F24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457E0D80-2789-2C11-8E6C-6416F73713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ED87F6E4-40EC-FB25-70E4-44B9E1E76E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C898C6BB-2FDB-76D6-CDB7-EC1F708201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DCB0A83-E9F9-66E7-527C-3646C84518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EAEFB120-08D7-1125-908F-51E6F6EC1D85}"/>
                </a:ext>
              </a:extLst>
            </p:cNvPr>
            <p:cNvSpPr txBox="1"/>
            <p:nvPr/>
          </p:nvSpPr>
          <p:spPr>
            <a:xfrm>
              <a:off x="5794661" y="5234643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grpSp>
          <p:nvGrpSpPr>
            <p:cNvPr id="643" name="Group 642">
              <a:extLst>
                <a:ext uri="{FF2B5EF4-FFF2-40B4-BE49-F238E27FC236}">
                  <a16:creationId xmlns:a16="http://schemas.microsoft.com/office/drawing/2014/main" id="{DE7A5D24-DE47-5CE8-B742-5EEECACDC11E}"/>
                </a:ext>
              </a:extLst>
            </p:cNvPr>
            <p:cNvGrpSpPr/>
            <p:nvPr/>
          </p:nvGrpSpPr>
          <p:grpSpPr>
            <a:xfrm>
              <a:off x="6747076" y="2261237"/>
              <a:ext cx="2527718" cy="3036175"/>
              <a:chOff x="6719838" y="2037008"/>
              <a:chExt cx="2527718" cy="3036175"/>
            </a:xfrm>
          </p:grpSpPr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CC9560CD-2F03-ED26-E914-5ADAAAB874EB}"/>
                  </a:ext>
                </a:extLst>
              </p:cNvPr>
              <p:cNvSpPr txBox="1"/>
              <p:nvPr/>
            </p:nvSpPr>
            <p:spPr>
              <a:xfrm>
                <a:off x="6848632" y="2954487"/>
                <a:ext cx="518198" cy="357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Z</a:t>
                </a:r>
                <a:r>
                  <a:rPr lang="en-US" baseline="30000" dirty="0"/>
                  <a:t>(GIN)</a:t>
                </a:r>
              </a:p>
            </p:txBody>
          </p:sp>
          <p:grpSp>
            <p:nvGrpSpPr>
              <p:cNvPr id="642" name="Group 641">
                <a:extLst>
                  <a:ext uri="{FF2B5EF4-FFF2-40B4-BE49-F238E27FC236}">
                    <a16:creationId xmlns:a16="http://schemas.microsoft.com/office/drawing/2014/main" id="{DD2F0F10-9037-3E1C-4E14-D8C7D9905EA9}"/>
                  </a:ext>
                </a:extLst>
              </p:cNvPr>
              <p:cNvGrpSpPr/>
              <p:nvPr/>
            </p:nvGrpSpPr>
            <p:grpSpPr>
              <a:xfrm>
                <a:off x="6719838" y="2037008"/>
                <a:ext cx="2527718" cy="3036175"/>
                <a:chOff x="6719838" y="2037008"/>
                <a:chExt cx="2527718" cy="3036175"/>
              </a:xfrm>
            </p:grpSpPr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id="{614A0686-5124-1FAD-F4E1-3D56F4501CEF}"/>
                    </a:ext>
                  </a:extLst>
                </p:cNvPr>
                <p:cNvSpPr txBox="1"/>
                <p:nvPr/>
              </p:nvSpPr>
              <p:spPr>
                <a:xfrm>
                  <a:off x="6821827" y="2039666"/>
                  <a:ext cx="618840" cy="3572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Z</a:t>
                  </a:r>
                  <a:r>
                    <a:rPr lang="en-US" baseline="30000" dirty="0"/>
                    <a:t>(hyper)</a:t>
                  </a:r>
                </a:p>
              </p:txBody>
            </p:sp>
            <p:sp>
              <p:nvSpPr>
                <p:cNvPr id="453" name="TextBox 452">
                  <a:extLst>
                    <a:ext uri="{FF2B5EF4-FFF2-40B4-BE49-F238E27FC236}">
                      <a16:creationId xmlns:a16="http://schemas.microsoft.com/office/drawing/2014/main" id="{D8E2EF11-72AC-B65D-C4C4-EC62B80111B3}"/>
                    </a:ext>
                  </a:extLst>
                </p:cNvPr>
                <p:cNvSpPr txBox="1"/>
                <p:nvPr/>
              </p:nvSpPr>
              <p:spPr>
                <a:xfrm>
                  <a:off x="8721450" y="2698942"/>
                  <a:ext cx="52610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(</a:t>
                  </a:r>
                  <a:r>
                    <a:rPr lang="en-US" sz="1200" dirty="0" err="1"/>
                    <a:t>NxC</a:t>
                  </a:r>
                  <a:r>
                    <a:rPr lang="en-US" sz="1200" dirty="0"/>
                    <a:t>)</a:t>
                  </a:r>
                </a:p>
              </p:txBody>
            </p:sp>
            <p:grpSp>
              <p:nvGrpSpPr>
                <p:cNvPr id="641" name="Group 640">
                  <a:extLst>
                    <a:ext uri="{FF2B5EF4-FFF2-40B4-BE49-F238E27FC236}">
                      <a16:creationId xmlns:a16="http://schemas.microsoft.com/office/drawing/2014/main" id="{5A8140D7-8FE1-94BB-CACD-A654F8D63B39}"/>
                    </a:ext>
                  </a:extLst>
                </p:cNvPr>
                <p:cNvGrpSpPr/>
                <p:nvPr/>
              </p:nvGrpSpPr>
              <p:grpSpPr>
                <a:xfrm>
                  <a:off x="6719838" y="2037008"/>
                  <a:ext cx="2374540" cy="3036175"/>
                  <a:chOff x="6719838" y="2037008"/>
                  <a:chExt cx="2374540" cy="3036175"/>
                </a:xfrm>
              </p:grpSpPr>
              <p:grpSp>
                <p:nvGrpSpPr>
                  <p:cNvPr id="193" name="Group 192">
                    <a:extLst>
                      <a:ext uri="{FF2B5EF4-FFF2-40B4-BE49-F238E27FC236}">
                        <a16:creationId xmlns:a16="http://schemas.microsoft.com/office/drawing/2014/main" id="{00C89AEF-A4A2-9D10-FFC1-AF8078AD6945}"/>
                      </a:ext>
                    </a:extLst>
                  </p:cNvPr>
                  <p:cNvGrpSpPr/>
                  <p:nvPr/>
                </p:nvGrpSpPr>
                <p:grpSpPr>
                  <a:xfrm>
                    <a:off x="7251510" y="2306139"/>
                    <a:ext cx="414948" cy="357136"/>
                    <a:chOff x="8799061" y="4921715"/>
                    <a:chExt cx="469257" cy="387660"/>
                  </a:xfrm>
                  <a:gradFill>
                    <a:gsLst>
                      <a:gs pos="22000">
                        <a:srgbClr val="7030A0"/>
                      </a:gs>
                      <a:gs pos="39457">
                        <a:srgbClr val="BC9ED2"/>
                      </a:gs>
                      <a:gs pos="55000">
                        <a:schemeClr val="bg1"/>
                      </a:gs>
                      <a:gs pos="9174">
                        <a:schemeClr val="accent5">
                          <a:lumMod val="60000"/>
                          <a:lumOff val="40000"/>
                        </a:schemeClr>
                      </a:gs>
                      <a:gs pos="87145">
                        <a:schemeClr val="accent4">
                          <a:lumMod val="20000"/>
                          <a:lumOff val="80000"/>
                        </a:schemeClr>
                      </a:gs>
                      <a:gs pos="61472">
                        <a:schemeClr val="accent2">
                          <a:lumMod val="20000"/>
                          <a:lumOff val="80000"/>
                        </a:schemeClr>
                      </a:gs>
                      <a:gs pos="76150">
                        <a:srgbClr val="FF87FF"/>
                      </a:gs>
                      <a:gs pos="100000">
                        <a:srgbClr val="FF00FF"/>
                      </a:gs>
                    </a:gsLst>
                    <a:path path="rect">
                      <a:fillToRect l="100000" t="100000"/>
                    </a:path>
                  </a:gradFill>
                </p:grpSpPr>
                <p:grpSp>
                  <p:nvGrpSpPr>
                    <p:cNvPr id="194" name="Group 193">
                      <a:extLst>
                        <a:ext uri="{FF2B5EF4-FFF2-40B4-BE49-F238E27FC236}">
                          <a16:creationId xmlns:a16="http://schemas.microsoft.com/office/drawing/2014/main" id="{E918AA83-A178-8223-BB0D-76FB4FF97E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99061" y="4921715"/>
                      <a:ext cx="469257" cy="387660"/>
                      <a:chOff x="8791024" y="4914826"/>
                      <a:chExt cx="469257" cy="387660"/>
                    </a:xfrm>
                    <a:grpFill/>
                  </p:grpSpPr>
                  <p:sp>
                    <p:nvSpPr>
                      <p:cNvPr id="198" name="Cube 197">
                        <a:extLst>
                          <a:ext uri="{FF2B5EF4-FFF2-40B4-BE49-F238E27FC236}">
                            <a16:creationId xmlns:a16="http://schemas.microsoft.com/office/drawing/2014/main" id="{4895A881-B5A4-6B34-B7D5-41DC33EED7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1024" y="4916978"/>
                        <a:ext cx="469257" cy="378158"/>
                      </a:xfrm>
                      <a:prstGeom prst="cub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199" name="Straight Connector 198">
                        <a:extLst>
                          <a:ext uri="{FF2B5EF4-FFF2-40B4-BE49-F238E27FC236}">
                            <a16:creationId xmlns:a16="http://schemas.microsoft.com/office/drawing/2014/main" id="{473ECAB7-D1CA-3FBF-6664-D31D53372CF5}"/>
                          </a:ext>
                        </a:extLst>
                      </p:cNvPr>
                      <p:cNvCxnSpPr>
                        <a:stCxn id="198" idx="2"/>
                        <a:endCxn id="198" idx="4"/>
                      </p:cNvCxnSpPr>
                      <p:nvPr/>
                    </p:nvCxnSpPr>
                    <p:spPr>
                      <a:xfrm>
                        <a:off x="8791024" y="5153327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0" name="Straight Connector 199">
                        <a:extLst>
                          <a:ext uri="{FF2B5EF4-FFF2-40B4-BE49-F238E27FC236}">
                            <a16:creationId xmlns:a16="http://schemas.microsoft.com/office/drawing/2014/main" id="{BE1364B6-4EC9-F77D-3257-5B632D906427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1024" y="5215605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1" name="Straight Connector 200">
                        <a:extLst>
                          <a:ext uri="{FF2B5EF4-FFF2-40B4-BE49-F238E27FC236}">
                            <a16:creationId xmlns:a16="http://schemas.microsoft.com/office/drawing/2014/main" id="{355451FC-B69B-D383-57F0-BA5BA2EE4DE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2094" y="5083946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2" name="Straight Connector 201">
                        <a:extLst>
                          <a:ext uri="{FF2B5EF4-FFF2-40B4-BE49-F238E27FC236}">
                            <a16:creationId xmlns:a16="http://schemas.microsoft.com/office/drawing/2014/main" id="{F9A58747-8AB4-30E7-76D6-D492EF7335B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86039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3" name="Straight Connector 202">
                        <a:extLst>
                          <a:ext uri="{FF2B5EF4-FFF2-40B4-BE49-F238E27FC236}">
                            <a16:creationId xmlns:a16="http://schemas.microsoft.com/office/drawing/2014/main" id="{4E81C9AD-A353-F976-D28D-805C55E395A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9318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4" name="Straight Connector 203">
                        <a:extLst>
                          <a:ext uri="{FF2B5EF4-FFF2-40B4-BE49-F238E27FC236}">
                            <a16:creationId xmlns:a16="http://schemas.microsoft.com/office/drawing/2014/main" id="{6B18A1B1-0DC6-F9DE-D639-9392F81662C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1684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5" name="Straight Connector 204">
                        <a:extLst>
                          <a:ext uri="{FF2B5EF4-FFF2-40B4-BE49-F238E27FC236}">
                            <a16:creationId xmlns:a16="http://schemas.microsoft.com/office/drawing/2014/main" id="{ACF52617-47D4-20E2-3E0E-7D81A01C7FA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842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6" name="Straight Connector 205">
                        <a:extLst>
                          <a:ext uri="{FF2B5EF4-FFF2-40B4-BE49-F238E27FC236}">
                            <a16:creationId xmlns:a16="http://schemas.microsoft.com/office/drawing/2014/main" id="{AF56BE03-98DC-495C-0C84-36781791B28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854915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7" name="Straight Connector 206">
                        <a:extLst>
                          <a:ext uri="{FF2B5EF4-FFF2-40B4-BE49-F238E27FC236}">
                            <a16:creationId xmlns:a16="http://schemas.microsoft.com/office/drawing/2014/main" id="{743A0DF6-1817-4A9F-3BCC-8DB412C1BD9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929103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8" name="Straight Connector 207">
                        <a:extLst>
                          <a:ext uri="{FF2B5EF4-FFF2-40B4-BE49-F238E27FC236}">
                            <a16:creationId xmlns:a16="http://schemas.microsoft.com/office/drawing/2014/main" id="{16814FC7-8B52-3174-064A-CEE67E1F69A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13206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9" name="Straight Connector 208">
                        <a:extLst>
                          <a:ext uri="{FF2B5EF4-FFF2-40B4-BE49-F238E27FC236}">
                            <a16:creationId xmlns:a16="http://schemas.microsoft.com/office/drawing/2014/main" id="{F73E5C39-719C-54B1-A8FA-8B2855B6930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80593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0" name="Straight Connector 209">
                        <a:extLst>
                          <a:ext uri="{FF2B5EF4-FFF2-40B4-BE49-F238E27FC236}">
                            <a16:creationId xmlns:a16="http://schemas.microsoft.com/office/drawing/2014/main" id="{DBA7721F-3F5D-E804-6A47-07B71256F26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25847" y="4986314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1" name="Straight Connector 210">
                        <a:extLst>
                          <a:ext uri="{FF2B5EF4-FFF2-40B4-BE49-F238E27FC236}">
                            <a16:creationId xmlns:a16="http://schemas.microsoft.com/office/drawing/2014/main" id="{472157ED-99CB-C256-D1EF-F79349941BB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54915" y="4954700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5" name="Straight Connector 214">
                        <a:extLst>
                          <a:ext uri="{FF2B5EF4-FFF2-40B4-BE49-F238E27FC236}">
                            <a16:creationId xmlns:a16="http://schemas.microsoft.com/office/drawing/2014/main" id="{DB73020A-AEE5-5C72-27CC-035A789795A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197201" y="4986224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6" name="Straight Connector 215">
                        <a:extLst>
                          <a:ext uri="{FF2B5EF4-FFF2-40B4-BE49-F238E27FC236}">
                            <a16:creationId xmlns:a16="http://schemas.microsoft.com/office/drawing/2014/main" id="{ED149021-8264-CBBB-B1E9-251C44CDB2C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229633" y="4954700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95" name="Straight Connector 194">
                      <a:extLst>
                        <a:ext uri="{FF2B5EF4-FFF2-40B4-BE49-F238E27FC236}">
                          <a16:creationId xmlns:a16="http://schemas.microsoft.com/office/drawing/2014/main" id="{0C9F89C5-F647-354F-8E86-0AC2A7936B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06023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" name="Straight Connector 195">
                      <a:extLst>
                        <a:ext uri="{FF2B5EF4-FFF2-40B4-BE49-F238E27FC236}">
                          <a16:creationId xmlns:a16="http://schemas.microsoft.com/office/drawing/2014/main" id="{C4A79897-BC34-4154-2435-FAC8F0EE6B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12522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7" name="Straight Connector 196">
                      <a:extLst>
                        <a:ext uri="{FF2B5EF4-FFF2-40B4-BE49-F238E27FC236}">
                          <a16:creationId xmlns:a16="http://schemas.microsoft.com/office/drawing/2014/main" id="{1093645B-0722-2720-9F52-DC11174F26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6812" y="4993723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0E901CD4-6BAA-B721-C90C-6304E4A7C92B}"/>
                      </a:ext>
                    </a:extLst>
                  </p:cNvPr>
                  <p:cNvSpPr txBox="1"/>
                  <p:nvPr/>
                </p:nvSpPr>
                <p:spPr>
                  <a:xfrm>
                    <a:off x="7178576" y="2620961"/>
                    <a:ext cx="439237" cy="26795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(</a:t>
                    </a:r>
                    <a:r>
                      <a:rPr lang="en-US" sz="1200" dirty="0" err="1"/>
                      <a:t>NxC</a:t>
                    </a:r>
                    <a:r>
                      <a:rPr lang="en-US" sz="1200" dirty="0"/>
                      <a:t>)</a:t>
                    </a:r>
                  </a:p>
                </p:txBody>
              </p:sp>
              <p:grpSp>
                <p:nvGrpSpPr>
                  <p:cNvPr id="282" name="Group 281">
                    <a:extLst>
                      <a:ext uri="{FF2B5EF4-FFF2-40B4-BE49-F238E27FC236}">
                        <a16:creationId xmlns:a16="http://schemas.microsoft.com/office/drawing/2014/main" id="{3AD0038E-AD94-2150-2DE0-47C7DC36C3A2}"/>
                      </a:ext>
                    </a:extLst>
                  </p:cNvPr>
                  <p:cNvGrpSpPr/>
                  <p:nvPr/>
                </p:nvGrpSpPr>
                <p:grpSpPr>
                  <a:xfrm>
                    <a:off x="7285044" y="3226128"/>
                    <a:ext cx="391775" cy="374997"/>
                    <a:chOff x="8799061" y="4921715"/>
                    <a:chExt cx="469257" cy="387660"/>
                  </a:xfrm>
                  <a:solidFill>
                    <a:srgbClr val="DEC186"/>
                  </a:solidFill>
                </p:grpSpPr>
                <p:grpSp>
                  <p:nvGrpSpPr>
                    <p:cNvPr id="283" name="Group 282">
                      <a:extLst>
                        <a:ext uri="{FF2B5EF4-FFF2-40B4-BE49-F238E27FC236}">
                          <a16:creationId xmlns:a16="http://schemas.microsoft.com/office/drawing/2014/main" id="{01919537-E57E-1EE1-61FF-9E971AA790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99061" y="4921715"/>
                      <a:ext cx="469257" cy="387660"/>
                      <a:chOff x="8791024" y="4914826"/>
                      <a:chExt cx="469257" cy="387660"/>
                    </a:xfrm>
                    <a:grpFill/>
                  </p:grpSpPr>
                  <p:sp>
                    <p:nvSpPr>
                      <p:cNvPr id="288" name="Cube 287">
                        <a:extLst>
                          <a:ext uri="{FF2B5EF4-FFF2-40B4-BE49-F238E27FC236}">
                            <a16:creationId xmlns:a16="http://schemas.microsoft.com/office/drawing/2014/main" id="{10A6B321-AD3D-BB67-7512-48FCC03FC4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1024" y="4916978"/>
                        <a:ext cx="469257" cy="378158"/>
                      </a:xfrm>
                      <a:prstGeom prst="cube">
                        <a:avLst/>
                      </a:prstGeom>
                      <a:solidFill>
                        <a:srgbClr val="FF0000">
                          <a:alpha val="50000"/>
                        </a:srgb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292" name="Straight Connector 291">
                        <a:extLst>
                          <a:ext uri="{FF2B5EF4-FFF2-40B4-BE49-F238E27FC236}">
                            <a16:creationId xmlns:a16="http://schemas.microsoft.com/office/drawing/2014/main" id="{FB3FFB2A-033B-65DC-BB75-B31CCBAD0532}"/>
                          </a:ext>
                        </a:extLst>
                      </p:cNvPr>
                      <p:cNvCxnSpPr>
                        <a:stCxn id="288" idx="2"/>
                        <a:endCxn id="288" idx="4"/>
                      </p:cNvCxnSpPr>
                      <p:nvPr/>
                    </p:nvCxnSpPr>
                    <p:spPr>
                      <a:xfrm>
                        <a:off x="8791024" y="5153327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4" name="Straight Connector 293">
                        <a:extLst>
                          <a:ext uri="{FF2B5EF4-FFF2-40B4-BE49-F238E27FC236}">
                            <a16:creationId xmlns:a16="http://schemas.microsoft.com/office/drawing/2014/main" id="{6C4F1F27-367D-B71F-D17B-46B5792BC94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1024" y="5215605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5" name="Straight Connector 294">
                        <a:extLst>
                          <a:ext uri="{FF2B5EF4-FFF2-40B4-BE49-F238E27FC236}">
                            <a16:creationId xmlns:a16="http://schemas.microsoft.com/office/drawing/2014/main" id="{CFB07A53-00E4-D758-12FC-17856B95325E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2094" y="5083946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6" name="Straight Connector 295">
                        <a:extLst>
                          <a:ext uri="{FF2B5EF4-FFF2-40B4-BE49-F238E27FC236}">
                            <a16:creationId xmlns:a16="http://schemas.microsoft.com/office/drawing/2014/main" id="{2120072E-B7FF-63A1-FAB1-15032852F7F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86039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3" name="Straight Connector 332">
                        <a:extLst>
                          <a:ext uri="{FF2B5EF4-FFF2-40B4-BE49-F238E27FC236}">
                            <a16:creationId xmlns:a16="http://schemas.microsoft.com/office/drawing/2014/main" id="{A0A1E3F9-2BAE-689B-CFBE-86851034665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9318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4" name="Straight Connector 333">
                        <a:extLst>
                          <a:ext uri="{FF2B5EF4-FFF2-40B4-BE49-F238E27FC236}">
                            <a16:creationId xmlns:a16="http://schemas.microsoft.com/office/drawing/2014/main" id="{F8EECC16-7E18-1580-FDA3-EB7107790AA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1684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5" name="Straight Connector 334">
                        <a:extLst>
                          <a:ext uri="{FF2B5EF4-FFF2-40B4-BE49-F238E27FC236}">
                            <a16:creationId xmlns:a16="http://schemas.microsoft.com/office/drawing/2014/main" id="{AF28FDBE-AD55-BA37-9B1B-46F25D3EFBE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842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6" name="Straight Connector 335">
                        <a:extLst>
                          <a:ext uri="{FF2B5EF4-FFF2-40B4-BE49-F238E27FC236}">
                            <a16:creationId xmlns:a16="http://schemas.microsoft.com/office/drawing/2014/main" id="{5264CA70-3F6E-3814-9A87-6EAC41C967B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854915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7" name="Straight Connector 336">
                        <a:extLst>
                          <a:ext uri="{FF2B5EF4-FFF2-40B4-BE49-F238E27FC236}">
                            <a16:creationId xmlns:a16="http://schemas.microsoft.com/office/drawing/2014/main" id="{DD230CFA-F0E1-8855-7336-6FB007FF304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929103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8" name="Straight Connector 337">
                        <a:extLst>
                          <a:ext uri="{FF2B5EF4-FFF2-40B4-BE49-F238E27FC236}">
                            <a16:creationId xmlns:a16="http://schemas.microsoft.com/office/drawing/2014/main" id="{9B90F8BF-8B79-ECC3-614E-F59C90165C9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13206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9" name="Straight Connector 338">
                        <a:extLst>
                          <a:ext uri="{FF2B5EF4-FFF2-40B4-BE49-F238E27FC236}">
                            <a16:creationId xmlns:a16="http://schemas.microsoft.com/office/drawing/2014/main" id="{22262A40-9041-FC35-8142-B25FCD283A1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80593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40" name="Straight Connector 339">
                        <a:extLst>
                          <a:ext uri="{FF2B5EF4-FFF2-40B4-BE49-F238E27FC236}">
                            <a16:creationId xmlns:a16="http://schemas.microsoft.com/office/drawing/2014/main" id="{899E8038-8A4A-7FA3-FB4A-5A03780C548A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25847" y="4986314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41" name="Straight Connector 340">
                        <a:extLst>
                          <a:ext uri="{FF2B5EF4-FFF2-40B4-BE49-F238E27FC236}">
                            <a16:creationId xmlns:a16="http://schemas.microsoft.com/office/drawing/2014/main" id="{B2874FBA-272A-2AB1-F7EA-37D59873A70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54915" y="4954700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42" name="Straight Connector 341">
                        <a:extLst>
                          <a:ext uri="{FF2B5EF4-FFF2-40B4-BE49-F238E27FC236}">
                            <a16:creationId xmlns:a16="http://schemas.microsoft.com/office/drawing/2014/main" id="{A8E7A1D7-E097-127D-6246-2D59DF3B6EE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197201" y="4986224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43" name="Straight Connector 342">
                        <a:extLst>
                          <a:ext uri="{FF2B5EF4-FFF2-40B4-BE49-F238E27FC236}">
                            <a16:creationId xmlns:a16="http://schemas.microsoft.com/office/drawing/2014/main" id="{22E4EC9B-4BD4-F3EA-F93F-4FF57F9623F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229633" y="4954700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284" name="Straight Connector 283">
                      <a:extLst>
                        <a:ext uri="{FF2B5EF4-FFF2-40B4-BE49-F238E27FC236}">
                          <a16:creationId xmlns:a16="http://schemas.microsoft.com/office/drawing/2014/main" id="{6C203187-7DE8-B713-3A7E-6BEF73AFA0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06023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5" name="Straight Connector 284">
                      <a:extLst>
                        <a:ext uri="{FF2B5EF4-FFF2-40B4-BE49-F238E27FC236}">
                          <a16:creationId xmlns:a16="http://schemas.microsoft.com/office/drawing/2014/main" id="{B5006B13-44EB-1E8D-A2F1-CCCCBE3D84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12522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6" name="Straight Connector 285">
                      <a:extLst>
                        <a:ext uri="{FF2B5EF4-FFF2-40B4-BE49-F238E27FC236}">
                          <a16:creationId xmlns:a16="http://schemas.microsoft.com/office/drawing/2014/main" id="{38EDB409-F147-13D3-3CBC-7B34E3A9D6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6812" y="4993723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44" name="Group 343">
                    <a:extLst>
                      <a:ext uri="{FF2B5EF4-FFF2-40B4-BE49-F238E27FC236}">
                        <a16:creationId xmlns:a16="http://schemas.microsoft.com/office/drawing/2014/main" id="{E58B8FD0-F163-59EE-EED4-58A0EE0E253D}"/>
                      </a:ext>
                    </a:extLst>
                  </p:cNvPr>
                  <p:cNvGrpSpPr/>
                  <p:nvPr/>
                </p:nvGrpSpPr>
                <p:grpSpPr>
                  <a:xfrm>
                    <a:off x="7298834" y="4179342"/>
                    <a:ext cx="391775" cy="374997"/>
                    <a:chOff x="8799061" y="4921715"/>
                    <a:chExt cx="469257" cy="387660"/>
                  </a:xfrm>
                  <a:solidFill>
                    <a:srgbClr val="ADB9CA"/>
                  </a:solidFill>
                </p:grpSpPr>
                <p:grpSp>
                  <p:nvGrpSpPr>
                    <p:cNvPr id="345" name="Group 344">
                      <a:extLst>
                        <a:ext uri="{FF2B5EF4-FFF2-40B4-BE49-F238E27FC236}">
                          <a16:creationId xmlns:a16="http://schemas.microsoft.com/office/drawing/2014/main" id="{044BE4ED-FB63-0286-B83D-4E59E471CB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99061" y="4921715"/>
                      <a:ext cx="469257" cy="387660"/>
                      <a:chOff x="8791024" y="4914826"/>
                      <a:chExt cx="469257" cy="387660"/>
                    </a:xfrm>
                    <a:grpFill/>
                  </p:grpSpPr>
                  <p:sp>
                    <p:nvSpPr>
                      <p:cNvPr id="349" name="Cube 348">
                        <a:extLst>
                          <a:ext uri="{FF2B5EF4-FFF2-40B4-BE49-F238E27FC236}">
                            <a16:creationId xmlns:a16="http://schemas.microsoft.com/office/drawing/2014/main" id="{67DED465-9F3B-F779-CCF5-B10652D541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1024" y="4916978"/>
                        <a:ext cx="469257" cy="378158"/>
                      </a:xfrm>
                      <a:prstGeom prst="cube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 dirty="0"/>
                      </a:p>
                    </p:txBody>
                  </p:sp>
                  <p:cxnSp>
                    <p:nvCxnSpPr>
                      <p:cNvPr id="350" name="Straight Connector 349">
                        <a:extLst>
                          <a:ext uri="{FF2B5EF4-FFF2-40B4-BE49-F238E27FC236}">
                            <a16:creationId xmlns:a16="http://schemas.microsoft.com/office/drawing/2014/main" id="{B6C6301C-96D9-62B7-7FEE-FA58914E1B97}"/>
                          </a:ext>
                        </a:extLst>
                      </p:cNvPr>
                      <p:cNvCxnSpPr>
                        <a:stCxn id="349" idx="2"/>
                        <a:endCxn id="349" idx="4"/>
                      </p:cNvCxnSpPr>
                      <p:nvPr/>
                    </p:nvCxnSpPr>
                    <p:spPr>
                      <a:xfrm>
                        <a:off x="8791024" y="5153327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1" name="Straight Connector 350">
                        <a:extLst>
                          <a:ext uri="{FF2B5EF4-FFF2-40B4-BE49-F238E27FC236}">
                            <a16:creationId xmlns:a16="http://schemas.microsoft.com/office/drawing/2014/main" id="{1CAD7B63-74D3-3DE8-28AD-F6075E7F80A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1024" y="5215605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2" name="Straight Connector 351">
                        <a:extLst>
                          <a:ext uri="{FF2B5EF4-FFF2-40B4-BE49-F238E27FC236}">
                            <a16:creationId xmlns:a16="http://schemas.microsoft.com/office/drawing/2014/main" id="{C960705D-E6B8-9D15-568A-27074305C35C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2094" y="5083946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3" name="Straight Connector 352">
                        <a:extLst>
                          <a:ext uri="{FF2B5EF4-FFF2-40B4-BE49-F238E27FC236}">
                            <a16:creationId xmlns:a16="http://schemas.microsoft.com/office/drawing/2014/main" id="{112DD278-77EB-278D-9D8F-F68A05992DB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86039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4" name="Straight Connector 353">
                        <a:extLst>
                          <a:ext uri="{FF2B5EF4-FFF2-40B4-BE49-F238E27FC236}">
                            <a16:creationId xmlns:a16="http://schemas.microsoft.com/office/drawing/2014/main" id="{BCE2FBEC-457A-B773-C337-C41ECAF2FB3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9318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5" name="Straight Connector 354">
                        <a:extLst>
                          <a:ext uri="{FF2B5EF4-FFF2-40B4-BE49-F238E27FC236}">
                            <a16:creationId xmlns:a16="http://schemas.microsoft.com/office/drawing/2014/main" id="{DAE6A0F5-A0BA-840D-9E6D-A8476F76CEB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1684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6" name="Straight Connector 355">
                        <a:extLst>
                          <a:ext uri="{FF2B5EF4-FFF2-40B4-BE49-F238E27FC236}">
                            <a16:creationId xmlns:a16="http://schemas.microsoft.com/office/drawing/2014/main" id="{7694C80A-11D5-101D-DF4E-77173E77F5A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842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7" name="Straight Connector 356">
                        <a:extLst>
                          <a:ext uri="{FF2B5EF4-FFF2-40B4-BE49-F238E27FC236}">
                            <a16:creationId xmlns:a16="http://schemas.microsoft.com/office/drawing/2014/main" id="{76CA8068-F85C-88E8-D590-A4907D8E514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854915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8" name="Straight Connector 357">
                        <a:extLst>
                          <a:ext uri="{FF2B5EF4-FFF2-40B4-BE49-F238E27FC236}">
                            <a16:creationId xmlns:a16="http://schemas.microsoft.com/office/drawing/2014/main" id="{DE51337F-DBF8-233C-3289-95226735139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929103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9" name="Straight Connector 358">
                        <a:extLst>
                          <a:ext uri="{FF2B5EF4-FFF2-40B4-BE49-F238E27FC236}">
                            <a16:creationId xmlns:a16="http://schemas.microsoft.com/office/drawing/2014/main" id="{CDA02437-24C8-5013-480A-DF863BC590A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13206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0" name="Straight Connector 359">
                        <a:extLst>
                          <a:ext uri="{FF2B5EF4-FFF2-40B4-BE49-F238E27FC236}">
                            <a16:creationId xmlns:a16="http://schemas.microsoft.com/office/drawing/2014/main" id="{73A9D3A4-E4DC-6C99-39EE-FFA073E11B6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80593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1" name="Straight Connector 360">
                        <a:extLst>
                          <a:ext uri="{FF2B5EF4-FFF2-40B4-BE49-F238E27FC236}">
                            <a16:creationId xmlns:a16="http://schemas.microsoft.com/office/drawing/2014/main" id="{B2B38669-FDC4-4B19-14E0-5D226B0C401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25847" y="4986314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2" name="Straight Connector 361">
                        <a:extLst>
                          <a:ext uri="{FF2B5EF4-FFF2-40B4-BE49-F238E27FC236}">
                            <a16:creationId xmlns:a16="http://schemas.microsoft.com/office/drawing/2014/main" id="{74B1C262-4FC7-D20F-4940-73AC0692A6B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54915" y="4954700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3" name="Straight Connector 362">
                        <a:extLst>
                          <a:ext uri="{FF2B5EF4-FFF2-40B4-BE49-F238E27FC236}">
                            <a16:creationId xmlns:a16="http://schemas.microsoft.com/office/drawing/2014/main" id="{73D4F8D5-8F22-4181-2272-E733D21732E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197201" y="4986224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4" name="Straight Connector 363">
                        <a:extLst>
                          <a:ext uri="{FF2B5EF4-FFF2-40B4-BE49-F238E27FC236}">
                            <a16:creationId xmlns:a16="http://schemas.microsoft.com/office/drawing/2014/main" id="{77801507-F84A-EE73-9E3F-76D17056310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229633" y="4954700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346" name="Straight Connector 345">
                      <a:extLst>
                        <a:ext uri="{FF2B5EF4-FFF2-40B4-BE49-F238E27FC236}">
                          <a16:creationId xmlns:a16="http://schemas.microsoft.com/office/drawing/2014/main" id="{A8FEBA33-4FC7-129F-BCBD-722D54ABE0C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06023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7" name="Straight Connector 346">
                      <a:extLst>
                        <a:ext uri="{FF2B5EF4-FFF2-40B4-BE49-F238E27FC236}">
                          <a16:creationId xmlns:a16="http://schemas.microsoft.com/office/drawing/2014/main" id="{C41C774F-AF22-A1AA-2756-C0257E8926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12522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8" name="Straight Connector 347">
                      <a:extLst>
                        <a:ext uri="{FF2B5EF4-FFF2-40B4-BE49-F238E27FC236}">
                          <a16:creationId xmlns:a16="http://schemas.microsoft.com/office/drawing/2014/main" id="{BBA4BA8F-5321-88B5-40AC-9E0B0689A95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6812" y="4993723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68" name="TextBox 367">
                    <a:extLst>
                      <a:ext uri="{FF2B5EF4-FFF2-40B4-BE49-F238E27FC236}">
                        <a16:creationId xmlns:a16="http://schemas.microsoft.com/office/drawing/2014/main" id="{D005C82F-FEEC-BEC2-90F4-33D67A77A30F}"/>
                      </a:ext>
                    </a:extLst>
                  </p:cNvPr>
                  <p:cNvSpPr txBox="1"/>
                  <p:nvPr/>
                </p:nvSpPr>
                <p:spPr>
                  <a:xfrm>
                    <a:off x="7183558" y="3569633"/>
                    <a:ext cx="439237" cy="26795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(</a:t>
                    </a:r>
                    <a:r>
                      <a:rPr lang="en-US" sz="1200" dirty="0" err="1"/>
                      <a:t>NxC</a:t>
                    </a:r>
                    <a:r>
                      <a:rPr lang="en-US" sz="1200" dirty="0"/>
                      <a:t>)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70" name="TextBox 369">
                        <a:extLst>
                          <a:ext uri="{FF2B5EF4-FFF2-40B4-BE49-F238E27FC236}">
                            <a16:creationId xmlns:a16="http://schemas.microsoft.com/office/drawing/2014/main" id="{2F9FD801-C062-05F1-117E-024BB4BF2C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19838" y="3843726"/>
                        <a:ext cx="655831" cy="35726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norm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370" name="TextBox 369">
                        <a:extLst>
                          <a:ext uri="{FF2B5EF4-FFF2-40B4-BE49-F238E27FC236}">
                            <a16:creationId xmlns:a16="http://schemas.microsoft.com/office/drawing/2014/main" id="{2F9FD801-C062-05F1-117E-024BB4BF2C6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719838" y="3843726"/>
                        <a:ext cx="655831" cy="357268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r="-186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72" name="TextBox 371">
                    <a:extLst>
                      <a:ext uri="{FF2B5EF4-FFF2-40B4-BE49-F238E27FC236}">
                        <a16:creationId xmlns:a16="http://schemas.microsoft.com/office/drawing/2014/main" id="{86FB4179-2155-127A-AF96-7655AF58AD30}"/>
                      </a:ext>
                    </a:extLst>
                  </p:cNvPr>
                  <p:cNvSpPr txBox="1"/>
                  <p:nvPr/>
                </p:nvSpPr>
                <p:spPr>
                  <a:xfrm>
                    <a:off x="7237583" y="4528789"/>
                    <a:ext cx="439237" cy="26795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(</a:t>
                    </a:r>
                    <a:r>
                      <a:rPr lang="en-US" sz="1200" dirty="0" err="1"/>
                      <a:t>NxC</a:t>
                    </a:r>
                    <a:r>
                      <a:rPr lang="en-US" sz="1200" dirty="0"/>
                      <a:t>)</a:t>
                    </a:r>
                  </a:p>
                </p:txBody>
              </p:sp>
              <p:sp>
                <p:nvSpPr>
                  <p:cNvPr id="373" name="Oval 372">
                    <a:extLst>
                      <a:ext uri="{FF2B5EF4-FFF2-40B4-BE49-F238E27FC236}">
                        <a16:creationId xmlns:a16="http://schemas.microsoft.com/office/drawing/2014/main" id="{7B63388E-EC8A-41F6-57FA-15F2B92E41DF}"/>
                      </a:ext>
                    </a:extLst>
                  </p:cNvPr>
                  <p:cNvSpPr/>
                  <p:nvPr/>
                </p:nvSpPr>
                <p:spPr>
                  <a:xfrm>
                    <a:off x="8093659" y="3193992"/>
                    <a:ext cx="302687" cy="311253"/>
                  </a:xfrm>
                  <a:prstGeom prst="ellipse">
                    <a:avLst/>
                  </a:prstGeom>
                  <a:solidFill>
                    <a:schemeClr val="accent1">
                      <a:alpha val="2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4" name="TextBox 373">
                    <a:extLst>
                      <a:ext uri="{FF2B5EF4-FFF2-40B4-BE49-F238E27FC236}">
                        <a16:creationId xmlns:a16="http://schemas.microsoft.com/office/drawing/2014/main" id="{D6C89D94-A1F9-1758-5216-C93F24FA2AE5}"/>
                      </a:ext>
                    </a:extLst>
                  </p:cNvPr>
                  <p:cNvSpPr txBox="1"/>
                  <p:nvPr/>
                </p:nvSpPr>
                <p:spPr>
                  <a:xfrm>
                    <a:off x="8071420" y="3099261"/>
                    <a:ext cx="26876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+</a:t>
                    </a:r>
                  </a:p>
                </p:txBody>
              </p:sp>
              <p:cxnSp>
                <p:nvCxnSpPr>
                  <p:cNvPr id="377" name="Straight Arrow Connector 376">
                    <a:extLst>
                      <a:ext uri="{FF2B5EF4-FFF2-40B4-BE49-F238E27FC236}">
                        <a16:creationId xmlns:a16="http://schemas.microsoft.com/office/drawing/2014/main" id="{F2B66A79-DC58-5013-5778-B5B23C4A7EB6}"/>
                      </a:ext>
                    </a:extLst>
                  </p:cNvPr>
                  <p:cNvCxnSpPr>
                    <a:cxnSpLocks/>
                    <a:stCxn id="288" idx="5"/>
                  </p:cNvCxnSpPr>
                  <p:nvPr/>
                </p:nvCxnSpPr>
                <p:spPr>
                  <a:xfrm flipV="1">
                    <a:off x="7676816" y="3364404"/>
                    <a:ext cx="384085" cy="98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1" name="Straight Connector 390">
                    <a:extLst>
                      <a:ext uri="{FF2B5EF4-FFF2-40B4-BE49-F238E27FC236}">
                        <a16:creationId xmlns:a16="http://schemas.microsoft.com/office/drawing/2014/main" id="{C0A71370-B876-51D0-4E52-DC648560A7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94046" y="2411468"/>
                    <a:ext cx="547531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Arrow Connector 392">
                    <a:extLst>
                      <a:ext uri="{FF2B5EF4-FFF2-40B4-BE49-F238E27FC236}">
                        <a16:creationId xmlns:a16="http://schemas.microsoft.com/office/drawing/2014/main" id="{403B6231-56D1-C730-B7DE-C177291D71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41577" y="2411468"/>
                    <a:ext cx="0" cy="737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4BA9277E-DFF5-59DA-5141-C3CF5BF01F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94046" y="4311600"/>
                    <a:ext cx="547531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7" name="Straight Arrow Connector 406">
                    <a:extLst>
                      <a:ext uri="{FF2B5EF4-FFF2-40B4-BE49-F238E27FC236}">
                        <a16:creationId xmlns:a16="http://schemas.microsoft.com/office/drawing/2014/main" id="{7AF5EB07-9A68-57B7-04D4-6A93428A3D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241577" y="3564665"/>
                    <a:ext cx="0" cy="74693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15" name="Group 414">
                    <a:extLst>
                      <a:ext uri="{FF2B5EF4-FFF2-40B4-BE49-F238E27FC236}">
                        <a16:creationId xmlns:a16="http://schemas.microsoft.com/office/drawing/2014/main" id="{804E32AD-9777-013D-65A2-7FDE6A49E55C}"/>
                      </a:ext>
                    </a:extLst>
                  </p:cNvPr>
                  <p:cNvGrpSpPr/>
                  <p:nvPr/>
                </p:nvGrpSpPr>
                <p:grpSpPr>
                  <a:xfrm>
                    <a:off x="8574290" y="3178293"/>
                    <a:ext cx="352157" cy="338864"/>
                    <a:chOff x="8964709" y="3197605"/>
                    <a:chExt cx="449277" cy="418075"/>
                  </a:xfrm>
                </p:grpSpPr>
                <p:sp>
                  <p:nvSpPr>
                    <p:cNvPr id="411" name="Oval 410">
                      <a:extLst>
                        <a:ext uri="{FF2B5EF4-FFF2-40B4-BE49-F238E27FC236}">
                          <a16:creationId xmlns:a16="http://schemas.microsoft.com/office/drawing/2014/main" id="{4C1D5F40-56CF-1888-98F9-1A9409DCA2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9292" y="3197605"/>
                      <a:ext cx="400451" cy="418075"/>
                    </a:xfrm>
                    <a:prstGeom prst="ellipse">
                      <a:avLst/>
                    </a:prstGeom>
                    <a:solidFill>
                      <a:srgbClr val="DAE3F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12" name="TextBox 411">
                      <a:extLst>
                        <a:ext uri="{FF2B5EF4-FFF2-40B4-BE49-F238E27FC236}">
                          <a16:creationId xmlns:a16="http://schemas.microsoft.com/office/drawing/2014/main" id="{17608DDD-49BD-FD60-1ABE-6084CA5787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64709" y="3218655"/>
                      <a:ext cx="449277" cy="379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⊙</a:t>
                      </a:r>
                    </a:p>
                  </p:txBody>
                </p:sp>
              </p:grpSp>
              <p:cxnSp>
                <p:nvCxnSpPr>
                  <p:cNvPr id="414" name="Straight Arrow Connector 413">
                    <a:extLst>
                      <a:ext uri="{FF2B5EF4-FFF2-40B4-BE49-F238E27FC236}">
                        <a16:creationId xmlns:a16="http://schemas.microsoft.com/office/drawing/2014/main" id="{EB3820C7-0964-E9F7-A56F-42C6A79C85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423564" y="3334128"/>
                    <a:ext cx="185743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27" name="Group 426">
                    <a:extLst>
                      <a:ext uri="{FF2B5EF4-FFF2-40B4-BE49-F238E27FC236}">
                        <a16:creationId xmlns:a16="http://schemas.microsoft.com/office/drawing/2014/main" id="{AD5C2C2D-3F80-1CE5-6E55-BFC78ECF52F8}"/>
                      </a:ext>
                    </a:extLst>
                  </p:cNvPr>
                  <p:cNvGrpSpPr/>
                  <p:nvPr/>
                </p:nvGrpSpPr>
                <p:grpSpPr>
                  <a:xfrm>
                    <a:off x="8554479" y="2328517"/>
                    <a:ext cx="469257" cy="387660"/>
                    <a:chOff x="8799061" y="4921715"/>
                    <a:chExt cx="469257" cy="387660"/>
                  </a:xfrm>
                  <a:solidFill>
                    <a:schemeClr val="accent6">
                      <a:lumMod val="40000"/>
                      <a:lumOff val="60000"/>
                    </a:schemeClr>
                  </a:solidFill>
                </p:grpSpPr>
                <p:grpSp>
                  <p:nvGrpSpPr>
                    <p:cNvPr id="428" name="Group 427">
                      <a:extLst>
                        <a:ext uri="{FF2B5EF4-FFF2-40B4-BE49-F238E27FC236}">
                          <a16:creationId xmlns:a16="http://schemas.microsoft.com/office/drawing/2014/main" id="{4F953023-4CB5-E572-94CB-825EAF6663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99061" y="4921715"/>
                      <a:ext cx="469257" cy="387660"/>
                      <a:chOff x="8791024" y="4914826"/>
                      <a:chExt cx="469257" cy="387660"/>
                    </a:xfrm>
                    <a:grpFill/>
                  </p:grpSpPr>
                  <p:sp>
                    <p:nvSpPr>
                      <p:cNvPr id="432" name="Cube 431">
                        <a:extLst>
                          <a:ext uri="{FF2B5EF4-FFF2-40B4-BE49-F238E27FC236}">
                            <a16:creationId xmlns:a16="http://schemas.microsoft.com/office/drawing/2014/main" id="{DB0A821F-968F-CA9E-F8F4-1A1025C34F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1024" y="4916978"/>
                        <a:ext cx="469257" cy="378158"/>
                      </a:xfrm>
                      <a:prstGeom prst="cube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433" name="Straight Connector 432">
                        <a:extLst>
                          <a:ext uri="{FF2B5EF4-FFF2-40B4-BE49-F238E27FC236}">
                            <a16:creationId xmlns:a16="http://schemas.microsoft.com/office/drawing/2014/main" id="{0ADFA13E-092E-1D85-29C5-88BA1960E07D}"/>
                          </a:ext>
                        </a:extLst>
                      </p:cNvPr>
                      <p:cNvCxnSpPr>
                        <a:stCxn id="432" idx="2"/>
                        <a:endCxn id="432" idx="4"/>
                      </p:cNvCxnSpPr>
                      <p:nvPr/>
                    </p:nvCxnSpPr>
                    <p:spPr>
                      <a:xfrm>
                        <a:off x="8791024" y="5153327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4" name="Straight Connector 433">
                        <a:extLst>
                          <a:ext uri="{FF2B5EF4-FFF2-40B4-BE49-F238E27FC236}">
                            <a16:creationId xmlns:a16="http://schemas.microsoft.com/office/drawing/2014/main" id="{99D1C595-9AAC-C0B7-689D-DDF5ED35FE6D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1024" y="5215605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5" name="Straight Connector 434">
                        <a:extLst>
                          <a:ext uri="{FF2B5EF4-FFF2-40B4-BE49-F238E27FC236}">
                            <a16:creationId xmlns:a16="http://schemas.microsoft.com/office/drawing/2014/main" id="{452630CF-7750-F2A2-3EAC-90BDD968F2E8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2094" y="5083946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6" name="Straight Connector 435">
                        <a:extLst>
                          <a:ext uri="{FF2B5EF4-FFF2-40B4-BE49-F238E27FC236}">
                            <a16:creationId xmlns:a16="http://schemas.microsoft.com/office/drawing/2014/main" id="{C7752228-1940-19F1-34DB-0EF697AB020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86039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7" name="Straight Connector 436">
                        <a:extLst>
                          <a:ext uri="{FF2B5EF4-FFF2-40B4-BE49-F238E27FC236}">
                            <a16:creationId xmlns:a16="http://schemas.microsoft.com/office/drawing/2014/main" id="{C48E8850-6E1A-DD78-EB8F-C2280BF54CA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9318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8" name="Straight Connector 437">
                        <a:extLst>
                          <a:ext uri="{FF2B5EF4-FFF2-40B4-BE49-F238E27FC236}">
                            <a16:creationId xmlns:a16="http://schemas.microsoft.com/office/drawing/2014/main" id="{B1E20B62-4799-18DF-E90F-C956993B256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1684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9" name="Straight Connector 438">
                        <a:extLst>
                          <a:ext uri="{FF2B5EF4-FFF2-40B4-BE49-F238E27FC236}">
                            <a16:creationId xmlns:a16="http://schemas.microsoft.com/office/drawing/2014/main" id="{3E528898-C4CD-1970-6818-39AA63D347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842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0" name="Straight Connector 439">
                        <a:extLst>
                          <a:ext uri="{FF2B5EF4-FFF2-40B4-BE49-F238E27FC236}">
                            <a16:creationId xmlns:a16="http://schemas.microsoft.com/office/drawing/2014/main" id="{57E0C559-01ED-07C6-A81C-BE0C23D9D2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854915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1" name="Straight Connector 440">
                        <a:extLst>
                          <a:ext uri="{FF2B5EF4-FFF2-40B4-BE49-F238E27FC236}">
                            <a16:creationId xmlns:a16="http://schemas.microsoft.com/office/drawing/2014/main" id="{D73FAC30-832B-12B4-E477-0F465A40FA6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929103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2" name="Straight Connector 441">
                        <a:extLst>
                          <a:ext uri="{FF2B5EF4-FFF2-40B4-BE49-F238E27FC236}">
                            <a16:creationId xmlns:a16="http://schemas.microsoft.com/office/drawing/2014/main" id="{B15D7432-0BF3-21F7-E8CE-5E02996EEC1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13206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3" name="Straight Connector 442">
                        <a:extLst>
                          <a:ext uri="{FF2B5EF4-FFF2-40B4-BE49-F238E27FC236}">
                            <a16:creationId xmlns:a16="http://schemas.microsoft.com/office/drawing/2014/main" id="{B2875DAF-8D45-3EE7-A274-0A6A271E5D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80593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4" name="Straight Connector 443">
                        <a:extLst>
                          <a:ext uri="{FF2B5EF4-FFF2-40B4-BE49-F238E27FC236}">
                            <a16:creationId xmlns:a16="http://schemas.microsoft.com/office/drawing/2014/main" id="{9A541EF2-D42B-45B7-0A69-9566A5C10EE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25847" y="4986314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5" name="Straight Connector 444">
                        <a:extLst>
                          <a:ext uri="{FF2B5EF4-FFF2-40B4-BE49-F238E27FC236}">
                            <a16:creationId xmlns:a16="http://schemas.microsoft.com/office/drawing/2014/main" id="{99CEE1C1-822A-F263-DD55-780B5302630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54915" y="4954700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6" name="Straight Connector 445">
                        <a:extLst>
                          <a:ext uri="{FF2B5EF4-FFF2-40B4-BE49-F238E27FC236}">
                            <a16:creationId xmlns:a16="http://schemas.microsoft.com/office/drawing/2014/main" id="{FBACE228-EF52-E502-B236-F0B4238B0B1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197201" y="4986224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7" name="Straight Connector 446">
                        <a:extLst>
                          <a:ext uri="{FF2B5EF4-FFF2-40B4-BE49-F238E27FC236}">
                            <a16:creationId xmlns:a16="http://schemas.microsoft.com/office/drawing/2014/main" id="{6856124F-5FF5-6B0D-6A8B-37903C25AE0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229633" y="4954700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29" name="Straight Connector 428">
                      <a:extLst>
                        <a:ext uri="{FF2B5EF4-FFF2-40B4-BE49-F238E27FC236}">
                          <a16:creationId xmlns:a16="http://schemas.microsoft.com/office/drawing/2014/main" id="{080DF198-4E4A-8E20-8CB6-A4C92B70FD6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06023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0" name="Straight Connector 429">
                      <a:extLst>
                        <a:ext uri="{FF2B5EF4-FFF2-40B4-BE49-F238E27FC236}">
                          <a16:creationId xmlns:a16="http://schemas.microsoft.com/office/drawing/2014/main" id="{AB6B22A9-C4A9-ECE1-82F6-B30ED4EFD4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12522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1" name="Straight Connector 430">
                      <a:extLst>
                        <a:ext uri="{FF2B5EF4-FFF2-40B4-BE49-F238E27FC236}">
                          <a16:creationId xmlns:a16="http://schemas.microsoft.com/office/drawing/2014/main" id="{85D2A3E3-499C-4250-5991-07C3064A00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6812" y="4993723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49" name="TextBox 448">
                    <a:extLst>
                      <a:ext uri="{FF2B5EF4-FFF2-40B4-BE49-F238E27FC236}">
                        <a16:creationId xmlns:a16="http://schemas.microsoft.com/office/drawing/2014/main" id="{BF7CD287-7827-A0B6-D7DA-64A97536F367}"/>
                      </a:ext>
                    </a:extLst>
                  </p:cNvPr>
                  <p:cNvSpPr txBox="1"/>
                  <p:nvPr/>
                </p:nvSpPr>
                <p:spPr>
                  <a:xfrm>
                    <a:off x="8824753" y="2037008"/>
                    <a:ext cx="269625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400" dirty="0"/>
                      <a:t>g</a:t>
                    </a:r>
                  </a:p>
                </p:txBody>
              </p:sp>
              <p:cxnSp>
                <p:nvCxnSpPr>
                  <p:cNvPr id="455" name="Straight Arrow Connector 454">
                    <a:extLst>
                      <a:ext uri="{FF2B5EF4-FFF2-40B4-BE49-F238E27FC236}">
                        <a16:creationId xmlns:a16="http://schemas.microsoft.com/office/drawing/2014/main" id="{79C9A0AC-CBCB-DA04-2183-13AB69215207}"/>
                      </a:ext>
                    </a:extLst>
                  </p:cNvPr>
                  <p:cNvCxnSpPr>
                    <a:cxnSpLocks/>
                    <a:stCxn id="432" idx="3"/>
                    <a:endCxn id="412" idx="0"/>
                  </p:cNvCxnSpPr>
                  <p:nvPr/>
                </p:nvCxnSpPr>
                <p:spPr>
                  <a:xfrm>
                    <a:off x="8741838" y="2708827"/>
                    <a:ext cx="8531" cy="48652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57" name="Group 456">
                    <a:extLst>
                      <a:ext uri="{FF2B5EF4-FFF2-40B4-BE49-F238E27FC236}">
                        <a16:creationId xmlns:a16="http://schemas.microsoft.com/office/drawing/2014/main" id="{02D0A404-A4B5-DEF0-CBD2-32D8F49AA421}"/>
                      </a:ext>
                    </a:extLst>
                  </p:cNvPr>
                  <p:cNvGrpSpPr/>
                  <p:nvPr/>
                </p:nvGrpSpPr>
                <p:grpSpPr>
                  <a:xfrm>
                    <a:off x="8486821" y="4294412"/>
                    <a:ext cx="469257" cy="387660"/>
                    <a:chOff x="8799061" y="4921715"/>
                    <a:chExt cx="469257" cy="387660"/>
                  </a:xfrm>
                  <a:solidFill>
                    <a:srgbClr val="A2F2F0"/>
                  </a:solidFill>
                </p:grpSpPr>
                <p:grpSp>
                  <p:nvGrpSpPr>
                    <p:cNvPr id="458" name="Group 457">
                      <a:extLst>
                        <a:ext uri="{FF2B5EF4-FFF2-40B4-BE49-F238E27FC236}">
                          <a16:creationId xmlns:a16="http://schemas.microsoft.com/office/drawing/2014/main" id="{5ABD3A5D-4AE6-3AC7-CA91-220FDDD144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99061" y="4921715"/>
                      <a:ext cx="469257" cy="387660"/>
                      <a:chOff x="8791024" y="4914826"/>
                      <a:chExt cx="469257" cy="387660"/>
                    </a:xfrm>
                    <a:grpFill/>
                  </p:grpSpPr>
                  <p:sp>
                    <p:nvSpPr>
                      <p:cNvPr id="462" name="Cube 461">
                        <a:extLst>
                          <a:ext uri="{FF2B5EF4-FFF2-40B4-BE49-F238E27FC236}">
                            <a16:creationId xmlns:a16="http://schemas.microsoft.com/office/drawing/2014/main" id="{28F5FD82-B155-7E0C-ADD2-F4B70DC9A2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1024" y="4916978"/>
                        <a:ext cx="469257" cy="378158"/>
                      </a:xfrm>
                      <a:prstGeom prst="cube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463" name="Straight Connector 462">
                        <a:extLst>
                          <a:ext uri="{FF2B5EF4-FFF2-40B4-BE49-F238E27FC236}">
                            <a16:creationId xmlns:a16="http://schemas.microsoft.com/office/drawing/2014/main" id="{E0712CBB-99CC-0411-F106-B9C19A252143}"/>
                          </a:ext>
                        </a:extLst>
                      </p:cNvPr>
                      <p:cNvCxnSpPr>
                        <a:stCxn id="462" idx="2"/>
                        <a:endCxn id="462" idx="4"/>
                      </p:cNvCxnSpPr>
                      <p:nvPr/>
                    </p:nvCxnSpPr>
                    <p:spPr>
                      <a:xfrm>
                        <a:off x="8791024" y="5153327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4" name="Straight Connector 463">
                        <a:extLst>
                          <a:ext uri="{FF2B5EF4-FFF2-40B4-BE49-F238E27FC236}">
                            <a16:creationId xmlns:a16="http://schemas.microsoft.com/office/drawing/2014/main" id="{042749F5-02F2-F839-FB5A-0AB3D15A1D2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1024" y="5215605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5" name="Straight Connector 464">
                        <a:extLst>
                          <a:ext uri="{FF2B5EF4-FFF2-40B4-BE49-F238E27FC236}">
                            <a16:creationId xmlns:a16="http://schemas.microsoft.com/office/drawing/2014/main" id="{04019D7F-16E6-D287-BCC1-0FC3A11413BD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792094" y="5083946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6" name="Straight Connector 465">
                        <a:extLst>
                          <a:ext uri="{FF2B5EF4-FFF2-40B4-BE49-F238E27FC236}">
                            <a16:creationId xmlns:a16="http://schemas.microsoft.com/office/drawing/2014/main" id="{01C6179F-24A7-2ABF-FB54-091C8722D5E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86039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7" name="Straight Connector 466">
                        <a:extLst>
                          <a:ext uri="{FF2B5EF4-FFF2-40B4-BE49-F238E27FC236}">
                            <a16:creationId xmlns:a16="http://schemas.microsoft.com/office/drawing/2014/main" id="{EC782A87-33B3-9C5C-BD26-E805F1E4118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9318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8" name="Straight Connector 467">
                        <a:extLst>
                          <a:ext uri="{FF2B5EF4-FFF2-40B4-BE49-F238E27FC236}">
                            <a16:creationId xmlns:a16="http://schemas.microsoft.com/office/drawing/2014/main" id="{7CCBF475-49EA-102D-B4AB-3CD5A91F50F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16841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9" name="Straight Connector 468">
                        <a:extLst>
                          <a:ext uri="{FF2B5EF4-FFF2-40B4-BE49-F238E27FC236}">
                            <a16:creationId xmlns:a16="http://schemas.microsoft.com/office/drawing/2014/main" id="{B6190BFB-0ECD-0746-64C2-8C44004973E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84229" y="5004136"/>
                        <a:ext cx="0" cy="29835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0" name="Straight Connector 469">
                        <a:extLst>
                          <a:ext uri="{FF2B5EF4-FFF2-40B4-BE49-F238E27FC236}">
                            <a16:creationId xmlns:a16="http://schemas.microsoft.com/office/drawing/2014/main" id="{890FAF81-B6D2-DE74-494D-B3F046BC39B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854915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1" name="Straight Connector 470">
                        <a:extLst>
                          <a:ext uri="{FF2B5EF4-FFF2-40B4-BE49-F238E27FC236}">
                            <a16:creationId xmlns:a16="http://schemas.microsoft.com/office/drawing/2014/main" id="{26CD7297-B534-50EA-B5D2-C06A7F94C05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929103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2" name="Straight Connector 471">
                        <a:extLst>
                          <a:ext uri="{FF2B5EF4-FFF2-40B4-BE49-F238E27FC236}">
                            <a16:creationId xmlns:a16="http://schemas.microsoft.com/office/drawing/2014/main" id="{DC923566-3220-58C5-FA1E-581A8E202CB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13206" y="4914826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3" name="Straight Connector 472">
                        <a:extLst>
                          <a:ext uri="{FF2B5EF4-FFF2-40B4-BE49-F238E27FC236}">
                            <a16:creationId xmlns:a16="http://schemas.microsoft.com/office/drawing/2014/main" id="{415C06F1-DF02-4AB3-7CBF-BD81501226A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9080593" y="4916978"/>
                        <a:ext cx="94539" cy="9454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4" name="Straight Connector 473">
                        <a:extLst>
                          <a:ext uri="{FF2B5EF4-FFF2-40B4-BE49-F238E27FC236}">
                            <a16:creationId xmlns:a16="http://schemas.microsoft.com/office/drawing/2014/main" id="{2677B301-9BCA-9F15-CBD1-AE6ECCF6B7E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25847" y="4986314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5" name="Straight Connector 474">
                        <a:extLst>
                          <a:ext uri="{FF2B5EF4-FFF2-40B4-BE49-F238E27FC236}">
                            <a16:creationId xmlns:a16="http://schemas.microsoft.com/office/drawing/2014/main" id="{9AA9378E-B0BE-ECEC-BB35-BE7268C3C03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854915" y="4954700"/>
                        <a:ext cx="374718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6" name="Straight Connector 475">
                        <a:extLst>
                          <a:ext uri="{FF2B5EF4-FFF2-40B4-BE49-F238E27FC236}">
                            <a16:creationId xmlns:a16="http://schemas.microsoft.com/office/drawing/2014/main" id="{B5DE3FE5-6061-5A19-CB06-F93C365193F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197201" y="4986224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7" name="Straight Connector 476">
                        <a:extLst>
                          <a:ext uri="{FF2B5EF4-FFF2-40B4-BE49-F238E27FC236}">
                            <a16:creationId xmlns:a16="http://schemas.microsoft.com/office/drawing/2014/main" id="{0001884E-09AD-90AE-908A-638535C165C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229633" y="4954700"/>
                        <a:ext cx="0" cy="28421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59" name="Straight Connector 458">
                      <a:extLst>
                        <a:ext uri="{FF2B5EF4-FFF2-40B4-BE49-F238E27FC236}">
                          <a16:creationId xmlns:a16="http://schemas.microsoft.com/office/drawing/2014/main" id="{6E839B18-207D-E6F1-7366-3F200F6F31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06023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0" name="Straight Connector 459">
                      <a:extLst>
                        <a:ext uri="{FF2B5EF4-FFF2-40B4-BE49-F238E27FC236}">
                          <a16:creationId xmlns:a16="http://schemas.microsoft.com/office/drawing/2014/main" id="{6D03932C-BA8E-9384-47C9-A5F4FF2EA9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5742" y="5125220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1" name="Straight Connector 460">
                      <a:extLst>
                        <a:ext uri="{FF2B5EF4-FFF2-40B4-BE49-F238E27FC236}">
                          <a16:creationId xmlns:a16="http://schemas.microsoft.com/office/drawing/2014/main" id="{C45E0702-B96D-D76B-54EF-A2DF1B8CFF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66812" y="4993723"/>
                      <a:ext cx="94539" cy="94540"/>
                    </a:xfrm>
                    <a:prstGeom prst="lin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79" name="Straight Arrow Connector 478">
                    <a:extLst>
                      <a:ext uri="{FF2B5EF4-FFF2-40B4-BE49-F238E27FC236}">
                        <a16:creationId xmlns:a16="http://schemas.microsoft.com/office/drawing/2014/main" id="{6165C309-9C21-02A2-9F70-9204E7606626}"/>
                      </a:ext>
                    </a:extLst>
                  </p:cNvPr>
                  <p:cNvCxnSpPr>
                    <a:stCxn id="411" idx="4"/>
                    <a:endCxn id="462" idx="0"/>
                  </p:cNvCxnSpPr>
                  <p:nvPr/>
                </p:nvCxnSpPr>
                <p:spPr>
                  <a:xfrm>
                    <a:off x="8766179" y="3517157"/>
                    <a:ext cx="2540" cy="77940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0" name="TextBox 479">
                    <a:extLst>
                      <a:ext uri="{FF2B5EF4-FFF2-40B4-BE49-F238E27FC236}">
                        <a16:creationId xmlns:a16="http://schemas.microsoft.com/office/drawing/2014/main" id="{3078E9F8-752A-AD7F-1E5F-128D97CB9109}"/>
                      </a:ext>
                    </a:extLst>
                  </p:cNvPr>
                  <p:cNvSpPr txBox="1"/>
                  <p:nvPr/>
                </p:nvSpPr>
                <p:spPr>
                  <a:xfrm>
                    <a:off x="8455191" y="4638543"/>
                    <a:ext cx="52931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i="1" dirty="0"/>
                      <a:t>fused</a:t>
                    </a:r>
                  </a:p>
                </p:txBody>
              </p:sp>
              <p:sp>
                <p:nvSpPr>
                  <p:cNvPr id="482" name="TextBox 481">
                    <a:extLst>
                      <a:ext uri="{FF2B5EF4-FFF2-40B4-BE49-F238E27FC236}">
                        <a16:creationId xmlns:a16="http://schemas.microsoft.com/office/drawing/2014/main" id="{9DF2CAAC-00AD-AC85-9A75-F8EB27751436}"/>
                      </a:ext>
                    </a:extLst>
                  </p:cNvPr>
                  <p:cNvSpPr txBox="1"/>
                  <p:nvPr/>
                </p:nvSpPr>
                <p:spPr>
                  <a:xfrm>
                    <a:off x="8458397" y="4796184"/>
                    <a:ext cx="52610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(</a:t>
                    </a:r>
                    <a:r>
                      <a:rPr lang="en-US" sz="1200" dirty="0" err="1"/>
                      <a:t>NxC</a:t>
                    </a:r>
                    <a:r>
                      <a:rPr lang="en-US" sz="1200" dirty="0"/>
                      <a:t>)</a:t>
                    </a:r>
                  </a:p>
                </p:txBody>
              </p:sp>
            </p:grpSp>
          </p:grpSp>
        </p:grp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6F1F3222-224E-3775-70C7-7E7BBB389027}"/>
                </a:ext>
              </a:extLst>
            </p:cNvPr>
            <p:cNvGrpSpPr/>
            <p:nvPr/>
          </p:nvGrpSpPr>
          <p:grpSpPr>
            <a:xfrm>
              <a:off x="9585892" y="2497150"/>
              <a:ext cx="469257" cy="387660"/>
              <a:chOff x="8799061" y="4921715"/>
              <a:chExt cx="469257" cy="387660"/>
            </a:xfrm>
            <a:solidFill>
              <a:srgbClr val="A2F2F0"/>
            </a:solidFill>
          </p:grpSpPr>
          <p:grpSp>
            <p:nvGrpSpPr>
              <p:cNvPr id="484" name="Group 483">
                <a:extLst>
                  <a:ext uri="{FF2B5EF4-FFF2-40B4-BE49-F238E27FC236}">
                    <a16:creationId xmlns:a16="http://schemas.microsoft.com/office/drawing/2014/main" id="{3F2A4332-1770-4E19-127D-3A041C8A3954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488" name="Cube 487">
                  <a:extLst>
                    <a:ext uri="{FF2B5EF4-FFF2-40B4-BE49-F238E27FC236}">
                      <a16:creationId xmlns:a16="http://schemas.microsoft.com/office/drawing/2014/main" id="{8FDD5D6A-C405-9C6F-301F-7446373F226C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89" name="Straight Connector 488">
                  <a:extLst>
                    <a:ext uri="{FF2B5EF4-FFF2-40B4-BE49-F238E27FC236}">
                      <a16:creationId xmlns:a16="http://schemas.microsoft.com/office/drawing/2014/main" id="{308DA027-F506-986D-0D05-92BFA28F9CC4}"/>
                    </a:ext>
                  </a:extLst>
                </p:cNvPr>
                <p:cNvCxnSpPr>
                  <a:stCxn id="488" idx="2"/>
                  <a:endCxn id="488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7C0B5943-F8D5-CE2F-EAA8-9A029880E28D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782092B2-7206-DC9D-6A76-4CB4FA1ED70E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Straight Connector 491">
                  <a:extLst>
                    <a:ext uri="{FF2B5EF4-FFF2-40B4-BE49-F238E27FC236}">
                      <a16:creationId xmlns:a16="http://schemas.microsoft.com/office/drawing/2014/main" id="{F0EDB517-5EAF-5205-4723-703936FF84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Straight Connector 492">
                  <a:extLst>
                    <a:ext uri="{FF2B5EF4-FFF2-40B4-BE49-F238E27FC236}">
                      <a16:creationId xmlns:a16="http://schemas.microsoft.com/office/drawing/2014/main" id="{5A9E28C5-37CF-FE8C-9AFD-9916C18661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4FAF4B93-A21D-7DC5-88EA-E436C86194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06AB570F-71A8-7FE3-859B-101BAA66B7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6" name="Straight Connector 495">
                  <a:extLst>
                    <a:ext uri="{FF2B5EF4-FFF2-40B4-BE49-F238E27FC236}">
                      <a16:creationId xmlns:a16="http://schemas.microsoft.com/office/drawing/2014/main" id="{821AFBA4-9A66-A4CB-A09D-DD4D4F9221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000ECF77-390C-807A-EBE5-87513A1214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D064B8A7-0608-5DC8-251D-57347A6ACD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A6B22DAD-2867-251E-FB3B-C5E92E7045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C8CFAFAD-7690-39B9-AA71-3A6FF5105A5B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70AB6645-45C6-485A-480D-1E878B9ADA00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67070154-DDA3-DE76-9EDC-A402689E4C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15642BBD-E70F-CC25-24BF-CC7160BD02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5" name="Straight Connector 484">
                <a:extLst>
                  <a:ext uri="{FF2B5EF4-FFF2-40B4-BE49-F238E27FC236}">
                    <a16:creationId xmlns:a16="http://schemas.microsoft.com/office/drawing/2014/main" id="{1EB8716C-7765-23EA-AF50-0511DF2AB4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8FABBFAF-B4F4-BE6F-0BED-E88099127D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BC60E07E-6255-082C-694B-1F36208038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4B517744-F5A1-9959-BE2E-24A3E7221863}"/>
                </a:ext>
              </a:extLst>
            </p:cNvPr>
            <p:cNvSpPr txBox="1"/>
            <p:nvPr/>
          </p:nvSpPr>
          <p:spPr>
            <a:xfrm>
              <a:off x="9515796" y="2860960"/>
              <a:ext cx="5293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fused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3070C37D-7817-DE45-0865-A87736963005}"/>
                </a:ext>
              </a:extLst>
            </p:cNvPr>
            <p:cNvSpPr txBox="1"/>
            <p:nvPr/>
          </p:nvSpPr>
          <p:spPr>
            <a:xfrm>
              <a:off x="9519002" y="3039552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14967EE-1856-6AAD-43AA-BD9811574697}"/>
                </a:ext>
              </a:extLst>
            </p:cNvPr>
            <p:cNvGrpSpPr/>
            <p:nvPr/>
          </p:nvGrpSpPr>
          <p:grpSpPr>
            <a:xfrm>
              <a:off x="10304131" y="2459809"/>
              <a:ext cx="1481496" cy="501601"/>
              <a:chOff x="9994604" y="3489871"/>
              <a:chExt cx="1481496" cy="501601"/>
            </a:xfrm>
          </p:grpSpPr>
          <p:sp>
            <p:nvSpPr>
              <p:cNvPr id="508" name="Rectangle: Rounded Corners 507">
                <a:extLst>
                  <a:ext uri="{FF2B5EF4-FFF2-40B4-BE49-F238E27FC236}">
                    <a16:creationId xmlns:a16="http://schemas.microsoft.com/office/drawing/2014/main" id="{E67DE018-254D-5E0E-36C4-468442BE8F6D}"/>
                  </a:ext>
                </a:extLst>
              </p:cNvPr>
              <p:cNvSpPr/>
              <p:nvPr/>
            </p:nvSpPr>
            <p:spPr>
              <a:xfrm>
                <a:off x="10055697" y="3489871"/>
                <a:ext cx="1359311" cy="501601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9" name="TextBox 508">
                <a:extLst>
                  <a:ext uri="{FF2B5EF4-FFF2-40B4-BE49-F238E27FC236}">
                    <a16:creationId xmlns:a16="http://schemas.microsoft.com/office/drawing/2014/main" id="{13E49840-BB2F-B2CF-C298-904C4B847A71}"/>
                  </a:ext>
                </a:extLst>
              </p:cNvPr>
              <p:cNvSpPr txBox="1"/>
              <p:nvPr/>
            </p:nvSpPr>
            <p:spPr>
              <a:xfrm>
                <a:off x="10489486" y="3515259"/>
                <a:ext cx="4603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MLP</a:t>
                </a:r>
                <a:endParaRPr lang="en-US" dirty="0"/>
              </a:p>
            </p:txBody>
          </p:sp>
          <p:sp>
            <p:nvSpPr>
              <p:cNvPr id="511" name="TextBox 510">
                <a:extLst>
                  <a:ext uri="{FF2B5EF4-FFF2-40B4-BE49-F238E27FC236}">
                    <a16:creationId xmlns:a16="http://schemas.microsoft.com/office/drawing/2014/main" id="{91936E8A-F5D0-D989-A0FE-2357FA0A324A}"/>
                  </a:ext>
                </a:extLst>
              </p:cNvPr>
              <p:cNvSpPr txBox="1"/>
              <p:nvPr/>
            </p:nvSpPr>
            <p:spPr>
              <a:xfrm>
                <a:off x="9994604" y="3687074"/>
                <a:ext cx="14814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(</a:t>
                </a:r>
                <a:r>
                  <a:rPr lang="en-US" sz="1050" dirty="0" err="1"/>
                  <a:t>Linear</a:t>
                </a:r>
                <a:r>
                  <a:rPr lang="en-US" sz="1050" dirty="0" err="1">
                    <a:sym typeface="Wingdings" panose="05000000000000000000" pitchFamily="2" charset="2"/>
                  </a:rPr>
                  <a:t></a:t>
                </a:r>
                <a:r>
                  <a:rPr lang="en-US" sz="1050" dirty="0" err="1"/>
                  <a:t>ReLU</a:t>
                </a:r>
                <a:r>
                  <a:rPr lang="en-US" sz="1050" dirty="0" err="1">
                    <a:sym typeface="Wingdings" panose="05000000000000000000" pitchFamily="2" charset="2"/>
                  </a:rPr>
                  <a:t>L</a:t>
                </a:r>
                <a:r>
                  <a:rPr lang="en-US" sz="1050" dirty="0" err="1"/>
                  <a:t>inear</a:t>
                </a:r>
                <a:r>
                  <a:rPr lang="en-US" sz="1050" dirty="0"/>
                  <a:t>)</a:t>
                </a:r>
                <a:endParaRPr lang="en-US" sz="1400" dirty="0"/>
              </a:p>
            </p:txBody>
          </p:sp>
        </p:grp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A1526030-E37E-D45D-F02A-7D89EAE853F1}"/>
                </a:ext>
              </a:extLst>
            </p:cNvPr>
            <p:cNvGrpSpPr/>
            <p:nvPr/>
          </p:nvGrpSpPr>
          <p:grpSpPr>
            <a:xfrm>
              <a:off x="10909105" y="3326166"/>
              <a:ext cx="469257" cy="387660"/>
              <a:chOff x="8799061" y="4921715"/>
              <a:chExt cx="469257" cy="387660"/>
            </a:xfrm>
            <a:solidFill>
              <a:srgbClr val="B8ADE7"/>
            </a:solidFill>
          </p:grpSpPr>
          <p:grpSp>
            <p:nvGrpSpPr>
              <p:cNvPr id="525" name="Group 524">
                <a:extLst>
                  <a:ext uri="{FF2B5EF4-FFF2-40B4-BE49-F238E27FC236}">
                    <a16:creationId xmlns:a16="http://schemas.microsoft.com/office/drawing/2014/main" id="{E045C25E-7B9E-F033-3107-F7171ED0A1BA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529" name="Cube 528">
                  <a:extLst>
                    <a:ext uri="{FF2B5EF4-FFF2-40B4-BE49-F238E27FC236}">
                      <a16:creationId xmlns:a16="http://schemas.microsoft.com/office/drawing/2014/main" id="{84D2E533-B38E-2CAD-2868-222A5463DCA0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FB3F74CE-EA6F-4642-7857-EBA9D3473E9C}"/>
                    </a:ext>
                  </a:extLst>
                </p:cNvPr>
                <p:cNvCxnSpPr>
                  <a:stCxn id="529" idx="2"/>
                  <a:endCxn id="529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Straight Connector 530">
                  <a:extLst>
                    <a:ext uri="{FF2B5EF4-FFF2-40B4-BE49-F238E27FC236}">
                      <a16:creationId xmlns:a16="http://schemas.microsoft.com/office/drawing/2014/main" id="{88BF67E6-A5D1-AC0C-BEB0-BC9CAE00FA09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2" name="Straight Connector 531">
                  <a:extLst>
                    <a:ext uri="{FF2B5EF4-FFF2-40B4-BE49-F238E27FC236}">
                      <a16:creationId xmlns:a16="http://schemas.microsoft.com/office/drawing/2014/main" id="{E5501AD0-63A6-A555-84D5-2859C920877F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3" name="Straight Connector 532">
                  <a:extLst>
                    <a:ext uri="{FF2B5EF4-FFF2-40B4-BE49-F238E27FC236}">
                      <a16:creationId xmlns:a16="http://schemas.microsoft.com/office/drawing/2014/main" id="{E1719BCB-81BE-AC8C-6B41-8BAE68706C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20FA3307-0FBF-9E6D-79FB-CAF42DE7C8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5" name="Straight Connector 534">
                  <a:extLst>
                    <a:ext uri="{FF2B5EF4-FFF2-40B4-BE49-F238E27FC236}">
                      <a16:creationId xmlns:a16="http://schemas.microsoft.com/office/drawing/2014/main" id="{D195D38A-3858-865F-F460-D363613137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6" name="Straight Connector 535">
                  <a:extLst>
                    <a:ext uri="{FF2B5EF4-FFF2-40B4-BE49-F238E27FC236}">
                      <a16:creationId xmlns:a16="http://schemas.microsoft.com/office/drawing/2014/main" id="{5A36BFD8-F335-E586-6B77-B5C7FF7F24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" name="Straight Connector 536">
                  <a:extLst>
                    <a:ext uri="{FF2B5EF4-FFF2-40B4-BE49-F238E27FC236}">
                      <a16:creationId xmlns:a16="http://schemas.microsoft.com/office/drawing/2014/main" id="{1586D1A5-2709-D515-AED7-43BCA91830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8" name="Straight Connector 537">
                  <a:extLst>
                    <a:ext uri="{FF2B5EF4-FFF2-40B4-BE49-F238E27FC236}">
                      <a16:creationId xmlns:a16="http://schemas.microsoft.com/office/drawing/2014/main" id="{1C760963-4396-28C4-2105-51CF21E4A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9" name="Straight Connector 538">
                  <a:extLst>
                    <a:ext uri="{FF2B5EF4-FFF2-40B4-BE49-F238E27FC236}">
                      <a16:creationId xmlns:a16="http://schemas.microsoft.com/office/drawing/2014/main" id="{8EEB3876-06E1-F1FE-E5C0-607345B758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Straight Connector 539">
                  <a:extLst>
                    <a:ext uri="{FF2B5EF4-FFF2-40B4-BE49-F238E27FC236}">
                      <a16:creationId xmlns:a16="http://schemas.microsoft.com/office/drawing/2014/main" id="{1EB2D64F-7FF5-4DC4-0AFF-20A04F32F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Straight Connector 540">
                  <a:extLst>
                    <a:ext uri="{FF2B5EF4-FFF2-40B4-BE49-F238E27FC236}">
                      <a16:creationId xmlns:a16="http://schemas.microsoft.com/office/drawing/2014/main" id="{949C3970-C5A1-674A-E151-2DA51A244E1F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Straight Connector 541">
                  <a:extLst>
                    <a:ext uri="{FF2B5EF4-FFF2-40B4-BE49-F238E27FC236}">
                      <a16:creationId xmlns:a16="http://schemas.microsoft.com/office/drawing/2014/main" id="{06CD33C8-86B0-A9D7-5BDC-B74BA18A4CA2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Straight Connector 542">
                  <a:extLst>
                    <a:ext uri="{FF2B5EF4-FFF2-40B4-BE49-F238E27FC236}">
                      <a16:creationId xmlns:a16="http://schemas.microsoft.com/office/drawing/2014/main" id="{C103A923-4224-28B1-88E3-F274449CF0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Connector 543">
                  <a:extLst>
                    <a:ext uri="{FF2B5EF4-FFF2-40B4-BE49-F238E27FC236}">
                      <a16:creationId xmlns:a16="http://schemas.microsoft.com/office/drawing/2014/main" id="{38F81BA6-15A6-0039-D360-ED819CE319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26" name="Straight Connector 525">
                <a:extLst>
                  <a:ext uri="{FF2B5EF4-FFF2-40B4-BE49-F238E27FC236}">
                    <a16:creationId xmlns:a16="http://schemas.microsoft.com/office/drawing/2014/main" id="{9404AFB2-5B91-28C6-816F-4990B2B7C7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Straight Connector 526">
                <a:extLst>
                  <a:ext uri="{FF2B5EF4-FFF2-40B4-BE49-F238E27FC236}">
                    <a16:creationId xmlns:a16="http://schemas.microsoft.com/office/drawing/2014/main" id="{831CF277-F56B-B4C5-D8B8-59FADF419E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Straight Connector 527">
                <a:extLst>
                  <a:ext uri="{FF2B5EF4-FFF2-40B4-BE49-F238E27FC236}">
                    <a16:creationId xmlns:a16="http://schemas.microsoft.com/office/drawing/2014/main" id="{B261095B-D65B-36AD-098D-932A2F67C0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6" name="Oval 545">
              <a:extLst>
                <a:ext uri="{FF2B5EF4-FFF2-40B4-BE49-F238E27FC236}">
                  <a16:creationId xmlns:a16="http://schemas.microsoft.com/office/drawing/2014/main" id="{3F7FF381-FEA1-A018-A237-E1890C3347AB}"/>
                </a:ext>
              </a:extLst>
            </p:cNvPr>
            <p:cNvSpPr/>
            <p:nvPr/>
          </p:nvSpPr>
          <p:spPr>
            <a:xfrm>
              <a:off x="10958120" y="4019976"/>
              <a:ext cx="302687" cy="311253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FFC591C3-229B-EEB3-3326-A78DE037AD5C}"/>
                </a:ext>
              </a:extLst>
            </p:cNvPr>
            <p:cNvSpPr txBox="1"/>
            <p:nvPr/>
          </p:nvSpPr>
          <p:spPr>
            <a:xfrm>
              <a:off x="10935881" y="3925245"/>
              <a:ext cx="2687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+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617DEF90-4C4D-17D2-14F7-00E4F26A06AC}"/>
                </a:ext>
              </a:extLst>
            </p:cNvPr>
            <p:cNvGrpSpPr/>
            <p:nvPr/>
          </p:nvGrpSpPr>
          <p:grpSpPr>
            <a:xfrm>
              <a:off x="9592878" y="3959343"/>
              <a:ext cx="391775" cy="374997"/>
              <a:chOff x="8799061" y="4921715"/>
              <a:chExt cx="469257" cy="387660"/>
            </a:xfrm>
            <a:solidFill>
              <a:srgbClr val="ADB9CA"/>
            </a:solidFill>
          </p:grpSpPr>
          <p:grpSp>
            <p:nvGrpSpPr>
              <p:cNvPr id="550" name="Group 549">
                <a:extLst>
                  <a:ext uri="{FF2B5EF4-FFF2-40B4-BE49-F238E27FC236}">
                    <a16:creationId xmlns:a16="http://schemas.microsoft.com/office/drawing/2014/main" id="{F023044B-8D88-524E-5CB8-1BE3622F4E9E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554" name="Cube 553">
                  <a:extLst>
                    <a:ext uri="{FF2B5EF4-FFF2-40B4-BE49-F238E27FC236}">
                      <a16:creationId xmlns:a16="http://schemas.microsoft.com/office/drawing/2014/main" id="{39174E51-A6FE-B258-B9BB-64F274694257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cxnSp>
              <p:nvCxnSpPr>
                <p:cNvPr id="555" name="Straight Connector 554">
                  <a:extLst>
                    <a:ext uri="{FF2B5EF4-FFF2-40B4-BE49-F238E27FC236}">
                      <a16:creationId xmlns:a16="http://schemas.microsoft.com/office/drawing/2014/main" id="{A9C5327B-ACE5-97AA-DC36-4EAD8EC79677}"/>
                    </a:ext>
                  </a:extLst>
                </p:cNvPr>
                <p:cNvCxnSpPr>
                  <a:stCxn id="554" idx="2"/>
                  <a:endCxn id="554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" name="Straight Connector 555">
                  <a:extLst>
                    <a:ext uri="{FF2B5EF4-FFF2-40B4-BE49-F238E27FC236}">
                      <a16:creationId xmlns:a16="http://schemas.microsoft.com/office/drawing/2014/main" id="{80650091-5486-DD88-14B1-FD215D2ECD65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" name="Straight Connector 556">
                  <a:extLst>
                    <a:ext uri="{FF2B5EF4-FFF2-40B4-BE49-F238E27FC236}">
                      <a16:creationId xmlns:a16="http://schemas.microsoft.com/office/drawing/2014/main" id="{82BC63D1-964F-73AE-1FEC-6B342BF5CF1B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" name="Straight Connector 557">
                  <a:extLst>
                    <a:ext uri="{FF2B5EF4-FFF2-40B4-BE49-F238E27FC236}">
                      <a16:creationId xmlns:a16="http://schemas.microsoft.com/office/drawing/2014/main" id="{D569D462-110D-7425-F2F6-072376B296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9" name="Straight Connector 558">
                  <a:extLst>
                    <a:ext uri="{FF2B5EF4-FFF2-40B4-BE49-F238E27FC236}">
                      <a16:creationId xmlns:a16="http://schemas.microsoft.com/office/drawing/2014/main" id="{442C6C08-E739-A72A-FF1F-72F77704C6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0" name="Straight Connector 559">
                  <a:extLst>
                    <a:ext uri="{FF2B5EF4-FFF2-40B4-BE49-F238E27FC236}">
                      <a16:creationId xmlns:a16="http://schemas.microsoft.com/office/drawing/2014/main" id="{D3B6442E-81AF-A258-0750-1462F4BCF2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>
                  <a:extLst>
                    <a:ext uri="{FF2B5EF4-FFF2-40B4-BE49-F238E27FC236}">
                      <a16:creationId xmlns:a16="http://schemas.microsoft.com/office/drawing/2014/main" id="{A86D186A-2279-19CB-E3EF-77FD403DBF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Straight Connector 561">
                  <a:extLst>
                    <a:ext uri="{FF2B5EF4-FFF2-40B4-BE49-F238E27FC236}">
                      <a16:creationId xmlns:a16="http://schemas.microsoft.com/office/drawing/2014/main" id="{A9A3731A-1DC9-FE16-2B0B-99D2569D22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Straight Connector 562">
                  <a:extLst>
                    <a:ext uri="{FF2B5EF4-FFF2-40B4-BE49-F238E27FC236}">
                      <a16:creationId xmlns:a16="http://schemas.microsoft.com/office/drawing/2014/main" id="{B760011B-FDEB-D283-B365-AEE72EB103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9DEBE082-6330-CA99-073D-F95405D240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8CAE63E6-DAEB-EB84-1140-7515EB23D5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40F5055C-2195-CCBD-B06C-5CB3D4332FFC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86135863-705E-AE77-3A57-3B7350ECB774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D6AEF0DC-4598-C43B-9D25-AF449086FF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9D9139B6-8803-B0C0-E934-26E038F791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1" name="Straight Connector 550">
                <a:extLst>
                  <a:ext uri="{FF2B5EF4-FFF2-40B4-BE49-F238E27FC236}">
                    <a16:creationId xmlns:a16="http://schemas.microsoft.com/office/drawing/2014/main" id="{7650FD5E-9720-5BC7-CB1B-8D1034F002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Straight Connector 551">
                <a:extLst>
                  <a:ext uri="{FF2B5EF4-FFF2-40B4-BE49-F238E27FC236}">
                    <a16:creationId xmlns:a16="http://schemas.microsoft.com/office/drawing/2014/main" id="{6F301A13-7E88-B978-B735-04CF4A7651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Straight Connector 552">
                <a:extLst>
                  <a:ext uri="{FF2B5EF4-FFF2-40B4-BE49-F238E27FC236}">
                    <a16:creationId xmlns:a16="http://schemas.microsoft.com/office/drawing/2014/main" id="{097034F6-A41C-6C8C-8DB5-8A7CDEE998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8CA3BC4A-4A13-6CF7-61E0-AB372C995817}"/>
                    </a:ext>
                  </a:extLst>
                </p:cNvPr>
                <p:cNvSpPr txBox="1"/>
                <p:nvPr/>
              </p:nvSpPr>
              <p:spPr>
                <a:xfrm>
                  <a:off x="9515796" y="3625644"/>
                  <a:ext cx="655831" cy="3572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norm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8CA3BC4A-4A13-6CF7-61E0-AB372C995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5796" y="3625644"/>
                  <a:ext cx="655831" cy="357268"/>
                </a:xfrm>
                <a:prstGeom prst="rect">
                  <a:avLst/>
                </a:prstGeom>
                <a:blipFill>
                  <a:blip r:embed="rId6"/>
                  <a:stretch>
                    <a:fillRect r="-9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EC848F00-281A-0EED-1A24-18A7865D4BA1}"/>
                </a:ext>
              </a:extLst>
            </p:cNvPr>
            <p:cNvSpPr txBox="1"/>
            <p:nvPr/>
          </p:nvSpPr>
          <p:spPr>
            <a:xfrm>
              <a:off x="9519002" y="4343932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sp>
          <p:nvSpPr>
            <p:cNvPr id="577" name="Rectangle: Rounded Corners 576">
              <a:extLst>
                <a:ext uri="{FF2B5EF4-FFF2-40B4-BE49-F238E27FC236}">
                  <a16:creationId xmlns:a16="http://schemas.microsoft.com/office/drawing/2014/main" id="{CE7EA956-B63E-CCB2-E436-6DF8D57A3511}"/>
                </a:ext>
              </a:extLst>
            </p:cNvPr>
            <p:cNvSpPr/>
            <p:nvPr/>
          </p:nvSpPr>
          <p:spPr>
            <a:xfrm>
              <a:off x="10592571" y="4535170"/>
              <a:ext cx="998700" cy="48458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id="{B825364D-E794-EAED-27C3-7D4D80D509BB}"/>
                </a:ext>
              </a:extLst>
            </p:cNvPr>
            <p:cNvSpPr txBox="1"/>
            <p:nvPr/>
          </p:nvSpPr>
          <p:spPr>
            <a:xfrm>
              <a:off x="11328057" y="3101100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h</a:t>
              </a:r>
            </a:p>
          </p:txBody>
        </p:sp>
        <p:sp>
          <p:nvSpPr>
            <p:cNvPr id="580" name="TextBox 579">
              <a:extLst>
                <a:ext uri="{FF2B5EF4-FFF2-40B4-BE49-F238E27FC236}">
                  <a16:creationId xmlns:a16="http://schemas.microsoft.com/office/drawing/2014/main" id="{5BC6779B-1A3D-FDB4-828D-265C5C9915D7}"/>
                </a:ext>
              </a:extLst>
            </p:cNvPr>
            <p:cNvSpPr txBox="1"/>
            <p:nvPr/>
          </p:nvSpPr>
          <p:spPr>
            <a:xfrm>
              <a:off x="11322239" y="3597253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sp>
          <p:nvSpPr>
            <p:cNvPr id="581" name="TextBox 580">
              <a:extLst>
                <a:ext uri="{FF2B5EF4-FFF2-40B4-BE49-F238E27FC236}">
                  <a16:creationId xmlns:a16="http://schemas.microsoft.com/office/drawing/2014/main" id="{7ECD84EB-159E-AAEB-D022-7559B26A5224}"/>
                </a:ext>
              </a:extLst>
            </p:cNvPr>
            <p:cNvSpPr txBox="1"/>
            <p:nvPr/>
          </p:nvSpPr>
          <p:spPr>
            <a:xfrm>
              <a:off x="10633251" y="4639425"/>
              <a:ext cx="874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LayerNorm</a:t>
              </a:r>
              <a:endParaRPr lang="en-US" sz="1200" dirty="0"/>
            </a:p>
          </p:txBody>
        </p:sp>
        <p:grpSp>
          <p:nvGrpSpPr>
            <p:cNvPr id="582" name="Group 581">
              <a:extLst>
                <a:ext uri="{FF2B5EF4-FFF2-40B4-BE49-F238E27FC236}">
                  <a16:creationId xmlns:a16="http://schemas.microsoft.com/office/drawing/2014/main" id="{7E48DF03-80F5-E8B1-CCEB-FEEB0A55F4B9}"/>
                </a:ext>
              </a:extLst>
            </p:cNvPr>
            <p:cNvGrpSpPr/>
            <p:nvPr/>
          </p:nvGrpSpPr>
          <p:grpSpPr>
            <a:xfrm>
              <a:off x="10938783" y="5456167"/>
              <a:ext cx="391775" cy="374997"/>
              <a:chOff x="8799061" y="4921715"/>
              <a:chExt cx="469257" cy="387660"/>
            </a:xfrm>
            <a:solidFill>
              <a:srgbClr val="CCFF66"/>
            </a:solidFill>
          </p:grpSpPr>
          <p:grpSp>
            <p:nvGrpSpPr>
              <p:cNvPr id="583" name="Group 582">
                <a:extLst>
                  <a:ext uri="{FF2B5EF4-FFF2-40B4-BE49-F238E27FC236}">
                    <a16:creationId xmlns:a16="http://schemas.microsoft.com/office/drawing/2014/main" id="{065D6005-F56F-8FD9-EA93-B0FF6490C755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587" name="Cube 586">
                  <a:extLst>
                    <a:ext uri="{FF2B5EF4-FFF2-40B4-BE49-F238E27FC236}">
                      <a16:creationId xmlns:a16="http://schemas.microsoft.com/office/drawing/2014/main" id="{9FE412BF-E211-1D05-9C17-A1DE1843C466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cxnSp>
              <p:nvCxnSpPr>
                <p:cNvPr id="588" name="Straight Connector 587">
                  <a:extLst>
                    <a:ext uri="{FF2B5EF4-FFF2-40B4-BE49-F238E27FC236}">
                      <a16:creationId xmlns:a16="http://schemas.microsoft.com/office/drawing/2014/main" id="{6CD2D886-993F-3E24-9371-8C04E208C9A0}"/>
                    </a:ext>
                  </a:extLst>
                </p:cNvPr>
                <p:cNvCxnSpPr>
                  <a:stCxn id="587" idx="2"/>
                  <a:endCxn id="587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9" name="Straight Connector 588">
                  <a:extLst>
                    <a:ext uri="{FF2B5EF4-FFF2-40B4-BE49-F238E27FC236}">
                      <a16:creationId xmlns:a16="http://schemas.microsoft.com/office/drawing/2014/main" id="{C9A4C03E-0147-B280-1832-80F4DB3C92E2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Straight Connector 589">
                  <a:extLst>
                    <a:ext uri="{FF2B5EF4-FFF2-40B4-BE49-F238E27FC236}">
                      <a16:creationId xmlns:a16="http://schemas.microsoft.com/office/drawing/2014/main" id="{FB186CFB-0091-CCCA-86A3-3CA5BDE2F5FE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Straight Connector 590">
                  <a:extLst>
                    <a:ext uri="{FF2B5EF4-FFF2-40B4-BE49-F238E27FC236}">
                      <a16:creationId xmlns:a16="http://schemas.microsoft.com/office/drawing/2014/main" id="{73C4A2A9-8A7F-EBE3-E69E-18DE33EBF2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Straight Connector 591">
                  <a:extLst>
                    <a:ext uri="{FF2B5EF4-FFF2-40B4-BE49-F238E27FC236}">
                      <a16:creationId xmlns:a16="http://schemas.microsoft.com/office/drawing/2014/main" id="{4348AF6B-81E2-3464-7992-DF7B990B5C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>
                  <a:extLst>
                    <a:ext uri="{FF2B5EF4-FFF2-40B4-BE49-F238E27FC236}">
                      <a16:creationId xmlns:a16="http://schemas.microsoft.com/office/drawing/2014/main" id="{F8008F1E-3981-4013-4C5D-E1AAD0DA7A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Straight Connector 593">
                  <a:extLst>
                    <a:ext uri="{FF2B5EF4-FFF2-40B4-BE49-F238E27FC236}">
                      <a16:creationId xmlns:a16="http://schemas.microsoft.com/office/drawing/2014/main" id="{45566A56-94A5-D1A2-8020-102C56F40D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Straight Connector 594">
                  <a:extLst>
                    <a:ext uri="{FF2B5EF4-FFF2-40B4-BE49-F238E27FC236}">
                      <a16:creationId xmlns:a16="http://schemas.microsoft.com/office/drawing/2014/main" id="{491D8CE6-DC30-AA35-879F-DD1EF03850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6" name="Straight Connector 595">
                  <a:extLst>
                    <a:ext uri="{FF2B5EF4-FFF2-40B4-BE49-F238E27FC236}">
                      <a16:creationId xmlns:a16="http://schemas.microsoft.com/office/drawing/2014/main" id="{E5496AF2-2FD0-20E7-CBF7-F13FFE10FD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Straight Connector 596">
                  <a:extLst>
                    <a:ext uri="{FF2B5EF4-FFF2-40B4-BE49-F238E27FC236}">
                      <a16:creationId xmlns:a16="http://schemas.microsoft.com/office/drawing/2014/main" id="{D3374132-DFDE-C025-F322-023D52899A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Straight Connector 597">
                  <a:extLst>
                    <a:ext uri="{FF2B5EF4-FFF2-40B4-BE49-F238E27FC236}">
                      <a16:creationId xmlns:a16="http://schemas.microsoft.com/office/drawing/2014/main" id="{264627B2-CACF-E550-0C29-34B8CDF293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Straight Connector 598">
                  <a:extLst>
                    <a:ext uri="{FF2B5EF4-FFF2-40B4-BE49-F238E27FC236}">
                      <a16:creationId xmlns:a16="http://schemas.microsoft.com/office/drawing/2014/main" id="{B4DE14FE-476D-F7CA-C470-0F5FBD85FEBA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0" name="Straight Connector 599">
                  <a:extLst>
                    <a:ext uri="{FF2B5EF4-FFF2-40B4-BE49-F238E27FC236}">
                      <a16:creationId xmlns:a16="http://schemas.microsoft.com/office/drawing/2014/main" id="{E2255A1B-877E-867A-AAAB-3952AE9B8B80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1" name="Straight Connector 600">
                  <a:extLst>
                    <a:ext uri="{FF2B5EF4-FFF2-40B4-BE49-F238E27FC236}">
                      <a16:creationId xmlns:a16="http://schemas.microsoft.com/office/drawing/2014/main" id="{6BCDA5B7-7ED6-4C4F-4F8B-79BB45E538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Straight Connector 601">
                  <a:extLst>
                    <a:ext uri="{FF2B5EF4-FFF2-40B4-BE49-F238E27FC236}">
                      <a16:creationId xmlns:a16="http://schemas.microsoft.com/office/drawing/2014/main" id="{2907F3DF-8871-0941-F834-26E371433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4" name="Straight Connector 583">
                <a:extLst>
                  <a:ext uri="{FF2B5EF4-FFF2-40B4-BE49-F238E27FC236}">
                    <a16:creationId xmlns:a16="http://schemas.microsoft.com/office/drawing/2014/main" id="{D635326F-DA89-C8F9-16DC-071B05A991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Straight Connector 584">
                <a:extLst>
                  <a:ext uri="{FF2B5EF4-FFF2-40B4-BE49-F238E27FC236}">
                    <a16:creationId xmlns:a16="http://schemas.microsoft.com/office/drawing/2014/main" id="{6AF2DD4E-6C1E-EEF2-F87D-B149FC8F80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Straight Connector 585">
                <a:extLst>
                  <a:ext uri="{FF2B5EF4-FFF2-40B4-BE49-F238E27FC236}">
                    <a16:creationId xmlns:a16="http://schemas.microsoft.com/office/drawing/2014/main" id="{2A7DCC6F-A41F-6D42-7C1D-495F0416C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4" name="Straight Arrow Connector 603">
              <a:extLst>
                <a:ext uri="{FF2B5EF4-FFF2-40B4-BE49-F238E27FC236}">
                  <a16:creationId xmlns:a16="http://schemas.microsoft.com/office/drawing/2014/main" id="{C0D76A2B-3C7B-4CFB-7282-FA304AD4231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5108" y="2697562"/>
              <a:ext cx="3177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Arrow Connector 606">
              <a:extLst>
                <a:ext uri="{FF2B5EF4-FFF2-40B4-BE49-F238E27FC236}">
                  <a16:creationId xmlns:a16="http://schemas.microsoft.com/office/drawing/2014/main" id="{1852017A-139C-2588-E5A9-90E1075A8CC2}"/>
                </a:ext>
              </a:extLst>
            </p:cNvPr>
            <p:cNvCxnSpPr>
              <a:cxnSpLocks/>
            </p:cNvCxnSpPr>
            <p:nvPr/>
          </p:nvCxnSpPr>
          <p:spPr>
            <a:xfrm>
              <a:off x="11111950" y="2961466"/>
              <a:ext cx="0" cy="352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Arrow Connector 608">
              <a:extLst>
                <a:ext uri="{FF2B5EF4-FFF2-40B4-BE49-F238E27FC236}">
                  <a16:creationId xmlns:a16="http://schemas.microsoft.com/office/drawing/2014/main" id="{5D404542-E13D-228A-A639-2A0FF18C86E0}"/>
                </a:ext>
              </a:extLst>
            </p:cNvPr>
            <p:cNvCxnSpPr>
              <a:cxnSpLocks/>
            </p:cNvCxnSpPr>
            <p:nvPr/>
          </p:nvCxnSpPr>
          <p:spPr>
            <a:xfrm>
              <a:off x="11110412" y="3704651"/>
              <a:ext cx="0" cy="313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Arrow Connector 612">
              <a:extLst>
                <a:ext uri="{FF2B5EF4-FFF2-40B4-BE49-F238E27FC236}">
                  <a16:creationId xmlns:a16="http://schemas.microsoft.com/office/drawing/2014/main" id="{60EF7B68-7973-801A-6FBC-23D87ACE738C}"/>
                </a:ext>
              </a:extLst>
            </p:cNvPr>
            <p:cNvCxnSpPr>
              <a:cxnSpLocks/>
            </p:cNvCxnSpPr>
            <p:nvPr/>
          </p:nvCxnSpPr>
          <p:spPr>
            <a:xfrm>
              <a:off x="10091844" y="4177340"/>
              <a:ext cx="8662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Arrow Connector 617">
              <a:extLst>
                <a:ext uri="{FF2B5EF4-FFF2-40B4-BE49-F238E27FC236}">
                  <a16:creationId xmlns:a16="http://schemas.microsoft.com/office/drawing/2014/main" id="{64151901-95B9-FE95-E140-5439FD48BC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3595" y="4344563"/>
              <a:ext cx="4653" cy="1975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Arrow Connector 626">
              <a:extLst>
                <a:ext uri="{FF2B5EF4-FFF2-40B4-BE49-F238E27FC236}">
                  <a16:creationId xmlns:a16="http://schemas.microsoft.com/office/drawing/2014/main" id="{0737488C-4BE5-E1A3-99D6-38C6E1A838A7}"/>
                </a:ext>
              </a:extLst>
            </p:cNvPr>
            <p:cNvCxnSpPr/>
            <p:nvPr/>
          </p:nvCxnSpPr>
          <p:spPr>
            <a:xfrm>
              <a:off x="11118002" y="4992678"/>
              <a:ext cx="0" cy="450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8" name="TextBox 627">
              <a:extLst>
                <a:ext uri="{FF2B5EF4-FFF2-40B4-BE49-F238E27FC236}">
                  <a16:creationId xmlns:a16="http://schemas.microsoft.com/office/drawing/2014/main" id="{C814797C-F996-1C62-4570-FF2FC7120483}"/>
                </a:ext>
              </a:extLst>
            </p:cNvPr>
            <p:cNvSpPr txBox="1"/>
            <p:nvPr/>
          </p:nvSpPr>
          <p:spPr>
            <a:xfrm>
              <a:off x="11134671" y="5211837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Z</a:t>
              </a:r>
              <a:r>
                <a:rPr lang="en-US" sz="1400" baseline="30000" dirty="0"/>
                <a:t>(out)</a:t>
              </a:r>
              <a:endParaRPr lang="en-US" baseline="30000" dirty="0"/>
            </a:p>
          </p:txBody>
        </p:sp>
        <p:sp>
          <p:nvSpPr>
            <p:cNvPr id="630" name="TextBox 629">
              <a:extLst>
                <a:ext uri="{FF2B5EF4-FFF2-40B4-BE49-F238E27FC236}">
                  <a16:creationId xmlns:a16="http://schemas.microsoft.com/office/drawing/2014/main" id="{09F5A1F6-1331-1D43-4FA7-7FB5DCBD3FEC}"/>
                </a:ext>
              </a:extLst>
            </p:cNvPr>
            <p:cNvSpPr txBox="1"/>
            <p:nvPr/>
          </p:nvSpPr>
          <p:spPr>
            <a:xfrm>
              <a:off x="11144866" y="5774160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dirty="0" err="1"/>
                <a:t>NxC</a:t>
              </a:r>
              <a:r>
                <a:rPr lang="en-US" sz="1200" dirty="0"/>
                <a:t>)</a:t>
              </a:r>
            </a:p>
          </p:txBody>
        </p:sp>
        <p:sp>
          <p:nvSpPr>
            <p:cNvPr id="631" name="TextBox 630">
              <a:extLst>
                <a:ext uri="{FF2B5EF4-FFF2-40B4-BE49-F238E27FC236}">
                  <a16:creationId xmlns:a16="http://schemas.microsoft.com/office/drawing/2014/main" id="{A20DF382-A66D-666B-CF59-8E46D9E9F3E7}"/>
                </a:ext>
              </a:extLst>
            </p:cNvPr>
            <p:cNvSpPr txBox="1"/>
            <p:nvPr/>
          </p:nvSpPr>
          <p:spPr>
            <a:xfrm>
              <a:off x="2741049" y="1645903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Concatenate</a:t>
              </a:r>
            </a:p>
          </p:txBody>
        </p:sp>
        <p:sp>
          <p:nvSpPr>
            <p:cNvPr id="633" name="TextBox 632">
              <a:extLst>
                <a:ext uri="{FF2B5EF4-FFF2-40B4-BE49-F238E27FC236}">
                  <a16:creationId xmlns:a16="http://schemas.microsoft.com/office/drawing/2014/main" id="{2D2ED421-F0FB-2168-7C77-969FACA70916}"/>
                </a:ext>
              </a:extLst>
            </p:cNvPr>
            <p:cNvSpPr txBox="1"/>
            <p:nvPr/>
          </p:nvSpPr>
          <p:spPr>
            <a:xfrm>
              <a:off x="4770006" y="1654282"/>
              <a:ext cx="1941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Gate Computation</a:t>
              </a:r>
            </a:p>
          </p:txBody>
        </p:sp>
        <p:sp>
          <p:nvSpPr>
            <p:cNvPr id="635" name="TextBox 634">
              <a:extLst>
                <a:ext uri="{FF2B5EF4-FFF2-40B4-BE49-F238E27FC236}">
                  <a16:creationId xmlns:a16="http://schemas.microsoft.com/office/drawing/2014/main" id="{FD609DE0-497A-E196-91C8-807C8D9BB960}"/>
                </a:ext>
              </a:extLst>
            </p:cNvPr>
            <p:cNvSpPr txBox="1"/>
            <p:nvPr/>
          </p:nvSpPr>
          <p:spPr>
            <a:xfrm>
              <a:off x="7337649" y="1646172"/>
              <a:ext cx="1436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Gated Fusion</a:t>
              </a:r>
            </a:p>
          </p:txBody>
        </p:sp>
        <p:sp>
          <p:nvSpPr>
            <p:cNvPr id="637" name="TextBox 636">
              <a:extLst>
                <a:ext uri="{FF2B5EF4-FFF2-40B4-BE49-F238E27FC236}">
                  <a16:creationId xmlns:a16="http://schemas.microsoft.com/office/drawing/2014/main" id="{2FECC1D9-06D1-FAD8-2CEE-4266AF329572}"/>
                </a:ext>
              </a:extLst>
            </p:cNvPr>
            <p:cNvSpPr txBox="1"/>
            <p:nvPr/>
          </p:nvSpPr>
          <p:spPr>
            <a:xfrm>
              <a:off x="9428945" y="1586775"/>
              <a:ext cx="22667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Output with Residual </a:t>
              </a:r>
            </a:p>
            <a:p>
              <a:r>
                <a:rPr lang="en-US" b="1" dirty="0"/>
                <a:t>Connection</a:t>
              </a:r>
            </a:p>
          </p:txBody>
        </p: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035C1704-9E81-0E89-8333-131DD4499783}"/>
                </a:ext>
              </a:extLst>
            </p:cNvPr>
            <p:cNvCxnSpPr>
              <a:cxnSpLocks/>
            </p:cNvCxnSpPr>
            <p:nvPr/>
          </p:nvCxnSpPr>
          <p:spPr>
            <a:xfrm>
              <a:off x="6608136" y="3569633"/>
              <a:ext cx="3937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0" name="Straight Arrow Connector 639">
              <a:extLst>
                <a:ext uri="{FF2B5EF4-FFF2-40B4-BE49-F238E27FC236}">
                  <a16:creationId xmlns:a16="http://schemas.microsoft.com/office/drawing/2014/main" id="{BFBD9020-B934-1A27-196D-983796A146A6}"/>
                </a:ext>
              </a:extLst>
            </p:cNvPr>
            <p:cNvCxnSpPr>
              <a:cxnSpLocks/>
            </p:cNvCxnSpPr>
            <p:nvPr/>
          </p:nvCxnSpPr>
          <p:spPr>
            <a:xfrm>
              <a:off x="9071841" y="3528581"/>
              <a:ext cx="3937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CE9C938-1C47-2711-715B-770E242EFE63}"/>
                </a:ext>
              </a:extLst>
            </p:cNvPr>
            <p:cNvGrpSpPr/>
            <p:nvPr/>
          </p:nvGrpSpPr>
          <p:grpSpPr>
            <a:xfrm>
              <a:off x="2378862" y="3675533"/>
              <a:ext cx="497013" cy="755650"/>
              <a:chOff x="8799061" y="4921715"/>
              <a:chExt cx="469257" cy="387660"/>
            </a:xfrm>
            <a:gradFill>
              <a:gsLst>
                <a:gs pos="60000">
                  <a:srgbClr val="FF0000"/>
                </a:gs>
                <a:gs pos="100000">
                  <a:srgbClr val="FF0000">
                    <a:alpha val="50000"/>
                    <a:lumMod val="50000"/>
                    <a:lumOff val="50000"/>
                  </a:srgbClr>
                </a:gs>
              </a:gsLst>
              <a:path path="rect">
                <a:fillToRect l="100000" t="100000"/>
              </a:path>
            </a:gradFill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96797EF-18AB-98D2-360C-A61FBAAA04C8}"/>
                  </a:ext>
                </a:extLst>
              </p:cNvPr>
              <p:cNvGrpSpPr/>
              <p:nvPr/>
            </p:nvGrpSpPr>
            <p:grpSpPr>
              <a:xfrm>
                <a:off x="8799061" y="4921715"/>
                <a:ext cx="469257" cy="387660"/>
                <a:chOff x="8791024" y="4914826"/>
                <a:chExt cx="469257" cy="387660"/>
              </a:xfrm>
              <a:grpFill/>
            </p:grpSpPr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7D384F8C-B6F1-53FC-A9E4-508AD1B63741}"/>
                    </a:ext>
                  </a:extLst>
                </p:cNvPr>
                <p:cNvSpPr/>
                <p:nvPr/>
              </p:nvSpPr>
              <p:spPr>
                <a:xfrm>
                  <a:off x="8791024" y="4916978"/>
                  <a:ext cx="469257" cy="378158"/>
                </a:xfrm>
                <a:prstGeom prst="cub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85EBB984-FB3F-8F1C-A6CD-3B1019352C64}"/>
                    </a:ext>
                  </a:extLst>
                </p:cNvPr>
                <p:cNvCxnSpPr>
                  <a:stCxn id="18" idx="2"/>
                  <a:endCxn id="18" idx="4"/>
                </p:cNvCxnSpPr>
                <p:nvPr/>
              </p:nvCxnSpPr>
              <p:spPr>
                <a:xfrm>
                  <a:off x="8791024" y="5153327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17D8D9C-702D-28A3-79F5-9D5F6EEEC0F5}"/>
                    </a:ext>
                  </a:extLst>
                </p:cNvPr>
                <p:cNvCxnSpPr/>
                <p:nvPr/>
              </p:nvCxnSpPr>
              <p:spPr>
                <a:xfrm>
                  <a:off x="8791024" y="5215605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4132CCD-323F-7875-FB5A-D8BA68CCFB12}"/>
                    </a:ext>
                  </a:extLst>
                </p:cNvPr>
                <p:cNvCxnSpPr/>
                <p:nvPr/>
              </p:nvCxnSpPr>
              <p:spPr>
                <a:xfrm>
                  <a:off x="8792094" y="5083946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7BDB1358-068A-58D5-8119-F26AFFD48A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039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20925CD-9F54-DDD6-63C9-82EF37C60D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18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412A423-136D-8FE8-E691-A729D00242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6841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D2F67B5-9AE1-60E8-8BCF-650F3E62E8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4229" y="5004136"/>
                  <a:ext cx="0" cy="29835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81FD195-BBCB-D35D-1618-3D487FD8AC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915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04E4748-AAEC-3A6C-9D8C-8AAFFC28C7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9103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D7754DB-CF11-E05E-D0D9-8EAC5F18EB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13206" y="4914826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73A0742-ECE0-8434-32EB-350FF29F51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80593" y="4916978"/>
                  <a:ext cx="94539" cy="945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D3E0EFC-7955-D93C-DF69-23B9751391E3}"/>
                    </a:ext>
                  </a:extLst>
                </p:cNvPr>
                <p:cNvCxnSpPr/>
                <p:nvPr/>
              </p:nvCxnSpPr>
              <p:spPr>
                <a:xfrm>
                  <a:off x="8825847" y="4986314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05B5BA52-0D0D-8E97-6E44-C912D4194F41}"/>
                    </a:ext>
                  </a:extLst>
                </p:cNvPr>
                <p:cNvCxnSpPr/>
                <p:nvPr/>
              </p:nvCxnSpPr>
              <p:spPr>
                <a:xfrm>
                  <a:off x="8854915" y="4954700"/>
                  <a:ext cx="374718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88653ABC-800A-9004-5251-7C7F5494EE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7201" y="4986224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4C166912-F952-BD58-1DDF-CCC3D5466E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9633" y="4954700"/>
                  <a:ext cx="0" cy="28421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9E251CE-7A84-E2E1-5141-4E4BDA8EAD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06023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9FB8390-15F7-F97F-10E1-65DBFF95A5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5742" y="5125220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0926645-DC87-3566-FDD5-2743CB23B3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6812" y="4993723"/>
                <a:ext cx="94539" cy="945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D3C6797-7618-5494-7C8D-DEABFD6819CC}"/>
                </a:ext>
              </a:extLst>
            </p:cNvPr>
            <p:cNvSpPr/>
            <p:nvPr/>
          </p:nvSpPr>
          <p:spPr>
            <a:xfrm>
              <a:off x="0" y="1181100"/>
              <a:ext cx="12192000" cy="5538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839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201A02-74B9-7A4A-5FBF-BD072016F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9534"/>
            <a:ext cx="12192000" cy="433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17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E0130-14A9-74FA-A85C-9CE6154029FD}"/>
              </a:ext>
            </a:extLst>
          </p:cNvPr>
          <p:cNvSpPr txBox="1"/>
          <p:nvPr/>
        </p:nvSpPr>
        <p:spPr>
          <a:xfrm>
            <a:off x="2011680" y="1855823"/>
            <a:ext cx="87923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HyperGIN — Final Test Results  5-Stage Full-Image Architecture  Pixel-level evaluation</a:t>
            </a:r>
          </a:p>
          <a:p>
            <a:r>
              <a:rPr lang="en-US" dirty="0"/>
              <a:t>==============================================================  </a:t>
            </a:r>
          </a:p>
          <a:p>
            <a:r>
              <a:rPr lang="en-US" dirty="0"/>
              <a:t>Best epoch  : 56 </a:t>
            </a:r>
          </a:p>
          <a:p>
            <a:r>
              <a:rPr lang="en-US" dirty="0"/>
              <a:t> ──────────────────────────────────────────────────  </a:t>
            </a:r>
          </a:p>
          <a:p>
            <a:r>
              <a:rPr lang="en-US" dirty="0"/>
              <a:t>Metric                              Value </a:t>
            </a:r>
          </a:p>
          <a:p>
            <a:r>
              <a:rPr lang="en-US" dirty="0"/>
              <a:t> ────────────────────────────────────────────────── </a:t>
            </a:r>
          </a:p>
          <a:p>
            <a:r>
              <a:rPr lang="en-US" dirty="0"/>
              <a:t> f1                                    0.9303  </a:t>
            </a:r>
          </a:p>
          <a:p>
            <a:r>
              <a:rPr lang="en-US" dirty="0"/>
              <a:t>precision                        0.9595  </a:t>
            </a:r>
          </a:p>
          <a:p>
            <a:r>
              <a:rPr lang="en-US" dirty="0"/>
              <a:t>recall                              0.9028  </a:t>
            </a:r>
          </a:p>
          <a:p>
            <a:r>
              <a:rPr lang="en-US" dirty="0" err="1"/>
              <a:t>iou</a:t>
            </a:r>
            <a:r>
              <a:rPr lang="en-US" dirty="0"/>
              <a:t>                                  0.8696  </a:t>
            </a:r>
          </a:p>
          <a:p>
            <a:r>
              <a:rPr lang="en-US" dirty="0"/>
              <a:t>Best Threshold              0.36  </a:t>
            </a:r>
          </a:p>
          <a:p>
            <a:r>
              <a:rPr lang="en-US" dirty="0"/>
              <a:t>──────────────────────────────────────────────────</a:t>
            </a:r>
          </a:p>
        </p:txBody>
      </p:sp>
    </p:spTree>
    <p:extLst>
      <p:ext uri="{BB962C8B-B14F-4D97-AF65-F5344CB8AC3E}">
        <p14:creationId xmlns:p14="http://schemas.microsoft.com/office/powerpoint/2010/main" val="2438803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CB62BE-693D-F30F-F5C9-CAF2B6DD8D37}"/>
              </a:ext>
            </a:extLst>
          </p:cNvPr>
          <p:cNvSpPr txBox="1"/>
          <p:nvPr/>
        </p:nvSpPr>
        <p:spPr>
          <a:xfrm>
            <a:off x="393895" y="534573"/>
            <a:ext cx="1114161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============================================================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HyperGIN — Final Test Results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Protocol: per-image threshold sweep [0.20-0.80]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Test images: 500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────────────────────────────────────────────────────────────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F1        : 0.8267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Precision : 0.8924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Recall    : 0.8206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</a:t>
            </a:r>
            <a:r>
              <a:rPr lang="en-US" sz="2000" b="0" i="0" dirty="0" err="1">
                <a:effectLst/>
                <a:latin typeface="inherit"/>
              </a:rPr>
              <a:t>IoU</a:t>
            </a:r>
            <a:r>
              <a:rPr lang="en-US" sz="2000" b="0" i="0" dirty="0">
                <a:effectLst/>
                <a:latin typeface="inherit"/>
              </a:rPr>
              <a:t>       : 0.7852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────────────────────────────────────────────────────────────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F1 &gt; 0.8  : 374/500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F1 &gt; 0.5  : 453/500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  F1 = 0.0  : 25/500</a:t>
            </a:r>
          </a:p>
          <a:p>
            <a:pPr marL="0" marR="0" indent="0" algn="l" fontAlgn="base" latinLnBrk="1">
              <a:buNone/>
            </a:pPr>
            <a:r>
              <a:rPr lang="en-US" sz="2000" b="0" i="0" dirty="0">
                <a:effectLst/>
                <a:latin typeface="inherit"/>
              </a:rPr>
              <a:t>============================================================</a:t>
            </a:r>
          </a:p>
        </p:txBody>
      </p:sp>
    </p:spTree>
    <p:extLst>
      <p:ext uri="{BB962C8B-B14F-4D97-AF65-F5344CB8AC3E}">
        <p14:creationId xmlns:p14="http://schemas.microsoft.com/office/powerpoint/2010/main" val="1401608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0E849-E8F9-C238-D394-CEBED6694FA4}"/>
              </a:ext>
            </a:extLst>
          </p:cNvPr>
          <p:cNvSpPr txBox="1"/>
          <p:nvPr/>
        </p:nvSpPr>
        <p:spPr>
          <a:xfrm>
            <a:off x="2936630" y="1093989"/>
            <a:ext cx="757193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Method        F1          </a:t>
            </a:r>
            <a:r>
              <a:rPr lang="en-US" sz="2800" dirty="0" err="1"/>
              <a:t>Prec</a:t>
            </a:r>
            <a:r>
              <a:rPr lang="en-US" sz="2800" dirty="0"/>
              <a:t>         Rec         </a:t>
            </a:r>
            <a:r>
              <a:rPr lang="en-US" sz="2800" dirty="0" err="1"/>
              <a:t>IoU</a:t>
            </a:r>
            <a:endParaRPr lang="en-US" sz="2800" dirty="0"/>
          </a:p>
          <a:p>
            <a:r>
              <a:rPr lang="en-US" sz="2800" dirty="0"/>
              <a:t>────────────────────────────────────────</a:t>
            </a:r>
          </a:p>
          <a:p>
            <a:r>
              <a:rPr lang="en-US" sz="2800" dirty="0" err="1">
                <a:latin typeface="+mj-lt"/>
              </a:rPr>
              <a:t>BusterNet</a:t>
            </a:r>
            <a:r>
              <a:rPr lang="en-US" sz="2800" dirty="0">
                <a:latin typeface="+mj-lt"/>
              </a:rPr>
              <a:t>   0.508         -              -              -</a:t>
            </a:r>
          </a:p>
          <a:p>
            <a:r>
              <a:rPr lang="en-US" sz="2800" dirty="0">
                <a:latin typeface="+mj-lt"/>
              </a:rPr>
              <a:t>Serial Net   0.477          -              -              -</a:t>
            </a:r>
          </a:p>
          <a:p>
            <a:r>
              <a:rPr lang="en-US" sz="2800" dirty="0">
                <a:latin typeface="+mj-lt"/>
              </a:rPr>
              <a:t>DOA-GAN   0.420          -              -              -</a:t>
            </a:r>
          </a:p>
          <a:p>
            <a:r>
              <a:rPr lang="en-US" sz="2800" dirty="0">
                <a:latin typeface="+mj-lt"/>
              </a:rPr>
              <a:t>CMCF-Net  0.489         -              -              -</a:t>
            </a:r>
          </a:p>
          <a:p>
            <a:r>
              <a:rPr lang="en-US" sz="2800" dirty="0">
                <a:latin typeface="+mj-lt"/>
              </a:rPr>
              <a:t>DCM-Net    0.534        -               -              -</a:t>
            </a:r>
          </a:p>
          <a:p>
            <a:r>
              <a:rPr lang="en-US" sz="2800" dirty="0">
                <a:latin typeface="+mj-lt"/>
              </a:rPr>
              <a:t>CAGRL        0.533         -               -              -</a:t>
            </a:r>
          </a:p>
          <a:p>
            <a:r>
              <a:rPr lang="en-US" sz="2800" dirty="0"/>
              <a:t>────────────────────────────────────────</a:t>
            </a:r>
          </a:p>
          <a:p>
            <a:r>
              <a:rPr lang="en-US" sz="2800" dirty="0"/>
              <a:t>HyperGIN  0.8267      0.892     0.821      0.785</a:t>
            </a:r>
          </a:p>
        </p:txBody>
      </p:sp>
    </p:spTree>
    <p:extLst>
      <p:ext uri="{BB962C8B-B14F-4D97-AF65-F5344CB8AC3E}">
        <p14:creationId xmlns:p14="http://schemas.microsoft.com/office/powerpoint/2010/main" val="1837253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AD374F-36B3-8853-88D5-8FB429242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235"/>
            <a:ext cx="12192000" cy="478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66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9F461A-EEB0-2520-6812-89D14C94A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902" y="0"/>
            <a:ext cx="7048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37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FB2F1D-B656-AF9F-6D9F-8768539D7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902" y="0"/>
            <a:ext cx="7048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41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AAE37-2DFA-D1BE-2501-FA34E88C6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902" y="0"/>
            <a:ext cx="7048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97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097200-04E5-84B5-7864-0D4F904B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902" y="0"/>
            <a:ext cx="7048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01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94EC4-C30C-D9E8-BCA8-7CD025D419D4}"/>
              </a:ext>
            </a:extLst>
          </p:cNvPr>
          <p:cNvSpPr txBox="1"/>
          <p:nvPr/>
        </p:nvSpPr>
        <p:spPr>
          <a:xfrm>
            <a:off x="809468" y="1024595"/>
            <a:ext cx="110777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====================================================================== </a:t>
            </a:r>
          </a:p>
          <a:p>
            <a:r>
              <a:rPr lang="en-US" dirty="0"/>
              <a:t> HyperGIN — Complete Ablation Study Results  </a:t>
            </a:r>
          </a:p>
          <a:p>
            <a:r>
              <a:rPr lang="en-US" dirty="0"/>
              <a:t>Dataset: </a:t>
            </a:r>
            <a:r>
              <a:rPr lang="en-US" dirty="0" err="1"/>
              <a:t>CoMoFoD</a:t>
            </a:r>
            <a:r>
              <a:rPr lang="en-US" dirty="0"/>
              <a:t> test set (500 images)  </a:t>
            </a:r>
          </a:p>
          <a:p>
            <a:r>
              <a:rPr lang="en-US" dirty="0"/>
              <a:t>All variants trained from scratch, seed=42</a:t>
            </a:r>
          </a:p>
          <a:p>
            <a:r>
              <a:rPr lang="en-US" dirty="0"/>
              <a:t>======================================================================  </a:t>
            </a:r>
          </a:p>
          <a:p>
            <a:r>
              <a:rPr lang="en-US" dirty="0"/>
              <a:t>Variant                                 	F1               P               R                   </a:t>
            </a:r>
            <a:r>
              <a:rPr lang="en-US" dirty="0" err="1"/>
              <a:t>IoU</a:t>
            </a:r>
            <a:r>
              <a:rPr lang="en-US" dirty="0"/>
              <a:t>                  ΔF1  ─────────────────────────────────────────────────────────────────  </a:t>
            </a:r>
          </a:p>
          <a:p>
            <a:r>
              <a:rPr lang="en-US" dirty="0"/>
              <a:t>Full HyperGIN                   	0.9568     0.9640    0.9498         0.9172                 —  </a:t>
            </a:r>
          </a:p>
          <a:p>
            <a:r>
              <a:rPr lang="en-US" dirty="0"/>
              <a:t>w/o Cross-Attention        	0.9365     0.9412    0.9318         0.8805            -0.0203  </a:t>
            </a:r>
          </a:p>
          <a:p>
            <a:r>
              <a:rPr lang="en-US" dirty="0"/>
              <a:t>w/o </a:t>
            </a:r>
            <a:r>
              <a:rPr lang="en-US" dirty="0" err="1"/>
              <a:t>Hypergraph+HGNN</a:t>
            </a:r>
            <a:r>
              <a:rPr lang="en-US" dirty="0"/>
              <a:t>          0.9328     0.9434    0.9224         0.8740            -0.0240  </a:t>
            </a:r>
          </a:p>
          <a:p>
            <a:r>
              <a:rPr lang="en-US" dirty="0"/>
              <a:t>w/o Forensic GIN                      0.9397     0.9497    0.9298         0.8862            -0.0171  </a:t>
            </a:r>
          </a:p>
          <a:p>
            <a:r>
              <a:rPr lang="en-US" dirty="0"/>
              <a:t>w/o Forensic Gate                    0.9313      0.9667    0.8985        0.8715            -0.0255  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lang="en-US" dirty="0"/>
              <a:t>======================================================================</a:t>
            </a:r>
          </a:p>
        </p:txBody>
      </p:sp>
    </p:spTree>
    <p:extLst>
      <p:ext uri="{BB962C8B-B14F-4D97-AF65-F5344CB8AC3E}">
        <p14:creationId xmlns:p14="http://schemas.microsoft.com/office/powerpoint/2010/main" val="559116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DF31DA-67A6-9F73-420E-D829E7CA6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418"/>
            <a:ext cx="12192000" cy="526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82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9B0E9E-14FF-C5A6-3937-D577DD509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710"/>
            <a:ext cx="12192000" cy="600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83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A3751A1-4B98-4C4F-95A8-B16CA9763595}">
  <we:reference id="4b785c87-866c-4bad-85d8-5d1ae467ac9a" version="3.26.0.0" store="EXCatalog" storeType="EXCatalog"/>
  <we:alternateReferences>
    <we:reference id="WA104381909" version="3.26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42657</TotalTime>
  <Words>1600</Words>
  <Application>Microsoft Office PowerPoint</Application>
  <PresentationFormat>Widescreen</PresentationFormat>
  <Paragraphs>506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inherit</vt:lpstr>
      <vt:lpstr>Wingdings</vt:lpstr>
      <vt:lpstr>Office Theme</vt:lpstr>
      <vt:lpstr>PowerPoint Presentation</vt:lpstr>
      <vt:lpstr>Forensic Feature Extraction</vt:lpstr>
      <vt:lpstr>SRM-Guided Multi-head Cross-Attention </vt:lpstr>
      <vt:lpstr>Learnable Hyper Graph Construction + HGNN</vt:lpstr>
      <vt:lpstr>Displacement-Aware Forensic GIN</vt:lpstr>
      <vt:lpstr>Adaptive Forensic Gate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Priyadharshini S</dc:creator>
  <cp:lastModifiedBy>Priyadharshini S</cp:lastModifiedBy>
  <cp:revision>243</cp:revision>
  <dcterms:created xsi:type="dcterms:W3CDTF">2026-06-26T03:35:13Z</dcterms:created>
  <dcterms:modified xsi:type="dcterms:W3CDTF">2026-09-11T07:11:22Z</dcterms:modified>
</cp:coreProperties>
</file>